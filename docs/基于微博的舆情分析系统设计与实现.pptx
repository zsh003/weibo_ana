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64" r:id="rId4"/>
    <p:sldId id="260" r:id="rId5"/>
    <p:sldId id="261" r:id="rId6"/>
    <p:sldId id="265" r:id="rId7"/>
    <p:sldId id="295" r:id="rId8"/>
    <p:sldId id="296" r:id="rId9"/>
    <p:sldId id="314" r:id="rId10"/>
    <p:sldId id="271" r:id="rId11"/>
    <p:sldId id="315" r:id="rId12"/>
    <p:sldId id="317" r:id="rId13"/>
    <p:sldId id="318" r:id="rId14"/>
    <p:sldId id="319" r:id="rId15"/>
    <p:sldId id="294" r:id="rId16"/>
    <p:sldId id="316" r:id="rId17"/>
    <p:sldId id="299" r:id="rId18"/>
    <p:sldId id="297" r:id="rId19"/>
    <p:sldId id="276" r:id="rId20"/>
    <p:sldId id="277" r:id="rId21"/>
    <p:sldId id="278" r:id="rId22"/>
    <p:sldId id="320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282" r:id="rId37"/>
    <p:sldId id="293" r:id="rId38"/>
    <p:sldId id="313" r:id="rId39"/>
    <p:sldId id="292" r:id="rId40"/>
    <p:sldId id="283" r:id="rId41"/>
    <p:sldId id="291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5780" autoAdjust="0"/>
  </p:normalViewPr>
  <p:slideViewPr>
    <p:cSldViewPr snapToGrid="0">
      <p:cViewPr>
        <p:scale>
          <a:sx n="60" d="100"/>
          <a:sy n="60" d="100"/>
        </p:scale>
        <p:origin x="-260" y="5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114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0AEA7-7614-9E50-DA13-4FA8173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10B170-2436-0D1A-3788-BB740ECA5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B1319D-7DDF-13CF-3770-F1B11F25D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2B8B0F-D85B-711A-2BF1-C113616B2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999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6122D-A1B6-CFCC-0184-54B0FBA4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9DF5AC-1E36-5853-6B88-6480C8E8C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FB7FB6-93F9-AD76-5B1E-C19E21B0A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D4BDA4-44BB-AAAA-5C5B-F51DC017A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463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4FAD-016B-A0E0-C7C5-4A0291C8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CCCD5B-B0DE-6CD1-5519-9C1AED09E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A9D086-C91E-B009-2DE2-869CE4116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B4D0A8-6658-AC0F-9DE3-59721CD63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718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3F7E-C742-49DD-BDE6-AEB90EC1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B4528B-4483-A90A-8A0E-C69269583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0AD74D-968A-8B7E-EA1E-9D3AD1DE9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F142A4-17EF-FEC9-24CD-0521246A3A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663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44BD-0BE4-B359-15AA-D678202B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328702-6E0D-AF31-CBB2-98A35FEA9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88A339-F5C6-1D49-51A5-D6C752E4D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F80FFA-3E76-3D02-7D00-DEE582AA7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768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D091-25E6-B4ED-59D2-40DB2A18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2EE157-50E6-3F74-1A13-53E1C31DF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328D54-58C3-65AB-1001-502B13835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26F18-5F17-DC74-F811-6FD942B7A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642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0F8B-2F25-17AF-9488-716017A8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E4D0B9-988B-0C88-F46A-A91EC5277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D7CC55-FF60-E894-7C5B-58BE5E892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2D86C-E913-2255-3F3F-AAED97FD3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566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0B21-A8E5-87ED-FA0C-C430F05E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344C73-ADE3-1FE6-BD23-F9FB3FDB8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C484B5-7C98-C88F-8F15-66F2B698F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0FA74-194D-437F-A286-26FC15A3F0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534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15F7-E72C-9A9D-A08A-99F14E93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951E96-3A7A-674E-B71D-8554C3892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197F9F-2B1A-D573-92BD-8F81D4142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6306B-95CD-0E73-46A2-460F86434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589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4026B-3CAE-F03C-47CA-F6CF2876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045329-40B9-47F7-B661-0605DD4AE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33D107-2D48-FBF8-A83D-3CBD3F5BF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FCF13B-79D4-0745-926E-7D5B52FB1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0795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19B8-1E18-FB38-1950-D6817FCE1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55D2AB-9270-1A5D-91B1-99FD289E8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1DE81D-C969-D475-BF0B-18CCAECAA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21E99D-11C4-6018-C5FD-E5C94EA2A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161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B9933-A6C4-E617-19B5-8AEC27D4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0A1FEB-E66C-5219-4FFA-C3F316EE1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E597BC-7525-F60F-E794-5E7B3386E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E3D430-43C4-B2EC-A450-87C54B4A26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149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40891-282D-3542-05DA-FB0B8B2A1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D41D80-136E-9AC8-3076-3FA116607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4CB78E-9CEB-98E7-4D1A-1D5F19CED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2030DA-B63F-FC63-BB92-DC01B8424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8269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306F2-492B-4D60-BA95-B03B0145A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2F0A3F-97F7-48E0-C698-783B38B17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BA237D-0E38-1737-8818-A3E721555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8EEBA5-FD79-511B-AA68-1ED7D0915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026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DE5B-8B86-9AE6-F56B-4414DDD1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43FE68-6CD5-D2DF-DC16-C9ECF8DE4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09225F-2FE5-A400-A738-C941CD43B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13FC7F-4AE4-E621-771E-15268A90E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8330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C91FC-C8B9-249B-1ADD-320E7448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06EED3-BEE7-A80B-F57D-9CD084D13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31B329-B5E4-0936-550B-674C7ECF3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939F5A-0EF9-DE18-464D-CFB82B64F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3877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4776-D2A3-D73C-0F8D-2FEBD8CC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968EF6-F98E-80F7-2929-69FADEF54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227DA1-35CF-DC25-F507-E9488A519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3F598C-9401-6425-D5B0-91A6A4F39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203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2A243-CD01-3412-70D6-F85ABFB9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9CD216-785E-418E-9250-77BA5DCF6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7DF0AF-67F9-ECF9-C4F5-A90D7C050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803B91-9B32-500F-3C3F-48DD94AB9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031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B3E7-D209-11DE-E6C9-2499731B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2CF1F1-639F-E2EB-2D09-409A5847B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DE7549-7F68-119D-2C68-4D38BF6AC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F4145A-E765-9233-8EFB-3D4001C3E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5186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C8CE-8F99-387C-572F-76B98575D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7F92E9-DC24-BFB9-D5FC-23EA3905D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D38C5E-222E-4678-696D-988E1D929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A8ED93-0AD1-4C4F-F223-25BE31885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2081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8BE3-15DD-480F-8512-86E958BB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66045-DF40-D0A9-B005-91FFA8DD6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D8F50F-E1AA-CBFF-BB6D-AF81B7F7C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46DF8-EA75-7D6F-F52E-B8E1190A2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225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BE26-A210-4BD1-D940-A92E3050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D55D1A-F23B-5C95-C780-282E1F1D8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9C2580-DE72-7213-E604-1A33C4C61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9CD1B4-2B0A-8875-F116-8DD6D8A09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3776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5E34-47E3-BD69-DC22-7D232524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316896-FF09-D8AE-A8EB-B5372B9A6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431A8C-1AF1-A009-15FF-7C4AF84B4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CC4F-329E-B9E6-0EC2-0CEFE4FE92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7016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30B81-3881-42AF-27D0-292E00B1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92A92A-F38D-B475-CA4E-DC154A699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F5403D-0130-DAD6-F1C2-81DAF3162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A99CF2-7D4E-A56A-78AC-CFDFFD365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0895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BF5E-CB88-BEC2-B650-4BAD3C05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970C24-7458-1E24-E306-80CC6DB10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8F79C8-0D83-DE1B-D633-EDDE85075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E957AB-EAA0-37E0-E75B-9C78608D84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0054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DACC-D15D-FDD7-4B7D-737550B14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1813DC-3548-16CE-0D34-53029D4FE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2CDE7F-1579-8284-503A-11534C39F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A0AED-12EE-68DF-2E93-D72978FDB8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0836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C81E-0C8A-8020-DF3D-E2FFE3047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312090-9D45-1CBA-B693-7E53BD996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6EC776-3AD9-229A-FDCE-E253D2832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C62E86-DDF2-8062-86B2-C7965D3E75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6725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B94A9-C3FA-CCED-3678-F6ACD5B2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EB26F3-61B8-1A87-4C03-097B66BEC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75484C-A26A-A271-FA1F-4C76E8687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41FB9-E399-2503-62F1-FEAC3DABC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7993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幸运日素材 淘宝店：</a:t>
            </a:r>
            <a:r>
              <a:rPr lang="en-US" altLang="zh-CN" dirty="0"/>
              <a:t>https://shop145643496.taobao.com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pPr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758F011-F9AC-33B4-FEB6-12F06B0990E8}"/>
              </a:ext>
            </a:extLst>
          </p:cNvPr>
          <p:cNvGrpSpPr/>
          <p:nvPr/>
        </p:nvGrpSpPr>
        <p:grpSpPr>
          <a:xfrm>
            <a:off x="0" y="1886648"/>
            <a:ext cx="12192001" cy="2650435"/>
            <a:chOff x="0" y="1886648"/>
            <a:chExt cx="12192001" cy="2650435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C7857AB-3690-4BB7-BE15-F6FB8CE40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86648"/>
              <a:ext cx="12192000" cy="2650435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886648"/>
              <a:ext cx="12192000" cy="265043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59000">
                  <a:srgbClr val="C00000">
                    <a:alpha val="40000"/>
                  </a:srgbClr>
                </a:gs>
                <a:gs pos="100000">
                  <a:srgbClr val="C00000">
                    <a:alpha val="10000"/>
                  </a:srgb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" y="2342016"/>
              <a:ext cx="121920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基于微博的舆情分析系统设计与实现</a:t>
              </a:r>
            </a:p>
          </p:txBody>
        </p:sp>
      </p:grpSp>
      <p:sp>
        <p:nvSpPr>
          <p:cNvPr id="16" name="TextBox 10"/>
          <p:cNvSpPr txBox="1"/>
          <p:nvPr/>
        </p:nvSpPr>
        <p:spPr>
          <a:xfrm>
            <a:off x="2565805" y="4729444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四川大学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5DBE58-9FBC-D640-F7A1-227003578AC8}"/>
              </a:ext>
            </a:extLst>
          </p:cNvPr>
          <p:cNvGrpSpPr/>
          <p:nvPr/>
        </p:nvGrpSpPr>
        <p:grpSpPr>
          <a:xfrm>
            <a:off x="3399854" y="5631727"/>
            <a:ext cx="2117464" cy="466244"/>
            <a:chOff x="3399854" y="5631727"/>
            <a:chExt cx="2117464" cy="466244"/>
          </a:xfrm>
        </p:grpSpPr>
        <p:sp>
          <p:nvSpPr>
            <p:cNvPr id="13" name="TextBox 6"/>
            <p:cNvSpPr txBox="1"/>
            <p:nvPr/>
          </p:nvSpPr>
          <p:spPr>
            <a:xfrm>
              <a:off x="3917248" y="5664805"/>
              <a:ext cx="1600070" cy="400085"/>
            </a:xfrm>
            <a:prstGeom prst="rect">
              <a:avLst/>
            </a:prstGeom>
            <a:noFill/>
          </p:spPr>
          <p:txBody>
            <a:bodyPr wrap="none" lIns="91416" tIns="45708" rIns="91416" bIns="45708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+mn-ea"/>
                  <a:ea typeface="+mn-ea"/>
                </a:defRPr>
              </a:lvl1pPr>
            </a:lstStyle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</a:t>
              </a:r>
              <a:r>
                <a: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endPara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7"/>
            <p:cNvSpPr>
              <a:spLocks noChangeAspect="1" noEditPoints="1"/>
            </p:cNvSpPr>
            <p:nvPr/>
          </p:nvSpPr>
          <p:spPr bwMode="auto">
            <a:xfrm>
              <a:off x="3399854" y="5631727"/>
              <a:ext cx="462900" cy="466244"/>
            </a:xfrm>
            <a:custGeom>
              <a:avLst/>
              <a:gdLst>
                <a:gd name="T0" fmla="*/ 661 w 904"/>
                <a:gd name="T1" fmla="*/ 461 h 905"/>
                <a:gd name="T2" fmla="*/ 661 w 904"/>
                <a:gd name="T3" fmla="*/ 339 h 905"/>
                <a:gd name="T4" fmla="*/ 605 w 904"/>
                <a:gd name="T5" fmla="*/ 339 h 905"/>
                <a:gd name="T6" fmla="*/ 605 w 904"/>
                <a:gd name="T7" fmla="*/ 461 h 905"/>
                <a:gd name="T8" fmla="*/ 456 w 904"/>
                <a:gd name="T9" fmla="*/ 610 h 905"/>
                <a:gd name="T10" fmla="*/ 453 w 904"/>
                <a:gd name="T11" fmla="*/ 610 h 905"/>
                <a:gd name="T12" fmla="*/ 452 w 904"/>
                <a:gd name="T13" fmla="*/ 610 h 905"/>
                <a:gd name="T14" fmla="*/ 451 w 904"/>
                <a:gd name="T15" fmla="*/ 610 h 905"/>
                <a:gd name="T16" fmla="*/ 448 w 904"/>
                <a:gd name="T17" fmla="*/ 610 h 905"/>
                <a:gd name="T18" fmla="*/ 299 w 904"/>
                <a:gd name="T19" fmla="*/ 461 h 905"/>
                <a:gd name="T20" fmla="*/ 299 w 904"/>
                <a:gd name="T21" fmla="*/ 339 h 905"/>
                <a:gd name="T22" fmla="*/ 244 w 904"/>
                <a:gd name="T23" fmla="*/ 339 h 905"/>
                <a:gd name="T24" fmla="*/ 244 w 904"/>
                <a:gd name="T25" fmla="*/ 461 h 905"/>
                <a:gd name="T26" fmla="*/ 419 w 904"/>
                <a:gd name="T27" fmla="*/ 664 h 905"/>
                <a:gd name="T28" fmla="*/ 419 w 904"/>
                <a:gd name="T29" fmla="*/ 752 h 905"/>
                <a:gd name="T30" fmla="*/ 295 w 904"/>
                <a:gd name="T31" fmla="*/ 787 h 905"/>
                <a:gd name="T32" fmla="*/ 610 w 904"/>
                <a:gd name="T33" fmla="*/ 787 h 905"/>
                <a:gd name="T34" fmla="*/ 484 w 904"/>
                <a:gd name="T35" fmla="*/ 751 h 905"/>
                <a:gd name="T36" fmla="*/ 484 w 904"/>
                <a:gd name="T37" fmla="*/ 664 h 905"/>
                <a:gd name="T38" fmla="*/ 661 w 904"/>
                <a:gd name="T39" fmla="*/ 461 h 905"/>
                <a:gd name="T40" fmla="*/ 450 w 904"/>
                <a:gd name="T41" fmla="*/ 558 h 905"/>
                <a:gd name="T42" fmla="*/ 452 w 904"/>
                <a:gd name="T43" fmla="*/ 558 h 905"/>
                <a:gd name="T44" fmla="*/ 454 w 904"/>
                <a:gd name="T45" fmla="*/ 558 h 905"/>
                <a:gd name="T46" fmla="*/ 554 w 904"/>
                <a:gd name="T47" fmla="*/ 459 h 905"/>
                <a:gd name="T48" fmla="*/ 554 w 904"/>
                <a:gd name="T49" fmla="*/ 218 h 905"/>
                <a:gd name="T50" fmla="*/ 454 w 904"/>
                <a:gd name="T51" fmla="*/ 118 h 905"/>
                <a:gd name="T52" fmla="*/ 452 w 904"/>
                <a:gd name="T53" fmla="*/ 118 h 905"/>
                <a:gd name="T54" fmla="*/ 450 w 904"/>
                <a:gd name="T55" fmla="*/ 118 h 905"/>
                <a:gd name="T56" fmla="*/ 351 w 904"/>
                <a:gd name="T57" fmla="*/ 218 h 905"/>
                <a:gd name="T58" fmla="*/ 351 w 904"/>
                <a:gd name="T59" fmla="*/ 459 h 905"/>
                <a:gd name="T60" fmla="*/ 450 w 904"/>
                <a:gd name="T61" fmla="*/ 558 h 905"/>
                <a:gd name="T62" fmla="*/ 452 w 904"/>
                <a:gd name="T63" fmla="*/ 0 h 905"/>
                <a:gd name="T64" fmla="*/ 904 w 904"/>
                <a:gd name="T65" fmla="*/ 453 h 905"/>
                <a:gd name="T66" fmla="*/ 452 w 904"/>
                <a:gd name="T67" fmla="*/ 905 h 905"/>
                <a:gd name="T68" fmla="*/ 0 w 904"/>
                <a:gd name="T69" fmla="*/ 453 h 905"/>
                <a:gd name="T70" fmla="*/ 452 w 904"/>
                <a:gd name="T71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04" h="905">
                  <a:moveTo>
                    <a:pt x="661" y="461"/>
                  </a:moveTo>
                  <a:lnTo>
                    <a:pt x="661" y="339"/>
                  </a:lnTo>
                  <a:cubicBezTo>
                    <a:pt x="661" y="304"/>
                    <a:pt x="605" y="304"/>
                    <a:pt x="605" y="339"/>
                  </a:cubicBezTo>
                  <a:lnTo>
                    <a:pt x="605" y="461"/>
                  </a:lnTo>
                  <a:cubicBezTo>
                    <a:pt x="605" y="543"/>
                    <a:pt x="538" y="610"/>
                    <a:pt x="456" y="610"/>
                  </a:cubicBezTo>
                  <a:cubicBezTo>
                    <a:pt x="455" y="610"/>
                    <a:pt x="454" y="610"/>
                    <a:pt x="453" y="610"/>
                  </a:cubicBezTo>
                  <a:lnTo>
                    <a:pt x="452" y="610"/>
                  </a:lnTo>
                  <a:lnTo>
                    <a:pt x="451" y="610"/>
                  </a:lnTo>
                  <a:cubicBezTo>
                    <a:pt x="450" y="610"/>
                    <a:pt x="449" y="610"/>
                    <a:pt x="448" y="610"/>
                  </a:cubicBezTo>
                  <a:cubicBezTo>
                    <a:pt x="366" y="610"/>
                    <a:pt x="299" y="543"/>
                    <a:pt x="299" y="461"/>
                  </a:cubicBezTo>
                  <a:lnTo>
                    <a:pt x="299" y="339"/>
                  </a:lnTo>
                  <a:cubicBezTo>
                    <a:pt x="299" y="304"/>
                    <a:pt x="244" y="304"/>
                    <a:pt x="244" y="339"/>
                  </a:cubicBezTo>
                  <a:cubicBezTo>
                    <a:pt x="244" y="355"/>
                    <a:pt x="244" y="461"/>
                    <a:pt x="244" y="461"/>
                  </a:cubicBezTo>
                  <a:cubicBezTo>
                    <a:pt x="244" y="564"/>
                    <a:pt x="320" y="650"/>
                    <a:pt x="419" y="664"/>
                  </a:cubicBezTo>
                  <a:lnTo>
                    <a:pt x="419" y="752"/>
                  </a:lnTo>
                  <a:lnTo>
                    <a:pt x="295" y="787"/>
                  </a:lnTo>
                  <a:lnTo>
                    <a:pt x="610" y="787"/>
                  </a:lnTo>
                  <a:lnTo>
                    <a:pt x="484" y="751"/>
                  </a:lnTo>
                  <a:lnTo>
                    <a:pt x="484" y="664"/>
                  </a:lnTo>
                  <a:cubicBezTo>
                    <a:pt x="584" y="650"/>
                    <a:pt x="661" y="564"/>
                    <a:pt x="661" y="461"/>
                  </a:cubicBezTo>
                  <a:close/>
                  <a:moveTo>
                    <a:pt x="450" y="558"/>
                  </a:moveTo>
                  <a:cubicBezTo>
                    <a:pt x="451" y="558"/>
                    <a:pt x="451" y="558"/>
                    <a:pt x="452" y="558"/>
                  </a:cubicBezTo>
                  <a:cubicBezTo>
                    <a:pt x="453" y="558"/>
                    <a:pt x="453" y="558"/>
                    <a:pt x="454" y="558"/>
                  </a:cubicBezTo>
                  <a:cubicBezTo>
                    <a:pt x="509" y="558"/>
                    <a:pt x="554" y="514"/>
                    <a:pt x="554" y="459"/>
                  </a:cubicBezTo>
                  <a:lnTo>
                    <a:pt x="554" y="218"/>
                  </a:lnTo>
                  <a:cubicBezTo>
                    <a:pt x="554" y="163"/>
                    <a:pt x="509" y="118"/>
                    <a:pt x="454" y="118"/>
                  </a:cubicBezTo>
                  <a:cubicBezTo>
                    <a:pt x="453" y="118"/>
                    <a:pt x="453" y="118"/>
                    <a:pt x="452" y="118"/>
                  </a:cubicBezTo>
                  <a:cubicBezTo>
                    <a:pt x="452" y="118"/>
                    <a:pt x="451" y="118"/>
                    <a:pt x="450" y="118"/>
                  </a:cubicBezTo>
                  <a:cubicBezTo>
                    <a:pt x="395" y="118"/>
                    <a:pt x="351" y="163"/>
                    <a:pt x="351" y="218"/>
                  </a:cubicBezTo>
                  <a:lnTo>
                    <a:pt x="351" y="459"/>
                  </a:lnTo>
                  <a:cubicBezTo>
                    <a:pt x="351" y="514"/>
                    <a:pt x="395" y="558"/>
                    <a:pt x="450" y="558"/>
                  </a:cubicBezTo>
                  <a:close/>
                  <a:moveTo>
                    <a:pt x="452" y="0"/>
                  </a:moveTo>
                  <a:cubicBezTo>
                    <a:pt x="702" y="0"/>
                    <a:pt x="904" y="203"/>
                    <a:pt x="904" y="453"/>
                  </a:cubicBezTo>
                  <a:cubicBezTo>
                    <a:pt x="904" y="702"/>
                    <a:pt x="702" y="905"/>
                    <a:pt x="452" y="905"/>
                  </a:cubicBezTo>
                  <a:cubicBezTo>
                    <a:pt x="202" y="905"/>
                    <a:pt x="0" y="702"/>
                    <a:pt x="0" y="453"/>
                  </a:cubicBezTo>
                  <a:cubicBezTo>
                    <a:pt x="0" y="203"/>
                    <a:pt x="202" y="0"/>
                    <a:pt x="452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9D07178-A087-B592-63C5-05308E4E3B16}"/>
              </a:ext>
            </a:extLst>
          </p:cNvPr>
          <p:cNvGrpSpPr/>
          <p:nvPr/>
        </p:nvGrpSpPr>
        <p:grpSpPr>
          <a:xfrm>
            <a:off x="6421106" y="5631726"/>
            <a:ext cx="2528345" cy="466246"/>
            <a:chOff x="6421106" y="5631726"/>
            <a:chExt cx="2528345" cy="466246"/>
          </a:xfrm>
        </p:grpSpPr>
        <p:sp>
          <p:nvSpPr>
            <p:cNvPr id="14" name="TextBox 7"/>
            <p:cNvSpPr txBox="1"/>
            <p:nvPr/>
          </p:nvSpPr>
          <p:spPr>
            <a:xfrm>
              <a:off x="7092901" y="5664806"/>
              <a:ext cx="1856550" cy="400085"/>
            </a:xfrm>
            <a:prstGeom prst="rect">
              <a:avLst/>
            </a:prstGeom>
            <a:noFill/>
          </p:spPr>
          <p:txBody>
            <a:bodyPr wrap="none" lIns="91416" tIns="45708" rIns="91416" bIns="45708" rtlCol="0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</a:t>
              </a:r>
              <a:r>
                <a:rPr lang="zh-CN" altLang="en-US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endPara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8"/>
            <p:cNvSpPr>
              <a:spLocks noChangeAspect="1" noEditPoints="1"/>
            </p:cNvSpPr>
            <p:nvPr/>
          </p:nvSpPr>
          <p:spPr bwMode="auto">
            <a:xfrm>
              <a:off x="6421106" y="5631726"/>
              <a:ext cx="464288" cy="466246"/>
            </a:xfrm>
            <a:custGeom>
              <a:avLst/>
              <a:gdLst>
                <a:gd name="T0" fmla="*/ 422 w 422"/>
                <a:gd name="T1" fmla="*/ 211 h 422"/>
                <a:gd name="T2" fmla="*/ 0 w 422"/>
                <a:gd name="T3" fmla="*/ 211 h 422"/>
                <a:gd name="T4" fmla="*/ 340 w 422"/>
                <a:gd name="T5" fmla="*/ 117 h 422"/>
                <a:gd name="T6" fmla="*/ 345 w 422"/>
                <a:gd name="T7" fmla="*/ 123 h 422"/>
                <a:gd name="T8" fmla="*/ 344 w 422"/>
                <a:gd name="T9" fmla="*/ 226 h 422"/>
                <a:gd name="T10" fmla="*/ 340 w 422"/>
                <a:gd name="T11" fmla="*/ 227 h 422"/>
                <a:gd name="T12" fmla="*/ 217 w 422"/>
                <a:gd name="T13" fmla="*/ 226 h 422"/>
                <a:gd name="T14" fmla="*/ 215 w 422"/>
                <a:gd name="T15" fmla="*/ 222 h 422"/>
                <a:gd name="T16" fmla="*/ 286 w 422"/>
                <a:gd name="T17" fmla="*/ 164 h 422"/>
                <a:gd name="T18" fmla="*/ 215 w 422"/>
                <a:gd name="T19" fmla="*/ 171 h 422"/>
                <a:gd name="T20" fmla="*/ 217 w 422"/>
                <a:gd name="T21" fmla="*/ 119 h 422"/>
                <a:gd name="T22" fmla="*/ 220 w 422"/>
                <a:gd name="T23" fmla="*/ 117 h 422"/>
                <a:gd name="T24" fmla="*/ 220 w 422"/>
                <a:gd name="T25" fmla="*/ 96 h 422"/>
                <a:gd name="T26" fmla="*/ 202 w 422"/>
                <a:gd name="T27" fmla="*/ 104 h 422"/>
                <a:gd name="T28" fmla="*/ 194 w 422"/>
                <a:gd name="T29" fmla="*/ 174 h 422"/>
                <a:gd name="T30" fmla="*/ 186 w 422"/>
                <a:gd name="T31" fmla="*/ 166 h 422"/>
                <a:gd name="T32" fmla="*/ 137 w 422"/>
                <a:gd name="T33" fmla="*/ 151 h 422"/>
                <a:gd name="T34" fmla="*/ 54 w 422"/>
                <a:gd name="T35" fmla="*/ 173 h 422"/>
                <a:gd name="T36" fmla="*/ 77 w 422"/>
                <a:gd name="T37" fmla="*/ 243 h 422"/>
                <a:gd name="T38" fmla="*/ 81 w 422"/>
                <a:gd name="T39" fmla="*/ 192 h 422"/>
                <a:gd name="T40" fmla="*/ 81 w 422"/>
                <a:gd name="T41" fmla="*/ 256 h 422"/>
                <a:gd name="T42" fmla="*/ 106 w 422"/>
                <a:gd name="T43" fmla="*/ 350 h 422"/>
                <a:gd name="T44" fmla="*/ 112 w 422"/>
                <a:gd name="T45" fmla="*/ 272 h 422"/>
                <a:gd name="T46" fmla="*/ 137 w 422"/>
                <a:gd name="T47" fmla="*/ 350 h 422"/>
                <a:gd name="T48" fmla="*/ 137 w 422"/>
                <a:gd name="T49" fmla="*/ 256 h 422"/>
                <a:gd name="T50" fmla="*/ 137 w 422"/>
                <a:gd name="T51" fmla="*/ 192 h 422"/>
                <a:gd name="T52" fmla="*/ 162 w 422"/>
                <a:gd name="T53" fmla="*/ 192 h 422"/>
                <a:gd name="T54" fmla="*/ 186 w 422"/>
                <a:gd name="T55" fmla="*/ 185 h 422"/>
                <a:gd name="T56" fmla="*/ 194 w 422"/>
                <a:gd name="T57" fmla="*/ 222 h 422"/>
                <a:gd name="T58" fmla="*/ 202 w 422"/>
                <a:gd name="T59" fmla="*/ 240 h 422"/>
                <a:gd name="T60" fmla="*/ 220 w 422"/>
                <a:gd name="T61" fmla="*/ 248 h 422"/>
                <a:gd name="T62" fmla="*/ 359 w 422"/>
                <a:gd name="T63" fmla="*/ 240 h 422"/>
                <a:gd name="T64" fmla="*/ 366 w 422"/>
                <a:gd name="T65" fmla="*/ 222 h 422"/>
                <a:gd name="T66" fmla="*/ 359 w 422"/>
                <a:gd name="T67" fmla="*/ 104 h 422"/>
                <a:gd name="T68" fmla="*/ 220 w 422"/>
                <a:gd name="T69" fmla="*/ 96 h 422"/>
                <a:gd name="T70" fmla="*/ 344 w 422"/>
                <a:gd name="T71" fmla="*/ 277 h 422"/>
                <a:gd name="T72" fmla="*/ 346 w 422"/>
                <a:gd name="T73" fmla="*/ 351 h 422"/>
                <a:gd name="T74" fmla="*/ 298 w 422"/>
                <a:gd name="T75" fmla="*/ 277 h 422"/>
                <a:gd name="T76" fmla="*/ 250 w 422"/>
                <a:gd name="T77" fmla="*/ 351 h 422"/>
                <a:gd name="T78" fmla="*/ 244 w 422"/>
                <a:gd name="T79" fmla="*/ 277 h 422"/>
                <a:gd name="T80" fmla="*/ 221 w 422"/>
                <a:gd name="T81" fmla="*/ 254 h 422"/>
                <a:gd name="T82" fmla="*/ 109 w 422"/>
                <a:gd name="T83" fmla="*/ 75 h 422"/>
                <a:gd name="T84" fmla="*/ 109 w 422"/>
                <a:gd name="T85" fmla="*/ 146 h 422"/>
                <a:gd name="T86" fmla="*/ 109 w 422"/>
                <a:gd name="T87" fmla="*/ 75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22" h="422">
                  <a:moveTo>
                    <a:pt x="211" y="0"/>
                  </a:moveTo>
                  <a:cubicBezTo>
                    <a:pt x="327" y="0"/>
                    <a:pt x="422" y="94"/>
                    <a:pt x="422" y="211"/>
                  </a:cubicBezTo>
                  <a:cubicBezTo>
                    <a:pt x="422" y="327"/>
                    <a:pt x="327" y="422"/>
                    <a:pt x="211" y="422"/>
                  </a:cubicBezTo>
                  <a:cubicBezTo>
                    <a:pt x="94" y="422"/>
                    <a:pt x="0" y="327"/>
                    <a:pt x="0" y="211"/>
                  </a:cubicBezTo>
                  <a:cubicBezTo>
                    <a:pt x="0" y="94"/>
                    <a:pt x="94" y="0"/>
                    <a:pt x="211" y="0"/>
                  </a:cubicBezTo>
                  <a:close/>
                  <a:moveTo>
                    <a:pt x="340" y="117"/>
                  </a:moveTo>
                  <a:cubicBezTo>
                    <a:pt x="341" y="117"/>
                    <a:pt x="343" y="118"/>
                    <a:pt x="344" y="119"/>
                  </a:cubicBezTo>
                  <a:cubicBezTo>
                    <a:pt x="345" y="120"/>
                    <a:pt x="345" y="121"/>
                    <a:pt x="345" y="123"/>
                  </a:cubicBezTo>
                  <a:lnTo>
                    <a:pt x="345" y="222"/>
                  </a:lnTo>
                  <a:cubicBezTo>
                    <a:pt x="345" y="223"/>
                    <a:pt x="345" y="225"/>
                    <a:pt x="344" y="226"/>
                  </a:cubicBezTo>
                  <a:lnTo>
                    <a:pt x="344" y="226"/>
                  </a:lnTo>
                  <a:cubicBezTo>
                    <a:pt x="343" y="227"/>
                    <a:pt x="341" y="227"/>
                    <a:pt x="340" y="227"/>
                  </a:cubicBezTo>
                  <a:lnTo>
                    <a:pt x="220" y="227"/>
                  </a:lnTo>
                  <a:cubicBezTo>
                    <a:pt x="219" y="227"/>
                    <a:pt x="218" y="227"/>
                    <a:pt x="217" y="226"/>
                  </a:cubicBezTo>
                  <a:lnTo>
                    <a:pt x="217" y="226"/>
                  </a:lnTo>
                  <a:cubicBezTo>
                    <a:pt x="216" y="225"/>
                    <a:pt x="215" y="223"/>
                    <a:pt x="215" y="222"/>
                  </a:cubicBezTo>
                  <a:lnTo>
                    <a:pt x="215" y="179"/>
                  </a:lnTo>
                  <a:lnTo>
                    <a:pt x="286" y="164"/>
                  </a:lnTo>
                  <a:lnTo>
                    <a:pt x="286" y="162"/>
                  </a:lnTo>
                  <a:lnTo>
                    <a:pt x="215" y="171"/>
                  </a:lnTo>
                  <a:lnTo>
                    <a:pt x="215" y="123"/>
                  </a:lnTo>
                  <a:cubicBezTo>
                    <a:pt x="215" y="121"/>
                    <a:pt x="216" y="120"/>
                    <a:pt x="217" y="119"/>
                  </a:cubicBezTo>
                  <a:lnTo>
                    <a:pt x="217" y="119"/>
                  </a:lnTo>
                  <a:cubicBezTo>
                    <a:pt x="218" y="118"/>
                    <a:pt x="219" y="117"/>
                    <a:pt x="220" y="117"/>
                  </a:cubicBezTo>
                  <a:lnTo>
                    <a:pt x="340" y="117"/>
                  </a:lnTo>
                  <a:close/>
                  <a:moveTo>
                    <a:pt x="220" y="96"/>
                  </a:moveTo>
                  <a:cubicBezTo>
                    <a:pt x="213" y="96"/>
                    <a:pt x="206" y="99"/>
                    <a:pt x="202" y="104"/>
                  </a:cubicBezTo>
                  <a:lnTo>
                    <a:pt x="202" y="104"/>
                  </a:lnTo>
                  <a:cubicBezTo>
                    <a:pt x="197" y="109"/>
                    <a:pt x="194" y="115"/>
                    <a:pt x="194" y="123"/>
                  </a:cubicBezTo>
                  <a:lnTo>
                    <a:pt x="194" y="174"/>
                  </a:lnTo>
                  <a:lnTo>
                    <a:pt x="186" y="175"/>
                  </a:lnTo>
                  <a:lnTo>
                    <a:pt x="186" y="166"/>
                  </a:lnTo>
                  <a:lnTo>
                    <a:pt x="162" y="166"/>
                  </a:lnTo>
                  <a:lnTo>
                    <a:pt x="137" y="151"/>
                  </a:lnTo>
                  <a:lnTo>
                    <a:pt x="77" y="151"/>
                  </a:lnTo>
                  <a:cubicBezTo>
                    <a:pt x="64" y="151"/>
                    <a:pt x="54" y="161"/>
                    <a:pt x="54" y="173"/>
                  </a:cubicBezTo>
                  <a:lnTo>
                    <a:pt x="54" y="243"/>
                  </a:lnTo>
                  <a:lnTo>
                    <a:pt x="77" y="243"/>
                  </a:lnTo>
                  <a:lnTo>
                    <a:pt x="77" y="192"/>
                  </a:lnTo>
                  <a:lnTo>
                    <a:pt x="81" y="192"/>
                  </a:lnTo>
                  <a:lnTo>
                    <a:pt x="81" y="243"/>
                  </a:lnTo>
                  <a:lnTo>
                    <a:pt x="81" y="256"/>
                  </a:lnTo>
                  <a:lnTo>
                    <a:pt x="81" y="350"/>
                  </a:lnTo>
                  <a:lnTo>
                    <a:pt x="106" y="350"/>
                  </a:lnTo>
                  <a:lnTo>
                    <a:pt x="106" y="272"/>
                  </a:lnTo>
                  <a:lnTo>
                    <a:pt x="112" y="272"/>
                  </a:lnTo>
                  <a:lnTo>
                    <a:pt x="112" y="350"/>
                  </a:lnTo>
                  <a:lnTo>
                    <a:pt x="137" y="350"/>
                  </a:lnTo>
                  <a:lnTo>
                    <a:pt x="137" y="336"/>
                  </a:lnTo>
                  <a:lnTo>
                    <a:pt x="137" y="256"/>
                  </a:lnTo>
                  <a:lnTo>
                    <a:pt x="137" y="243"/>
                  </a:lnTo>
                  <a:lnTo>
                    <a:pt x="137" y="192"/>
                  </a:lnTo>
                  <a:lnTo>
                    <a:pt x="137" y="177"/>
                  </a:lnTo>
                  <a:lnTo>
                    <a:pt x="162" y="192"/>
                  </a:lnTo>
                  <a:lnTo>
                    <a:pt x="186" y="192"/>
                  </a:lnTo>
                  <a:lnTo>
                    <a:pt x="186" y="185"/>
                  </a:lnTo>
                  <a:lnTo>
                    <a:pt x="194" y="184"/>
                  </a:lnTo>
                  <a:lnTo>
                    <a:pt x="194" y="222"/>
                  </a:lnTo>
                  <a:cubicBezTo>
                    <a:pt x="194" y="229"/>
                    <a:pt x="197" y="236"/>
                    <a:pt x="202" y="240"/>
                  </a:cubicBezTo>
                  <a:lnTo>
                    <a:pt x="202" y="240"/>
                  </a:lnTo>
                  <a:lnTo>
                    <a:pt x="202" y="241"/>
                  </a:lnTo>
                  <a:cubicBezTo>
                    <a:pt x="207" y="245"/>
                    <a:pt x="213" y="248"/>
                    <a:pt x="220" y="248"/>
                  </a:cubicBezTo>
                  <a:lnTo>
                    <a:pt x="340" y="248"/>
                  </a:lnTo>
                  <a:cubicBezTo>
                    <a:pt x="347" y="248"/>
                    <a:pt x="354" y="245"/>
                    <a:pt x="359" y="240"/>
                  </a:cubicBezTo>
                  <a:lnTo>
                    <a:pt x="359" y="241"/>
                  </a:lnTo>
                  <a:cubicBezTo>
                    <a:pt x="363" y="236"/>
                    <a:pt x="366" y="229"/>
                    <a:pt x="366" y="222"/>
                  </a:cubicBezTo>
                  <a:lnTo>
                    <a:pt x="366" y="123"/>
                  </a:lnTo>
                  <a:cubicBezTo>
                    <a:pt x="366" y="115"/>
                    <a:pt x="363" y="109"/>
                    <a:pt x="359" y="104"/>
                  </a:cubicBezTo>
                  <a:cubicBezTo>
                    <a:pt x="354" y="99"/>
                    <a:pt x="347" y="96"/>
                    <a:pt x="340" y="96"/>
                  </a:cubicBezTo>
                  <a:lnTo>
                    <a:pt x="220" y="96"/>
                  </a:lnTo>
                  <a:close/>
                  <a:moveTo>
                    <a:pt x="344" y="254"/>
                  </a:moveTo>
                  <a:lnTo>
                    <a:pt x="344" y="277"/>
                  </a:lnTo>
                  <a:lnTo>
                    <a:pt x="325" y="277"/>
                  </a:lnTo>
                  <a:lnTo>
                    <a:pt x="346" y="351"/>
                  </a:lnTo>
                  <a:lnTo>
                    <a:pt x="319" y="351"/>
                  </a:lnTo>
                  <a:lnTo>
                    <a:pt x="298" y="277"/>
                  </a:lnTo>
                  <a:lnTo>
                    <a:pt x="271" y="277"/>
                  </a:lnTo>
                  <a:lnTo>
                    <a:pt x="250" y="351"/>
                  </a:lnTo>
                  <a:lnTo>
                    <a:pt x="223" y="351"/>
                  </a:lnTo>
                  <a:lnTo>
                    <a:pt x="244" y="277"/>
                  </a:lnTo>
                  <a:lnTo>
                    <a:pt x="221" y="277"/>
                  </a:lnTo>
                  <a:lnTo>
                    <a:pt x="221" y="254"/>
                  </a:lnTo>
                  <a:lnTo>
                    <a:pt x="344" y="254"/>
                  </a:lnTo>
                  <a:close/>
                  <a:moveTo>
                    <a:pt x="109" y="75"/>
                  </a:moveTo>
                  <a:cubicBezTo>
                    <a:pt x="129" y="75"/>
                    <a:pt x="145" y="91"/>
                    <a:pt x="145" y="111"/>
                  </a:cubicBezTo>
                  <a:cubicBezTo>
                    <a:pt x="145" y="130"/>
                    <a:pt x="129" y="146"/>
                    <a:pt x="109" y="146"/>
                  </a:cubicBezTo>
                  <a:cubicBezTo>
                    <a:pt x="90" y="146"/>
                    <a:pt x="74" y="130"/>
                    <a:pt x="74" y="111"/>
                  </a:cubicBezTo>
                  <a:cubicBezTo>
                    <a:pt x="74" y="91"/>
                    <a:pt x="90" y="75"/>
                    <a:pt x="109" y="75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" name="Florian Bur - The Way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-609600" y="6311900"/>
            <a:ext cx="406400" cy="406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DD246AB-230B-4E8A-8B2F-FE8E4DCB44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435" y="535582"/>
            <a:ext cx="2761129" cy="797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100">
                <p:cTn id="1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rgbClr val="FF5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42044" y="829514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642044" y="179743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642044" y="2765364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642044" y="373328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642044" y="4701214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6746944" y="829514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研究背景与意义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6746944" y="179743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相关技术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746944" y="2765364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系统需求分析与总体设计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6746944" y="373328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系统详细设计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746944" y="4701214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系统测试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315EAF80-4965-8C91-98BE-5209ABF82FA3}"/>
              </a:ext>
            </a:extLst>
          </p:cNvPr>
          <p:cNvSpPr/>
          <p:nvPr/>
        </p:nvSpPr>
        <p:spPr>
          <a:xfrm>
            <a:off x="5642044" y="566913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06</a:t>
            </a:r>
            <a:endParaRPr lang="zh-CN" altLang="en-US" b="1" dirty="0"/>
          </a:p>
        </p:txBody>
      </p:sp>
      <p:sp>
        <p:nvSpPr>
          <p:cNvPr id="4" name="圆角矩形 62">
            <a:extLst>
              <a:ext uri="{FF2B5EF4-FFF2-40B4-BE49-F238E27FC236}">
                <a16:creationId xmlns:a16="http://schemas.microsoft.com/office/drawing/2014/main" id="{F1841CDD-02B5-BD95-3A79-FE5DBBA2FE4D}"/>
              </a:ext>
            </a:extLst>
          </p:cNvPr>
          <p:cNvSpPr/>
          <p:nvPr/>
        </p:nvSpPr>
        <p:spPr>
          <a:xfrm>
            <a:off x="6746944" y="566913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论文总结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25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25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25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  <p:bldP spid="65" grpId="0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DE822DB-3EFD-4AEB-A2E6-C3E2E3AA46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8" b="29490"/>
          <a:stretch/>
        </p:blipFill>
        <p:spPr>
          <a:xfrm>
            <a:off x="2" y="-1"/>
            <a:ext cx="12191998" cy="373649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C00000"/>
              </a:gs>
              <a:gs pos="59000">
                <a:srgbClr val="C00000">
                  <a:alpha val="40000"/>
                </a:srgbClr>
              </a:gs>
              <a:gs pos="100000">
                <a:srgbClr val="C00000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FF5D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0EA5D2-1DCD-4B98-BEB2-EF2C367FC2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64" y="903148"/>
            <a:ext cx="5911273" cy="170659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0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8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0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8" grpId="0"/>
          <p:bldP spid="9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931705" y="1693749"/>
            <a:ext cx="10222390" cy="790303"/>
          </a:xfrm>
          <a:prstGeom prst="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微博数据的价值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3C860A3-0E8B-66BB-4C49-B251BA3FEB8E}"/>
              </a:ext>
            </a:extLst>
          </p:cNvPr>
          <p:cNvGrpSpPr/>
          <p:nvPr/>
        </p:nvGrpSpPr>
        <p:grpSpPr>
          <a:xfrm>
            <a:off x="931705" y="2595841"/>
            <a:ext cx="6767195" cy="3978184"/>
            <a:chOff x="4421437" y="2879997"/>
            <a:chExt cx="6767195" cy="3978184"/>
          </a:xfrm>
        </p:grpSpPr>
        <p:sp>
          <p:nvSpPr>
            <p:cNvPr id="54" name="学论网-矩形 1"/>
            <p:cNvSpPr/>
            <p:nvPr/>
          </p:nvSpPr>
          <p:spPr>
            <a:xfrm>
              <a:off x="7876632" y="2879997"/>
              <a:ext cx="3312000" cy="3978184"/>
            </a:xfrm>
            <a:prstGeom prst="rect">
              <a:avLst/>
            </a:prstGeom>
            <a:noFill/>
            <a:ln w="12700" cap="flat" cmpd="sng" algn="ctr">
              <a:solidFill>
                <a:srgbClr val="C00000"/>
              </a:solidFill>
              <a:prstDash val="sysDot"/>
            </a:ln>
            <a:effectLst/>
          </p:spPr>
          <p:txBody>
            <a:bodyPr rtlCol="0" anchor="ctr"/>
            <a:lstStyle/>
            <a:p>
              <a:pPr lvl="0" algn="ctr"/>
              <a:endPara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endParaRPr>
            </a:p>
          </p:txBody>
        </p:sp>
        <p:sp>
          <p:nvSpPr>
            <p:cNvPr id="57" name="学论网-www.xuelun.me"/>
            <p:cNvSpPr txBox="1"/>
            <p:nvPr/>
          </p:nvSpPr>
          <p:spPr>
            <a:xfrm>
              <a:off x="8141981" y="3192656"/>
              <a:ext cx="2781302" cy="33728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02 </a:t>
              </a: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情感分析的应用价值</a:t>
              </a:r>
              <a:endPara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" panose="02010600030101010101" charset="-122"/>
                <a:ea typeface="Source Han Sans" panose="02010600030101010101" charset="-122"/>
              </a:endParaRPr>
            </a:p>
            <a:p>
              <a:pPr algn="ctr">
                <a:lnSpc>
                  <a:spcPct val="150000"/>
                </a:lnSpc>
              </a:pPr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" panose="02010600030101010101" charset="-122"/>
                <a:ea typeface="Source Han Sans" panose="0201060003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微博数据覆盖政治、经济、文化等多元领域，通过分析这些数据能够深入挖掘公众情绪倾向、社会价值取向和社会矛盾等。例如关于疫苗接种的讨论为政策制定和公共治理提供了依据。</a:t>
              </a:r>
            </a:p>
          </p:txBody>
        </p:sp>
        <p:sp>
          <p:nvSpPr>
            <p:cNvPr id="5" name="学论网-矩形 1">
              <a:extLst>
                <a:ext uri="{FF2B5EF4-FFF2-40B4-BE49-F238E27FC236}">
                  <a16:creationId xmlns:a16="http://schemas.microsoft.com/office/drawing/2014/main" id="{1EEF2BD5-4122-80D7-BE64-1DC882296A1C}"/>
                </a:ext>
              </a:extLst>
            </p:cNvPr>
            <p:cNvSpPr/>
            <p:nvPr/>
          </p:nvSpPr>
          <p:spPr>
            <a:xfrm>
              <a:off x="4421437" y="2879997"/>
              <a:ext cx="3312000" cy="3978184"/>
            </a:xfrm>
            <a:prstGeom prst="rect">
              <a:avLst/>
            </a:prstGeom>
            <a:noFill/>
            <a:ln w="12700" cap="flat" cmpd="sng" algn="ctr">
              <a:solidFill>
                <a:srgbClr val="C00000"/>
              </a:solidFill>
              <a:prstDash val="sysDot"/>
            </a:ln>
            <a:effectLst/>
          </p:spPr>
          <p:txBody>
            <a:bodyPr rtlCol="0" anchor="ctr"/>
            <a:lstStyle/>
            <a:p>
              <a:pPr lvl="0" algn="ctr"/>
              <a:endPara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endParaRPr>
            </a:p>
          </p:txBody>
        </p:sp>
        <p:sp>
          <p:nvSpPr>
            <p:cNvPr id="6" name="学论网-www.xuelun.me">
              <a:extLst>
                <a:ext uri="{FF2B5EF4-FFF2-40B4-BE49-F238E27FC236}">
                  <a16:creationId xmlns:a16="http://schemas.microsoft.com/office/drawing/2014/main" id="{EA44F4CE-59E9-AAB4-160C-383601423457}"/>
                </a:ext>
              </a:extLst>
            </p:cNvPr>
            <p:cNvSpPr txBox="1"/>
            <p:nvPr/>
          </p:nvSpPr>
          <p:spPr>
            <a:xfrm>
              <a:off x="4723912" y="3192656"/>
              <a:ext cx="2744176" cy="298934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01</a:t>
              </a: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数据规模庞大</a:t>
              </a:r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" panose="02010600030101010101" charset="-122"/>
                <a:ea typeface="Source Han Sans" panose="02010600030101010101" charset="-122"/>
              </a:endParaRPr>
            </a:p>
            <a:p>
              <a:pPr algn="ctr">
                <a:lnSpc>
                  <a:spcPct val="150000"/>
                </a:lnSpc>
              </a:pPr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" panose="02010600030101010101" charset="-122"/>
                <a:ea typeface="Source Han Sans" panose="0201060003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微博日均产生超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5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亿条文本数据月活跃用户数突破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6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亿，海量数据为舆情分析提供了充足基础。海量数据蕴含丰富的社会信息，能够反映社会情绪、舆论动态及公共事件的实时特征。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7F0B17F-637E-727B-277E-82B2FC9B6F8D}"/>
              </a:ext>
            </a:extLst>
          </p:cNvPr>
          <p:cNvGrpSpPr/>
          <p:nvPr/>
        </p:nvGrpSpPr>
        <p:grpSpPr>
          <a:xfrm>
            <a:off x="0" y="0"/>
            <a:ext cx="12192000" cy="792000"/>
            <a:chOff x="0" y="0"/>
            <a:chExt cx="12192000" cy="792000"/>
          </a:xfrm>
        </p:grpSpPr>
        <p:sp>
          <p:nvSpPr>
            <p:cNvPr id="22" name="矩形 4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3005905" y="0"/>
              <a:ext cx="1666001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6"/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7" name="TextBox 7"/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28" name="TextBox 9"/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9" name="TextBox 10"/>
            <p:cNvSpPr txBox="1"/>
            <p:nvPr/>
          </p:nvSpPr>
          <p:spPr>
            <a:xfrm>
              <a:off x="7842095" y="232776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30" name="TextBox 11"/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76521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A77B1152-CA6C-490C-A8FC-8B15D5D09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6" name="TextBox 9">
              <a:extLst>
                <a:ext uri="{FF2B5EF4-FFF2-40B4-BE49-F238E27FC236}">
                  <a16:creationId xmlns:a16="http://schemas.microsoft.com/office/drawing/2014/main" id="{B948ED6C-DE5F-4D97-A5A4-6E953BB48457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22BDD8C-1769-7E41-0A73-E3603540A903}"/>
                </a:ext>
              </a:extLst>
            </p:cNvPr>
            <p:cNvCxnSpPr/>
            <p:nvPr/>
          </p:nvCxnSpPr>
          <p:spPr>
            <a:xfrm>
              <a:off x="5971369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84609D-0EBF-3B2E-9B0C-38C587B01216}"/>
              </a:ext>
            </a:extLst>
          </p:cNvPr>
          <p:cNvGrpSpPr/>
          <p:nvPr/>
        </p:nvGrpSpPr>
        <p:grpSpPr>
          <a:xfrm>
            <a:off x="7842095" y="2595841"/>
            <a:ext cx="3312000" cy="3978184"/>
            <a:chOff x="7876632" y="2879997"/>
            <a:chExt cx="3312000" cy="3978184"/>
          </a:xfrm>
        </p:grpSpPr>
        <p:sp>
          <p:nvSpPr>
            <p:cNvPr id="3" name="学论网-矩形 1">
              <a:extLst>
                <a:ext uri="{FF2B5EF4-FFF2-40B4-BE49-F238E27FC236}">
                  <a16:creationId xmlns:a16="http://schemas.microsoft.com/office/drawing/2014/main" id="{582399BA-3427-58F9-2149-E446442B9FF6}"/>
                </a:ext>
              </a:extLst>
            </p:cNvPr>
            <p:cNvSpPr/>
            <p:nvPr/>
          </p:nvSpPr>
          <p:spPr>
            <a:xfrm>
              <a:off x="7876632" y="2879997"/>
              <a:ext cx="3312000" cy="3978184"/>
            </a:xfrm>
            <a:prstGeom prst="rect">
              <a:avLst/>
            </a:prstGeom>
            <a:noFill/>
            <a:ln w="12700" cap="flat" cmpd="sng" algn="ctr">
              <a:solidFill>
                <a:srgbClr val="C00000"/>
              </a:solidFill>
              <a:prstDash val="sysDot"/>
            </a:ln>
            <a:effectLst/>
          </p:spPr>
          <p:txBody>
            <a:bodyPr rtlCol="0" anchor="ctr"/>
            <a:lstStyle/>
            <a:p>
              <a:pPr lvl="0" algn="ctr"/>
              <a:endPara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endParaRPr>
            </a:p>
          </p:txBody>
        </p:sp>
        <p:sp>
          <p:nvSpPr>
            <p:cNvPr id="4" name="学论网-www.xuelun.me">
              <a:extLst>
                <a:ext uri="{FF2B5EF4-FFF2-40B4-BE49-F238E27FC236}">
                  <a16:creationId xmlns:a16="http://schemas.microsoft.com/office/drawing/2014/main" id="{D707C735-EE18-619A-F121-9328098CA722}"/>
                </a:ext>
              </a:extLst>
            </p:cNvPr>
            <p:cNvSpPr txBox="1"/>
            <p:nvPr/>
          </p:nvSpPr>
          <p:spPr>
            <a:xfrm>
              <a:off x="8141981" y="3192656"/>
              <a:ext cx="2781302" cy="33728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02 </a:t>
              </a: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情感分析的应用价值</a:t>
              </a:r>
              <a:endPara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" panose="02010600030101010101" charset="-122"/>
                <a:ea typeface="Source Han Sans" panose="02010600030101010101" charset="-122"/>
              </a:endParaRPr>
            </a:p>
            <a:p>
              <a:pPr algn="ctr">
                <a:lnSpc>
                  <a:spcPct val="150000"/>
                </a:lnSpc>
              </a:pPr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" panose="02010600030101010101" charset="-122"/>
                <a:ea typeface="Source Han Sans" panose="02010600030101010101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Han Sans" panose="02010600030101010101" charset="-122"/>
                  <a:ea typeface="Source Han Sans" panose="02010600030101010101" charset="-122"/>
                </a:rPr>
                <a:t>微博数据对公共治理决策、企业市场分析、社会风险预警等方面具有重要的参考价值。例如舆情监测系统通过分析微博用户的评论和转发行为，及时发现公众对政策执行细节的不满情绪。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F48785D-C06D-0C06-3F9F-3DD1FCF79BCE}"/>
              </a:ext>
            </a:extLst>
          </p:cNvPr>
          <p:cNvGrpSpPr/>
          <p:nvPr/>
        </p:nvGrpSpPr>
        <p:grpSpPr>
          <a:xfrm>
            <a:off x="0" y="0"/>
            <a:ext cx="12192000" cy="792000"/>
            <a:chOff x="0" y="0"/>
            <a:chExt cx="12192000" cy="792000"/>
          </a:xfrm>
        </p:grpSpPr>
        <p:sp>
          <p:nvSpPr>
            <p:cNvPr id="68" name="矩形 4">
              <a:extLst>
                <a:ext uri="{FF2B5EF4-FFF2-40B4-BE49-F238E27FC236}">
                  <a16:creationId xmlns:a16="http://schemas.microsoft.com/office/drawing/2014/main" id="{E3F1F0C3-1E11-2BA0-3871-CD18CF7C7DCB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8EB48FE-2E6D-908B-1956-2EC49E5609F3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E7FD6C5E-008F-9EB5-F038-E6338A1ACCA3}"/>
                </a:ext>
              </a:extLst>
            </p:cNvPr>
            <p:cNvSpPr/>
            <p:nvPr/>
          </p:nvSpPr>
          <p:spPr>
            <a:xfrm>
              <a:off x="3005905" y="0"/>
              <a:ext cx="1666001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95B60E11-E20D-6ABF-3183-87D8CC1E4221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6">
              <a:extLst>
                <a:ext uri="{FF2B5EF4-FFF2-40B4-BE49-F238E27FC236}">
                  <a16:creationId xmlns:a16="http://schemas.microsoft.com/office/drawing/2014/main" id="{300BE760-3CB9-77D6-AD43-37BB74A03060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73" name="TextBox 7">
              <a:extLst>
                <a:ext uri="{FF2B5EF4-FFF2-40B4-BE49-F238E27FC236}">
                  <a16:creationId xmlns:a16="http://schemas.microsoft.com/office/drawing/2014/main" id="{27AD17DB-B1DC-25ED-3801-1AD30E12B8FA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74" name="TextBox 9">
              <a:extLst>
                <a:ext uri="{FF2B5EF4-FFF2-40B4-BE49-F238E27FC236}">
                  <a16:creationId xmlns:a16="http://schemas.microsoft.com/office/drawing/2014/main" id="{9104F72A-0D22-9FC4-B95F-D6DDB00831CD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75" name="TextBox 10">
              <a:extLst>
                <a:ext uri="{FF2B5EF4-FFF2-40B4-BE49-F238E27FC236}">
                  <a16:creationId xmlns:a16="http://schemas.microsoft.com/office/drawing/2014/main" id="{E7C86DD7-167C-5565-54C0-5AC8E8AC6BD0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76" name="TextBox 11">
              <a:extLst>
                <a:ext uri="{FF2B5EF4-FFF2-40B4-BE49-F238E27FC236}">
                  <a16:creationId xmlns:a16="http://schemas.microsoft.com/office/drawing/2014/main" id="{FEB5610D-3987-8FBD-8E3B-FF0C99EE7230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5951178-BAFB-533B-09B5-073DB17B3322}"/>
                </a:ext>
              </a:extLst>
            </p:cNvPr>
            <p:cNvCxnSpPr/>
            <p:nvPr/>
          </p:nvCxnSpPr>
          <p:spPr>
            <a:xfrm>
              <a:off x="76521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06D66C18-72D2-D917-096E-3C6590623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79" name="TextBox 9">
              <a:extLst>
                <a:ext uri="{FF2B5EF4-FFF2-40B4-BE49-F238E27FC236}">
                  <a16:creationId xmlns:a16="http://schemas.microsoft.com/office/drawing/2014/main" id="{FB355BA9-FCB8-52D4-75AA-C747395A19C3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18FE175-B69A-E515-A301-2800E022B8F4}"/>
                </a:ext>
              </a:extLst>
            </p:cNvPr>
            <p:cNvCxnSpPr/>
            <p:nvPr/>
          </p:nvCxnSpPr>
          <p:spPr>
            <a:xfrm>
              <a:off x="5971369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4E396770-A0E6-5083-FE11-AC0267452863}"/>
              </a:ext>
            </a:extLst>
          </p:cNvPr>
          <p:cNvSpPr txBox="1"/>
          <p:nvPr/>
        </p:nvSpPr>
        <p:spPr>
          <a:xfrm flipH="1">
            <a:off x="660401" y="1760193"/>
            <a:ext cx="748783" cy="748783"/>
          </a:xfrm>
          <a:prstGeom prst="teardrop">
            <a:avLst/>
          </a:prstGeom>
          <a:solidFill>
            <a:srgbClr val="C0000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7E0272FB-52BD-A7A1-17F6-9EEADA330396}"/>
              </a:ext>
            </a:extLst>
          </p:cNvPr>
          <p:cNvSpPr txBox="1"/>
          <p:nvPr/>
        </p:nvSpPr>
        <p:spPr>
          <a:xfrm>
            <a:off x="900595" y="1978878"/>
            <a:ext cx="304327" cy="286836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5EDC9B2-D32E-B2D4-19E3-27AF5599F6E3}"/>
              </a:ext>
            </a:extLst>
          </p:cNvPr>
          <p:cNvSpPr txBox="1"/>
          <p:nvPr/>
        </p:nvSpPr>
        <p:spPr>
          <a:xfrm flipH="1">
            <a:off x="2831974" y="3470369"/>
            <a:ext cx="748783" cy="748783"/>
          </a:xfrm>
          <a:prstGeom prst="teardrop">
            <a:avLst/>
          </a:prstGeom>
          <a:solidFill>
            <a:srgbClr val="0070C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FA4E6C6A-A97C-D093-15AF-04480C0ABFE3}"/>
              </a:ext>
            </a:extLst>
          </p:cNvPr>
          <p:cNvSpPr txBox="1"/>
          <p:nvPr/>
        </p:nvSpPr>
        <p:spPr>
          <a:xfrm flipH="1">
            <a:off x="3045091" y="3703999"/>
            <a:ext cx="304326" cy="281523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66C087DE-EE18-1D36-2FD5-A961200289D1}"/>
              </a:ext>
            </a:extLst>
          </p:cNvPr>
          <p:cNvSpPr txBox="1"/>
          <p:nvPr/>
        </p:nvSpPr>
        <p:spPr>
          <a:xfrm flipV="1">
            <a:off x="1" y="3035216"/>
            <a:ext cx="7426671" cy="45719"/>
          </a:xfrm>
          <a:prstGeom prst="rect">
            <a:avLst/>
          </a:prstGeom>
          <a:solidFill>
            <a:srgbClr val="C0000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ABBCE637-0F6D-9710-6120-B88AA09E6D15}"/>
              </a:ext>
            </a:extLst>
          </p:cNvPr>
          <p:cNvSpPr txBox="1"/>
          <p:nvPr/>
        </p:nvSpPr>
        <p:spPr>
          <a:xfrm flipV="1">
            <a:off x="1" y="6467594"/>
            <a:ext cx="11518900" cy="45720"/>
          </a:xfrm>
          <a:prstGeom prst="rect">
            <a:avLst/>
          </a:prstGeom>
          <a:solidFill>
            <a:srgbClr val="C0000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C49B6835-CC84-1FD4-BF30-7E90C33DDAEA}"/>
              </a:ext>
            </a:extLst>
          </p:cNvPr>
          <p:cNvSpPr txBox="1"/>
          <p:nvPr/>
        </p:nvSpPr>
        <p:spPr>
          <a:xfrm>
            <a:off x="5624233" y="5455851"/>
            <a:ext cx="5804812" cy="8860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10600030101010101" charset="-122"/>
                <a:ea typeface="Source Han Sans" panose="02010600030101010101" charset="-122"/>
                <a:cs typeface="Source Han Sans"/>
              </a:rPr>
              <a:t>系统具备舆情预警功能，通过监测敏感词阈值变化，为突发事件的舆情管理提供干预依据。例如在某品牌危机事件中，系统通过实时监测微博数据，及时发现负面舆情的扩散趋势，并触发预警机制</a:t>
            </a:r>
            <a:r>
              <a:rPr kumimoji="1" lang="zh-CN" altLang="en-US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10600030101010101" charset="-122"/>
                <a:ea typeface="Source Han Sans" panose="02010600030101010101" charset="-122"/>
                <a:cs typeface="Source Han Sans"/>
              </a:rPr>
              <a:t>。</a:t>
            </a:r>
            <a:endParaRPr kumimoji="1" lang="zh-CN" altLang="en-US" sz="1400" dirty="0">
              <a:latin typeface="Source Han Sans" panose="02010600030101010101" charset="-122"/>
              <a:ea typeface="Source Han Sans" panose="02010600030101010101" charset="-122"/>
            </a:endParaRP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43836848-285D-C851-CA3A-9B47D719C8A4}"/>
              </a:ext>
            </a:extLst>
          </p:cNvPr>
          <p:cNvSpPr txBox="1"/>
          <p:nvPr/>
        </p:nvSpPr>
        <p:spPr>
          <a:xfrm>
            <a:off x="5624233" y="4788618"/>
            <a:ext cx="5804812" cy="6148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10600030101010101" charset="-122"/>
                <a:ea typeface="Source Han Sans" panose="02010600030101010101" charset="-122"/>
                <a:cs typeface="Source Han Sans CN Bold"/>
              </a:rPr>
              <a:t>具备预警功能</a:t>
            </a:r>
            <a:endParaRPr kumimoji="1" lang="zh-CN" altLang="en-US" dirty="0">
              <a:latin typeface="Source Han Sans" panose="02010600030101010101" charset="-122"/>
              <a:ea typeface="Source Han Sans" panose="02010600030101010101" charset="-122"/>
            </a:endParaRPr>
          </a:p>
        </p:txBody>
      </p:sp>
      <p:sp>
        <p:nvSpPr>
          <p:cNvPr id="29" name="标题 1">
            <a:extLst>
              <a:ext uri="{FF2B5EF4-FFF2-40B4-BE49-F238E27FC236}">
                <a16:creationId xmlns:a16="http://schemas.microsoft.com/office/drawing/2014/main" id="{16E0978D-865C-CD21-4E4C-7FBB7F4A0A16}"/>
              </a:ext>
            </a:extLst>
          </p:cNvPr>
          <p:cNvSpPr txBox="1"/>
          <p:nvPr/>
        </p:nvSpPr>
        <p:spPr>
          <a:xfrm flipH="1">
            <a:off x="4555651" y="5288950"/>
            <a:ext cx="748783" cy="748783"/>
          </a:xfrm>
          <a:prstGeom prst="teardrop">
            <a:avLst/>
          </a:prstGeom>
          <a:solidFill>
            <a:srgbClr val="C0000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1BC0CB7A-48CB-2AC0-874C-FA9C45DCDFE0}"/>
              </a:ext>
            </a:extLst>
          </p:cNvPr>
          <p:cNvSpPr txBox="1"/>
          <p:nvPr/>
        </p:nvSpPr>
        <p:spPr>
          <a:xfrm flipV="1">
            <a:off x="0" y="4751404"/>
            <a:ext cx="9564029" cy="45721"/>
          </a:xfrm>
          <a:prstGeom prst="rect">
            <a:avLst/>
          </a:prstGeom>
          <a:solidFill>
            <a:srgbClr val="0070C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B9EC5560-C80F-0BBC-A813-B1FFBC3B83C6}"/>
              </a:ext>
            </a:extLst>
          </p:cNvPr>
          <p:cNvSpPr txBox="1"/>
          <p:nvPr/>
        </p:nvSpPr>
        <p:spPr>
          <a:xfrm>
            <a:off x="4783089" y="5530111"/>
            <a:ext cx="293905" cy="266459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E53F5B4E-4CF2-412E-3123-493088C413A6}"/>
              </a:ext>
            </a:extLst>
          </p:cNvPr>
          <p:cNvSpPr txBox="1"/>
          <p:nvPr/>
        </p:nvSpPr>
        <p:spPr>
          <a:xfrm>
            <a:off x="7345955" y="2954180"/>
            <a:ext cx="179711" cy="179711"/>
          </a:xfrm>
          <a:prstGeom prst="ellipse">
            <a:avLst/>
          </a:prstGeom>
          <a:solidFill>
            <a:srgbClr val="C0000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A537FE52-B026-CB26-32AE-14F6D6236529}"/>
              </a:ext>
            </a:extLst>
          </p:cNvPr>
          <p:cNvSpPr txBox="1"/>
          <p:nvPr/>
        </p:nvSpPr>
        <p:spPr>
          <a:xfrm>
            <a:off x="9474173" y="4674247"/>
            <a:ext cx="179711" cy="179711"/>
          </a:xfrm>
          <a:prstGeom prst="ellipse">
            <a:avLst/>
          </a:prstGeom>
          <a:solidFill>
            <a:srgbClr val="0070C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881532C5-2C6C-FAC9-3972-C4D9197B4290}"/>
              </a:ext>
            </a:extLst>
          </p:cNvPr>
          <p:cNvSpPr txBox="1"/>
          <p:nvPr/>
        </p:nvSpPr>
        <p:spPr>
          <a:xfrm>
            <a:off x="11429045" y="6394314"/>
            <a:ext cx="179711" cy="179711"/>
          </a:xfrm>
          <a:prstGeom prst="ellipse">
            <a:avLst/>
          </a:prstGeom>
          <a:solidFill>
            <a:srgbClr val="C00000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B7FBB87D-E44B-41CC-88C5-0BB1AB2ACCD3}"/>
              </a:ext>
            </a:extLst>
          </p:cNvPr>
          <p:cNvSpPr txBox="1"/>
          <p:nvPr/>
        </p:nvSpPr>
        <p:spPr>
          <a:xfrm>
            <a:off x="3852457" y="3687943"/>
            <a:ext cx="5804812" cy="8860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10600030101010101" charset="-122"/>
                <a:ea typeface="Source Han Sans" panose="02010600030101010101" charset="-122"/>
                <a:cs typeface="Source Han Sans"/>
              </a:rPr>
              <a:t>舆情监测系统为政府部门提供社情民意洞察，辅助政策制定与公共治理；为企业捕捉市场动态与消费者需求，优化决策。例如通过分析微博数据，能够提前发现公众对某项政策的潜在不满情绪，为政策调整提供依据</a:t>
            </a:r>
            <a:r>
              <a:rPr kumimoji="1" lang="zh-CN" altLang="en-US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10600030101010101" charset="-122"/>
                <a:ea typeface="Source Han Sans" panose="02010600030101010101" charset="-122"/>
                <a:cs typeface="Source Han Sans"/>
              </a:rPr>
              <a:t>。</a:t>
            </a:r>
            <a:endParaRPr kumimoji="1" lang="zh-CN" altLang="en-US" sz="1400" dirty="0">
              <a:latin typeface="Source Han Sans" panose="02010600030101010101" charset="-122"/>
              <a:ea typeface="Source Han Sans" panose="02010600030101010101" charset="-122"/>
            </a:endParaRPr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D869886F-D458-C54E-C7DD-FB35919A74BC}"/>
              </a:ext>
            </a:extLst>
          </p:cNvPr>
          <p:cNvSpPr txBox="1"/>
          <p:nvPr/>
        </p:nvSpPr>
        <p:spPr>
          <a:xfrm>
            <a:off x="3849072" y="3020279"/>
            <a:ext cx="5804812" cy="6148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10600030101010101" charset="-122"/>
                <a:ea typeface="Source Han Sans" panose="02010600030101010101" charset="-122"/>
                <a:cs typeface="Source Han Sans CN Bold"/>
              </a:rPr>
              <a:t>为决策提供支持</a:t>
            </a:r>
            <a:endParaRPr kumimoji="1" lang="zh-CN" altLang="en-US" dirty="0">
              <a:latin typeface="Source Han Sans" panose="02010600030101010101" charset="-122"/>
              <a:ea typeface="Source Han Sans" panose="02010600030101010101" charset="-122"/>
            </a:endParaRPr>
          </a:p>
        </p:txBody>
      </p:sp>
      <p:sp>
        <p:nvSpPr>
          <p:cNvPr id="49" name="标题 1">
            <a:extLst>
              <a:ext uri="{FF2B5EF4-FFF2-40B4-BE49-F238E27FC236}">
                <a16:creationId xmlns:a16="http://schemas.microsoft.com/office/drawing/2014/main" id="{DB52717D-3314-0AAE-D2CC-FC847C437BA8}"/>
              </a:ext>
            </a:extLst>
          </p:cNvPr>
          <p:cNvSpPr txBox="1"/>
          <p:nvPr/>
        </p:nvSpPr>
        <p:spPr>
          <a:xfrm>
            <a:off x="1625752" y="1966739"/>
            <a:ext cx="6216343" cy="8860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10600030101010101" charset="-122"/>
                <a:ea typeface="Source Han Sans" panose="02010600030101010101" charset="-122"/>
                <a:cs typeface="Source Han Sans"/>
              </a:rPr>
              <a:t>当前社交媒体舆情分析面临非结构化数据处理效率低、情感语义理解偏差大、动态热点追踪滞后等问题，本研究设计的舆情分析系统能够有效解决这些问题。能够快速识别舆论热点趋势与情绪变化，提升舆情监测的效率和准确性。</a:t>
            </a:r>
            <a:endParaRPr kumimoji="1" lang="zh-CN" altLang="en-US" sz="1400" dirty="0">
              <a:latin typeface="Source Han Sans" panose="02010600030101010101" charset="-122"/>
              <a:ea typeface="Source Han Sans" panose="02010600030101010101" charset="-122"/>
            </a:endParaRPr>
          </a:p>
        </p:txBody>
      </p:sp>
      <p:sp>
        <p:nvSpPr>
          <p:cNvPr id="50" name="标题 1">
            <a:extLst>
              <a:ext uri="{FF2B5EF4-FFF2-40B4-BE49-F238E27FC236}">
                <a16:creationId xmlns:a16="http://schemas.microsoft.com/office/drawing/2014/main" id="{0AA3438C-FA33-33AF-74DA-C49B5CFA25DD}"/>
              </a:ext>
            </a:extLst>
          </p:cNvPr>
          <p:cNvSpPr txBox="1"/>
          <p:nvPr/>
        </p:nvSpPr>
        <p:spPr>
          <a:xfrm>
            <a:off x="1668417" y="1252814"/>
            <a:ext cx="5804812" cy="6148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10600030101010101" charset="-122"/>
                <a:ea typeface="Source Han Sans" panose="02010600030101010101" charset="-122"/>
                <a:cs typeface="Source Han Sans CN Bold"/>
              </a:rPr>
              <a:t>提升舆情监测效率</a:t>
            </a:r>
            <a:endParaRPr kumimoji="1" lang="zh-CN" altLang="en-US" dirty="0">
              <a:latin typeface="Source Han Sans" panose="02010600030101010101" charset="-122"/>
              <a:ea typeface="Source Han Sans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相关技术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6B64D4-3879-4CBC-A503-1851EE4EA2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8" b="29490"/>
          <a:stretch/>
        </p:blipFill>
        <p:spPr>
          <a:xfrm>
            <a:off x="2" y="-1"/>
            <a:ext cx="12191998" cy="373649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70121A1-6669-438A-B514-D8F808E0C37D}"/>
              </a:ext>
            </a:extLst>
          </p:cNvPr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C00000"/>
              </a:gs>
              <a:gs pos="59000">
                <a:srgbClr val="C00000">
                  <a:alpha val="40000"/>
                </a:srgbClr>
              </a:gs>
              <a:gs pos="100000">
                <a:srgbClr val="C00000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E63D50B-460B-4A6B-A803-8DEC9027B455}"/>
              </a:ext>
            </a:extLst>
          </p:cNvPr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B0676A4A-AE62-4A6A-82F1-E4A3E54931C0}"/>
                </a:ext>
              </a:extLst>
            </p:cNvPr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BBB042D0-614B-4443-AFDB-1996D1298FC3}"/>
                </a:ext>
              </a:extLst>
            </p:cNvPr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FF5D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2ED922D-E886-4C67-99F9-AC6843987F72}"/>
              </a:ext>
            </a:extLst>
          </p:cNvPr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Part.02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C45F570-2B0D-47C6-9DC9-8DB1FE2FFD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64" y="903148"/>
            <a:ext cx="5911273" cy="170659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2" grpId="0" animBg="1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2" grpId="0" animBg="1"/>
          <p:bldP spid="16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4D870-0B8D-FCE9-70B8-A0CF2561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6238E9D8-06DF-9B9B-1A8A-EEBD83E4DC12}"/>
              </a:ext>
            </a:extLst>
          </p:cNvPr>
          <p:cNvGrpSpPr/>
          <p:nvPr/>
        </p:nvGrpSpPr>
        <p:grpSpPr>
          <a:xfrm>
            <a:off x="405112" y="960403"/>
            <a:ext cx="2736361" cy="670941"/>
            <a:chOff x="681559" y="1108968"/>
            <a:chExt cx="2736361" cy="670941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398814D-CF5A-1E35-D35F-CD32F47450B2}"/>
                </a:ext>
              </a:extLst>
            </p:cNvPr>
            <p:cNvCxnSpPr/>
            <p:nvPr/>
          </p:nvCxnSpPr>
          <p:spPr>
            <a:xfrm>
              <a:off x="1017920" y="1581707"/>
              <a:ext cx="240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67DEA8BF-2FD9-F7CD-5A4C-C3F875317D87}"/>
                </a:ext>
              </a:extLst>
            </p:cNvPr>
            <p:cNvSpPr txBox="1"/>
            <p:nvPr/>
          </p:nvSpPr>
          <p:spPr>
            <a:xfrm>
              <a:off x="681559" y="1108968"/>
              <a:ext cx="1888386" cy="670941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en-US" altLang="zh-CN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2.1 Django</a:t>
              </a:r>
              <a:r>
                <a:rPr lang="zh-CN" altLang="en-US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框架</a:t>
              </a:r>
            </a:p>
            <a:p>
              <a:pPr algn="ctr"/>
              <a:endPara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939644D-C0D2-94A2-EB93-4D7FD98276F8}"/>
              </a:ext>
            </a:extLst>
          </p:cNvPr>
          <p:cNvGrpSpPr/>
          <p:nvPr/>
        </p:nvGrpSpPr>
        <p:grpSpPr>
          <a:xfrm>
            <a:off x="0" y="-3848"/>
            <a:ext cx="12192000" cy="795848"/>
            <a:chOff x="0" y="-3848"/>
            <a:chExt cx="12192000" cy="795848"/>
          </a:xfrm>
        </p:grpSpPr>
        <p:sp>
          <p:nvSpPr>
            <p:cNvPr id="7" name="矩形 4">
              <a:extLst>
                <a:ext uri="{FF2B5EF4-FFF2-40B4-BE49-F238E27FC236}">
                  <a16:creationId xmlns:a16="http://schemas.microsoft.com/office/drawing/2014/main" id="{ADF59255-D1A6-E18E-7E8E-606BB7990C8B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7E587B9-A3D1-23BD-00BC-032DBA0031D6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79C65DF-E124-E089-B6E8-CE09AAC4564B}"/>
                </a:ext>
              </a:extLst>
            </p:cNvPr>
            <p:cNvSpPr/>
            <p:nvPr/>
          </p:nvSpPr>
          <p:spPr>
            <a:xfrm>
              <a:off x="4711108" y="-3848"/>
              <a:ext cx="1207330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E05F3AE-B4D2-A8F6-7CEE-B939A0769258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7A9CF5D7-1232-FE72-5E33-FB5691497C8C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86C32055-719E-21E4-FBBB-ABF4941E51D5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141D9512-8CD7-FA90-8F98-15948521C5FF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A80DCD7B-D60B-2AAF-09C0-AF15282C7826}"/>
                </a:ext>
              </a:extLst>
            </p:cNvPr>
            <p:cNvSpPr txBox="1"/>
            <p:nvPr/>
          </p:nvSpPr>
          <p:spPr>
            <a:xfrm>
              <a:off x="7831028" y="24398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F823D68E-5BA0-B714-29D9-7AA76D6C1CA9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42D02D27-8546-6C9F-76DB-422CCE021120}"/>
                </a:ext>
              </a:extLst>
            </p:cNvPr>
            <p:cNvCxnSpPr/>
            <p:nvPr/>
          </p:nvCxnSpPr>
          <p:spPr>
            <a:xfrm>
              <a:off x="76521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88C52339-73BA-04F7-9BE1-EA8F2ECE3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03" name="TextBox 9">
              <a:extLst>
                <a:ext uri="{FF2B5EF4-FFF2-40B4-BE49-F238E27FC236}">
                  <a16:creationId xmlns:a16="http://schemas.microsoft.com/office/drawing/2014/main" id="{3DFF9B45-8313-1E7E-AE3A-9F33C648D324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13652833-8910-AE2F-2336-5A411DB27C6C}"/>
              </a:ext>
            </a:extLst>
          </p:cNvPr>
          <p:cNvSpPr txBox="1"/>
          <p:nvPr/>
        </p:nvSpPr>
        <p:spPr>
          <a:xfrm>
            <a:off x="5057274" y="1235242"/>
            <a:ext cx="6372726" cy="1483896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>
            <a:extLst>
              <a:ext uri="{FF2B5EF4-FFF2-40B4-BE49-F238E27FC236}">
                <a16:creationId xmlns:a16="http://schemas.microsoft.com/office/drawing/2014/main" id="{AEE8DB14-A805-F93E-975D-34525638BF9A}"/>
              </a:ext>
            </a:extLst>
          </p:cNvPr>
          <p:cNvSpPr txBox="1"/>
          <p:nvPr/>
        </p:nvSpPr>
        <p:spPr>
          <a:xfrm>
            <a:off x="3458745" y="1636296"/>
            <a:ext cx="1155031" cy="572118"/>
          </a:xfrm>
          <a:prstGeom prst="homePlat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0" name="标题 1">
            <a:extLst>
              <a:ext uri="{FF2B5EF4-FFF2-40B4-BE49-F238E27FC236}">
                <a16:creationId xmlns:a16="http://schemas.microsoft.com/office/drawing/2014/main" id="{47B75A2E-F307-67ED-28CC-E14560E95871}"/>
              </a:ext>
            </a:extLst>
          </p:cNvPr>
          <p:cNvSpPr txBox="1"/>
          <p:nvPr/>
        </p:nvSpPr>
        <p:spPr>
          <a:xfrm>
            <a:off x="4613776" y="1781987"/>
            <a:ext cx="160421" cy="280737"/>
          </a:xfrm>
          <a:prstGeom prst="chevron">
            <a:avLst>
              <a:gd name="adj" fmla="val 67143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1" name="标题 1">
            <a:extLst>
              <a:ext uri="{FF2B5EF4-FFF2-40B4-BE49-F238E27FC236}">
                <a16:creationId xmlns:a16="http://schemas.microsoft.com/office/drawing/2014/main" id="{0F57CC25-58ED-FC5F-1507-97B3F8F6B539}"/>
              </a:ext>
            </a:extLst>
          </p:cNvPr>
          <p:cNvSpPr txBox="1"/>
          <p:nvPr/>
        </p:nvSpPr>
        <p:spPr>
          <a:xfrm>
            <a:off x="4750134" y="1781987"/>
            <a:ext cx="160421" cy="280737"/>
          </a:xfrm>
          <a:prstGeom prst="chevron">
            <a:avLst>
              <a:gd name="adj" fmla="val 67143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2" name="标题 1">
            <a:extLst>
              <a:ext uri="{FF2B5EF4-FFF2-40B4-BE49-F238E27FC236}">
                <a16:creationId xmlns:a16="http://schemas.microsoft.com/office/drawing/2014/main" id="{897E00E5-8C39-B847-95D5-C46B4DC8CA0A}"/>
              </a:ext>
            </a:extLst>
          </p:cNvPr>
          <p:cNvSpPr txBox="1"/>
          <p:nvPr/>
        </p:nvSpPr>
        <p:spPr>
          <a:xfrm>
            <a:off x="3676443" y="1743081"/>
            <a:ext cx="536280" cy="3585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 dirty="0"/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31B4587F-B057-93CD-F1AE-198D50925EEC}"/>
              </a:ext>
            </a:extLst>
          </p:cNvPr>
          <p:cNvSpPr txBox="1"/>
          <p:nvPr/>
        </p:nvSpPr>
        <p:spPr>
          <a:xfrm>
            <a:off x="5175250" y="1701358"/>
            <a:ext cx="5894883" cy="7893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Django框架采用MTV（Model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- Template- 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View）架构，通过分离业务逻辑、数据模型、用户界面等部分，显著提升了系统开发效率与可维护性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在舆情分析系统中，Django的ORM机制简化了MySQL数据库的操作，RESTful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API设计支持前后端分离架构，满足多用户并发访问需求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2400" dirty="0"/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948DD67C-104E-945B-04B4-2D1428FA39A4}"/>
              </a:ext>
            </a:extLst>
          </p:cNvPr>
          <p:cNvSpPr txBox="1"/>
          <p:nvPr/>
        </p:nvSpPr>
        <p:spPr>
          <a:xfrm>
            <a:off x="5200946" y="1193222"/>
            <a:ext cx="5898853" cy="41038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B81B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MTV架构</a:t>
            </a:r>
            <a:endParaRPr kumimoji="1" lang="zh-CN" altLang="en-US" dirty="0"/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824F8A97-9F21-D13E-B581-BFA41C200894}"/>
              </a:ext>
            </a:extLst>
          </p:cNvPr>
          <p:cNvSpPr txBox="1"/>
          <p:nvPr/>
        </p:nvSpPr>
        <p:spPr>
          <a:xfrm flipH="1">
            <a:off x="774700" y="2911642"/>
            <a:ext cx="6347326" cy="1483896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>
            <a:extLst>
              <a:ext uri="{FF2B5EF4-FFF2-40B4-BE49-F238E27FC236}">
                <a16:creationId xmlns:a16="http://schemas.microsoft.com/office/drawing/2014/main" id="{2BAA9E98-E845-5D9D-8993-A9626DEA6828}"/>
              </a:ext>
            </a:extLst>
          </p:cNvPr>
          <p:cNvSpPr txBox="1"/>
          <p:nvPr/>
        </p:nvSpPr>
        <p:spPr>
          <a:xfrm flipH="1">
            <a:off x="7565524" y="3312696"/>
            <a:ext cx="1155031" cy="572118"/>
          </a:xfrm>
          <a:prstGeom prst="homePlat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4E0F2BDA-5D72-9660-4045-9B88556CDD4B}"/>
              </a:ext>
            </a:extLst>
          </p:cNvPr>
          <p:cNvSpPr txBox="1"/>
          <p:nvPr/>
        </p:nvSpPr>
        <p:spPr>
          <a:xfrm flipH="1">
            <a:off x="7405103" y="3458387"/>
            <a:ext cx="160421" cy="280737"/>
          </a:xfrm>
          <a:prstGeom prst="chevron">
            <a:avLst>
              <a:gd name="adj" fmla="val 67143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>
            <a:extLst>
              <a:ext uri="{FF2B5EF4-FFF2-40B4-BE49-F238E27FC236}">
                <a16:creationId xmlns:a16="http://schemas.microsoft.com/office/drawing/2014/main" id="{3CA03759-CAE5-E025-7DAC-FC4B356978CA}"/>
              </a:ext>
            </a:extLst>
          </p:cNvPr>
          <p:cNvSpPr txBox="1"/>
          <p:nvPr/>
        </p:nvSpPr>
        <p:spPr>
          <a:xfrm flipH="1">
            <a:off x="7268745" y="3458387"/>
            <a:ext cx="160421" cy="280737"/>
          </a:xfrm>
          <a:prstGeom prst="chevron">
            <a:avLst>
              <a:gd name="adj" fmla="val 67143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9" name="标题 1">
            <a:extLst>
              <a:ext uri="{FF2B5EF4-FFF2-40B4-BE49-F238E27FC236}">
                <a16:creationId xmlns:a16="http://schemas.microsoft.com/office/drawing/2014/main" id="{09CA051C-C859-0A43-48F7-650B109F8B03}"/>
              </a:ext>
            </a:extLst>
          </p:cNvPr>
          <p:cNvSpPr txBox="1"/>
          <p:nvPr/>
        </p:nvSpPr>
        <p:spPr>
          <a:xfrm>
            <a:off x="7966577" y="3419481"/>
            <a:ext cx="536280" cy="3585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50" name="标题 1">
            <a:extLst>
              <a:ext uri="{FF2B5EF4-FFF2-40B4-BE49-F238E27FC236}">
                <a16:creationId xmlns:a16="http://schemas.microsoft.com/office/drawing/2014/main" id="{00BD2E93-FFE9-57A2-00D9-86CFDF9D70AB}"/>
              </a:ext>
            </a:extLst>
          </p:cNvPr>
          <p:cNvSpPr txBox="1"/>
          <p:nvPr/>
        </p:nvSpPr>
        <p:spPr>
          <a:xfrm>
            <a:off x="1007271" y="3335938"/>
            <a:ext cx="5965029" cy="7893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Django原生支持RESTful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API设计，系统中前后端分离的架构能够支持标准化接口，配合第三方库Django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Channels能够扩展实时数据的推送功能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例如在舆情数据的实时展示中，通过RESTful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API接口，前端可以快速获取最新的舆情分析结果并进行展示，提升了系统的实时性和用户体验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2400" dirty="0"/>
          </a:p>
        </p:txBody>
      </p:sp>
      <p:sp>
        <p:nvSpPr>
          <p:cNvPr id="51" name="标题 1">
            <a:extLst>
              <a:ext uri="{FF2B5EF4-FFF2-40B4-BE49-F238E27FC236}">
                <a16:creationId xmlns:a16="http://schemas.microsoft.com/office/drawing/2014/main" id="{C5932937-C74E-E459-3F14-06A055714570}"/>
              </a:ext>
            </a:extLst>
          </p:cNvPr>
          <p:cNvSpPr txBox="1"/>
          <p:nvPr/>
        </p:nvSpPr>
        <p:spPr>
          <a:xfrm>
            <a:off x="997247" y="2874006"/>
            <a:ext cx="5975053" cy="41038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2BC3E3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RESTful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BC3E3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API设计</a:t>
            </a:r>
            <a:endParaRPr kumimoji="1" lang="zh-CN" altLang="en-US" dirty="0"/>
          </a:p>
        </p:txBody>
      </p:sp>
      <p:sp>
        <p:nvSpPr>
          <p:cNvPr id="52" name="标题 1">
            <a:extLst>
              <a:ext uri="{FF2B5EF4-FFF2-40B4-BE49-F238E27FC236}">
                <a16:creationId xmlns:a16="http://schemas.microsoft.com/office/drawing/2014/main" id="{7CB02BCE-A184-895E-A17B-A2107D537914}"/>
              </a:ext>
            </a:extLst>
          </p:cNvPr>
          <p:cNvSpPr txBox="1"/>
          <p:nvPr/>
        </p:nvSpPr>
        <p:spPr>
          <a:xfrm>
            <a:off x="5057274" y="4588041"/>
            <a:ext cx="6372726" cy="1483896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BF8182B2-14B6-E250-522D-02863D334EDE}"/>
              </a:ext>
            </a:extLst>
          </p:cNvPr>
          <p:cNvSpPr txBox="1"/>
          <p:nvPr/>
        </p:nvSpPr>
        <p:spPr>
          <a:xfrm>
            <a:off x="3458745" y="4989095"/>
            <a:ext cx="1155031" cy="572118"/>
          </a:xfrm>
          <a:prstGeom prst="homePlat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4" name="标题 1">
            <a:extLst>
              <a:ext uri="{FF2B5EF4-FFF2-40B4-BE49-F238E27FC236}">
                <a16:creationId xmlns:a16="http://schemas.microsoft.com/office/drawing/2014/main" id="{81A79314-1435-E05F-E9CD-CB39C3788B01}"/>
              </a:ext>
            </a:extLst>
          </p:cNvPr>
          <p:cNvSpPr txBox="1"/>
          <p:nvPr/>
        </p:nvSpPr>
        <p:spPr>
          <a:xfrm>
            <a:off x="4613776" y="5134786"/>
            <a:ext cx="160421" cy="280737"/>
          </a:xfrm>
          <a:prstGeom prst="chevron">
            <a:avLst>
              <a:gd name="adj" fmla="val 67143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5" name="标题 1">
            <a:extLst>
              <a:ext uri="{FF2B5EF4-FFF2-40B4-BE49-F238E27FC236}">
                <a16:creationId xmlns:a16="http://schemas.microsoft.com/office/drawing/2014/main" id="{E77A7111-CA6B-E245-13B8-BC69FD5452C1}"/>
              </a:ext>
            </a:extLst>
          </p:cNvPr>
          <p:cNvSpPr txBox="1"/>
          <p:nvPr/>
        </p:nvSpPr>
        <p:spPr>
          <a:xfrm>
            <a:off x="4750134" y="5134786"/>
            <a:ext cx="160421" cy="280737"/>
          </a:xfrm>
          <a:prstGeom prst="chevron">
            <a:avLst>
              <a:gd name="adj" fmla="val 67143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B778AB0E-B74B-AA31-EAE7-13441A76FE27}"/>
              </a:ext>
            </a:extLst>
          </p:cNvPr>
          <p:cNvSpPr txBox="1"/>
          <p:nvPr/>
        </p:nvSpPr>
        <p:spPr>
          <a:xfrm>
            <a:off x="3676443" y="5095880"/>
            <a:ext cx="536280" cy="3585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57" name="标题 1">
            <a:extLst>
              <a:ext uri="{FF2B5EF4-FFF2-40B4-BE49-F238E27FC236}">
                <a16:creationId xmlns:a16="http://schemas.microsoft.com/office/drawing/2014/main" id="{8B0B2A1D-99D6-4599-361B-4F31C5F5ABD9}"/>
              </a:ext>
            </a:extLst>
          </p:cNvPr>
          <p:cNvSpPr txBox="1"/>
          <p:nvPr/>
        </p:nvSpPr>
        <p:spPr>
          <a:xfrm>
            <a:off x="5200946" y="5057992"/>
            <a:ext cx="5898854" cy="7893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在高负载场景下，Django通过引入Celery分布式任务队列，将微博数据爬取的并发处理能力提升3倍，验证了框架的扩展性。
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但在动态网页渲染与实时数据推送中的性能瓶颈仍需结合异步框架（如Django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Channels）进一步优化，以满足舆情监测对时效性的更高要求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2400" dirty="0"/>
          </a:p>
        </p:txBody>
      </p:sp>
      <p:sp>
        <p:nvSpPr>
          <p:cNvPr id="58" name="标题 1">
            <a:extLst>
              <a:ext uri="{FF2B5EF4-FFF2-40B4-BE49-F238E27FC236}">
                <a16:creationId xmlns:a16="http://schemas.microsoft.com/office/drawing/2014/main" id="{8A73EC83-7F3B-DE94-0A13-BC07170331DF}"/>
              </a:ext>
            </a:extLst>
          </p:cNvPr>
          <p:cNvSpPr txBox="1"/>
          <p:nvPr/>
        </p:nvSpPr>
        <p:spPr>
          <a:xfrm>
            <a:off x="5200946" y="4588041"/>
            <a:ext cx="5898853" cy="41038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B81B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性能优化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78994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555A2-87B6-D9A6-7364-CBC6922A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DC988838-9904-292D-1943-EEB6D90DA252}"/>
              </a:ext>
            </a:extLst>
          </p:cNvPr>
          <p:cNvGrpSpPr/>
          <p:nvPr/>
        </p:nvGrpSpPr>
        <p:grpSpPr>
          <a:xfrm>
            <a:off x="671913" y="972993"/>
            <a:ext cx="2736361" cy="472739"/>
            <a:chOff x="681559" y="1108968"/>
            <a:chExt cx="2736361" cy="472739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96CFB4F-8C37-9430-241D-1DA4D3FC388E}"/>
                </a:ext>
              </a:extLst>
            </p:cNvPr>
            <p:cNvCxnSpPr/>
            <p:nvPr/>
          </p:nvCxnSpPr>
          <p:spPr>
            <a:xfrm>
              <a:off x="1017920" y="1581707"/>
              <a:ext cx="240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824CC244-93D0-97D5-E04D-FAB343986E75}"/>
                </a:ext>
              </a:extLst>
            </p:cNvPr>
            <p:cNvSpPr txBox="1"/>
            <p:nvPr/>
          </p:nvSpPr>
          <p:spPr>
            <a:xfrm>
              <a:off x="681559" y="1108968"/>
              <a:ext cx="1888386" cy="38426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en-US" altLang="zh-CN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2.2 </a:t>
              </a:r>
              <a:r>
                <a:rPr lang="zh-CN" altLang="en-US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数据存储技术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9A5FEAC-7920-711E-7CC5-E4BA488EEA03}"/>
              </a:ext>
            </a:extLst>
          </p:cNvPr>
          <p:cNvGrpSpPr/>
          <p:nvPr/>
        </p:nvGrpSpPr>
        <p:grpSpPr>
          <a:xfrm>
            <a:off x="0" y="-3848"/>
            <a:ext cx="12192000" cy="795848"/>
            <a:chOff x="0" y="-3848"/>
            <a:chExt cx="12192000" cy="795848"/>
          </a:xfrm>
        </p:grpSpPr>
        <p:sp>
          <p:nvSpPr>
            <p:cNvPr id="7" name="矩形 4">
              <a:extLst>
                <a:ext uri="{FF2B5EF4-FFF2-40B4-BE49-F238E27FC236}">
                  <a16:creationId xmlns:a16="http://schemas.microsoft.com/office/drawing/2014/main" id="{A4111F3E-AB77-B792-F87F-6DA794BCFAFE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123C89F-3311-61EE-1A21-E32F8758F8E5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220A403-CE94-C58A-BBB7-EB00F49F1E90}"/>
                </a:ext>
              </a:extLst>
            </p:cNvPr>
            <p:cNvSpPr/>
            <p:nvPr/>
          </p:nvSpPr>
          <p:spPr>
            <a:xfrm>
              <a:off x="4711108" y="-3848"/>
              <a:ext cx="1207330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50D0CC7-3750-3FB8-9578-01BB777C9454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9F9AC4FA-6616-8227-80EB-C8F68018686A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8394640D-7116-CF80-F048-790E35C7E211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C37EE2D3-6D29-2269-8E23-D7A34124FBAA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FEACB20A-AC95-ADEB-15B3-66B416517B4E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0896FCA1-32E6-EADD-9640-6CBF037659EF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4B2531E-370B-9FD9-A9E2-40B68BFF1FF5}"/>
                </a:ext>
              </a:extLst>
            </p:cNvPr>
            <p:cNvCxnSpPr/>
            <p:nvPr/>
          </p:nvCxnSpPr>
          <p:spPr>
            <a:xfrm>
              <a:off x="76521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71544E0B-2754-6361-B15D-1246E8B7B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03" name="TextBox 9">
              <a:extLst>
                <a:ext uri="{FF2B5EF4-FFF2-40B4-BE49-F238E27FC236}">
                  <a16:creationId xmlns:a16="http://schemas.microsoft.com/office/drawing/2014/main" id="{77F6C01B-9753-4C88-A84F-2C18F313FA51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C367CFC-F261-E6BF-F5C1-5BB403E3597D}"/>
              </a:ext>
            </a:extLst>
          </p:cNvPr>
          <p:cNvSpPr txBox="1"/>
          <p:nvPr/>
        </p:nvSpPr>
        <p:spPr>
          <a:xfrm>
            <a:off x="1019779" y="1747566"/>
            <a:ext cx="10161742" cy="1142706"/>
          </a:xfrm>
          <a:prstGeom prst="rect">
            <a:avLst/>
          </a:prstGeom>
          <a:solidFill>
            <a:schemeClr val="bg1"/>
          </a:solidFill>
          <a:ln cap="sq">
            <a:noFill/>
            <a:prstDash val="solid"/>
            <a:miter/>
          </a:ln>
          <a:effectLst>
            <a:outerShdw blurRad="762000" dist="254000" dir="5400000" algn="t" rotWithShape="0">
              <a:srgbClr val="000000">
                <a:alpha val="30000"/>
              </a:srgbClr>
            </a:outerShdw>
          </a:effectLst>
        </p:spPr>
        <p:txBody>
          <a:bodyPr vert="horz" wrap="square" lIns="2052000" tIns="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D0D52CE-8DF6-162E-2DF0-259F5BDFE85E}"/>
              </a:ext>
            </a:extLst>
          </p:cNvPr>
          <p:cNvSpPr txBox="1"/>
          <p:nvPr/>
        </p:nvSpPr>
        <p:spPr>
          <a:xfrm>
            <a:off x="1019779" y="3180126"/>
            <a:ext cx="10161742" cy="1142706"/>
          </a:xfrm>
          <a:prstGeom prst="rect">
            <a:avLst/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>
            <a:outerShdw blurRad="38100" dist="127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2052000" tIns="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000000">
                    <a:alpha val="70000"/>
                  </a:srgbClr>
                </a:solidFill>
                <a:latin typeface="OPPOSans L"/>
                <a:ea typeface="OPPOSans L"/>
                <a:cs typeface="OPPOSans L"/>
              </a:rPr>
              <a:t>、</a:t>
            </a:r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92E30FE-92D7-AB5C-FE1F-740121695B7C}"/>
              </a:ext>
            </a:extLst>
          </p:cNvPr>
          <p:cNvSpPr txBox="1"/>
          <p:nvPr/>
        </p:nvSpPr>
        <p:spPr>
          <a:xfrm>
            <a:off x="1019781" y="3181632"/>
            <a:ext cx="68400" cy="11412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D04B3FE9-B9D6-1BE8-23B2-E810E324A324}"/>
              </a:ext>
            </a:extLst>
          </p:cNvPr>
          <p:cNvSpPr txBox="1"/>
          <p:nvPr/>
        </p:nvSpPr>
        <p:spPr>
          <a:xfrm>
            <a:off x="1607923" y="3330578"/>
            <a:ext cx="841802" cy="841802"/>
          </a:xfrm>
          <a:prstGeom prst="ellipse">
            <a:avLst/>
          </a:prstGeom>
          <a:noFill/>
          <a:ln w="12700" cap="sq">
            <a:solidFill>
              <a:schemeClr val="bg1">
                <a:lumMod val="5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BDCC7055-C75D-EDC1-1047-07D52BE4113A}"/>
              </a:ext>
            </a:extLst>
          </p:cNvPr>
          <p:cNvSpPr txBox="1"/>
          <p:nvPr/>
        </p:nvSpPr>
        <p:spPr>
          <a:xfrm>
            <a:off x="1814135" y="3570309"/>
            <a:ext cx="413872" cy="362339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E8190848-343E-B3A2-E712-57A08FC713EB}"/>
              </a:ext>
            </a:extLst>
          </p:cNvPr>
          <p:cNvSpPr txBox="1"/>
          <p:nvPr/>
        </p:nvSpPr>
        <p:spPr>
          <a:xfrm>
            <a:off x="1019779" y="4612685"/>
            <a:ext cx="10161742" cy="1272321"/>
          </a:xfrm>
          <a:prstGeom prst="rect">
            <a:avLst/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>
            <a:outerShdw blurRad="38100" dist="127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2052000" tIns="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D95A0DD3-E1D7-DE89-9029-D761D4CF6772}"/>
              </a:ext>
            </a:extLst>
          </p:cNvPr>
          <p:cNvSpPr txBox="1"/>
          <p:nvPr/>
        </p:nvSpPr>
        <p:spPr>
          <a:xfrm>
            <a:off x="1019781" y="4614192"/>
            <a:ext cx="68400" cy="11412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709DAD09-DCD9-33B4-A96B-5E389FD461F9}"/>
              </a:ext>
            </a:extLst>
          </p:cNvPr>
          <p:cNvSpPr txBox="1"/>
          <p:nvPr/>
        </p:nvSpPr>
        <p:spPr>
          <a:xfrm>
            <a:off x="1607923" y="4763138"/>
            <a:ext cx="841802" cy="841802"/>
          </a:xfrm>
          <a:prstGeom prst="ellipse">
            <a:avLst/>
          </a:prstGeom>
          <a:noFill/>
          <a:ln w="12700" cap="sq">
            <a:solidFill>
              <a:schemeClr val="bg1">
                <a:lumMod val="5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9E48B5DD-9708-3777-12FB-A421D3C4351C}"/>
              </a:ext>
            </a:extLst>
          </p:cNvPr>
          <p:cNvSpPr txBox="1"/>
          <p:nvPr/>
        </p:nvSpPr>
        <p:spPr>
          <a:xfrm>
            <a:off x="1839871" y="4977103"/>
            <a:ext cx="362399" cy="413872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274A52D8-E111-0D2A-488F-9F2B325ECF40}"/>
              </a:ext>
            </a:extLst>
          </p:cNvPr>
          <p:cNvSpPr txBox="1"/>
          <p:nvPr/>
        </p:nvSpPr>
        <p:spPr>
          <a:xfrm>
            <a:off x="1019781" y="1749072"/>
            <a:ext cx="68400" cy="1141200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DC54CCF8-1E0F-E269-C6C1-57270185DF78}"/>
              </a:ext>
            </a:extLst>
          </p:cNvPr>
          <p:cNvSpPr txBox="1"/>
          <p:nvPr/>
        </p:nvSpPr>
        <p:spPr>
          <a:xfrm>
            <a:off x="1607923" y="1898018"/>
            <a:ext cx="841802" cy="841802"/>
          </a:xfrm>
          <a:prstGeom prst="ellipse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C9E78AAD-41D2-75A9-5B5D-36EBEF354F56}"/>
              </a:ext>
            </a:extLst>
          </p:cNvPr>
          <p:cNvSpPr txBox="1"/>
          <p:nvPr/>
        </p:nvSpPr>
        <p:spPr>
          <a:xfrm>
            <a:off x="1821888" y="2111983"/>
            <a:ext cx="413872" cy="413872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4202EFA5-0973-09C1-5345-69CABEDEB879}"/>
              </a:ext>
            </a:extLst>
          </p:cNvPr>
          <p:cNvSpPr txBox="1"/>
          <p:nvPr/>
        </p:nvSpPr>
        <p:spPr>
          <a:xfrm>
            <a:off x="2673450" y="4675568"/>
            <a:ext cx="7823200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数据库模型设计</a:t>
            </a:r>
            <a:endParaRPr kumimoji="1" lang="zh-CN" altLang="en-US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4CA72395-3992-21D7-9F64-0AD2616EEBD7}"/>
              </a:ext>
            </a:extLst>
          </p:cNvPr>
          <p:cNvSpPr txBox="1"/>
          <p:nvPr/>
        </p:nvSpPr>
        <p:spPr>
          <a:xfrm>
            <a:off x="2673450" y="1870068"/>
            <a:ext cx="7823200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B81B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MySQL数据库</a:t>
            </a:r>
            <a:endParaRPr kumimoji="1" lang="zh-CN" altLang="en-US"/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59EA56BE-0457-DD35-B068-30B86DFEAD1B}"/>
              </a:ext>
            </a:extLst>
          </p:cNvPr>
          <p:cNvSpPr txBox="1"/>
          <p:nvPr/>
        </p:nvSpPr>
        <p:spPr>
          <a:xfrm>
            <a:off x="2673450" y="3315583"/>
            <a:ext cx="7823200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数据库优化策略</a:t>
            </a:r>
            <a:endParaRPr kumimoji="1" lang="zh-CN" altLang="en-US"/>
          </a:p>
        </p:txBody>
      </p:sp>
      <p:sp>
        <p:nvSpPr>
          <p:cNvPr id="29" name="标题 1">
            <a:extLst>
              <a:ext uri="{FF2B5EF4-FFF2-40B4-BE49-F238E27FC236}">
                <a16:creationId xmlns:a16="http://schemas.microsoft.com/office/drawing/2014/main" id="{1060D799-48FC-4548-06F2-57C7646A434C}"/>
              </a:ext>
            </a:extLst>
          </p:cNvPr>
          <p:cNvSpPr txBox="1"/>
          <p:nvPr/>
        </p:nvSpPr>
        <p:spPr>
          <a:xfrm>
            <a:off x="2673450" y="4963432"/>
            <a:ext cx="8373778" cy="7030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共设计了多张核心数据表，包括用户表、搜索历史表、微博数据表、评论数据表等，各数据表根据功能需求进行结构设计。设置了必要的字段和索引，以支持系统在数据采集、查询、分析等环节的高效运行，表与表之间通过外键建立关联，构建出完整的数据模型。</a:t>
            </a:r>
            <a:endParaRPr kumimoji="1" lang="zh-CN" altLang="en-US" sz="2800" dirty="0"/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54F61DFC-1978-FFD1-4F66-0D3F7A2AEFFB}"/>
              </a:ext>
            </a:extLst>
          </p:cNvPr>
          <p:cNvSpPr txBox="1"/>
          <p:nvPr/>
        </p:nvSpPr>
        <p:spPr>
          <a:xfrm>
            <a:off x="2673450" y="2165552"/>
            <a:ext cx="8373778" cy="63582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系统选择MySQL</a:t>
            </a:r>
            <a: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8.0.12作为主数据库，其性能稳定可靠、支持事务处理、具有良好的并发性能和完善的备份机制等特点。同时支持JSON数据类型、分区表、主从复制和索引优化等高级特性，能够满足系统对数据存储和查询的性能要求。</a:t>
            </a:r>
            <a:endParaRPr kumimoji="1" lang="zh-CN" altLang="en-US" sz="3200" dirty="0"/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ABBD83C8-40CF-135C-467F-AE48B58CF0A8}"/>
              </a:ext>
            </a:extLst>
          </p:cNvPr>
          <p:cNvSpPr txBox="1"/>
          <p:nvPr/>
        </p:nvSpPr>
        <p:spPr>
          <a:xfrm>
            <a:off x="2673450" y="3595826"/>
            <a:ext cx="8373778" cy="63810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系统在数据库中配置了主从复制架构，提升了数据在读取时的并发性能；配置了定期备份功能，防范数据丢失风险</a:t>
            </a:r>
            <a: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基于访问频率、查询模式等方面配置了索引优化，提升查询效率；引入分区表技术以降低单表负载，进一步优化数据库性能</a:t>
            </a:r>
            <a: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24682388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22F8-F4B7-2457-D14B-47AD6076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974A3DB7-D681-0A73-9E69-506A0AEC0D2D}"/>
              </a:ext>
            </a:extLst>
          </p:cNvPr>
          <p:cNvGrpSpPr/>
          <p:nvPr/>
        </p:nvGrpSpPr>
        <p:grpSpPr>
          <a:xfrm>
            <a:off x="671913" y="972993"/>
            <a:ext cx="2736361" cy="472739"/>
            <a:chOff x="681559" y="1108968"/>
            <a:chExt cx="2736361" cy="472739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CEF1A0B-1F65-8378-FA10-D4E2DAF47EDF}"/>
                </a:ext>
              </a:extLst>
            </p:cNvPr>
            <p:cNvCxnSpPr/>
            <p:nvPr/>
          </p:nvCxnSpPr>
          <p:spPr>
            <a:xfrm>
              <a:off x="1017920" y="1581707"/>
              <a:ext cx="2400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C0ABFC6C-0272-24C9-E4D2-E6F57781FA8E}"/>
                </a:ext>
              </a:extLst>
            </p:cNvPr>
            <p:cNvSpPr txBox="1"/>
            <p:nvPr/>
          </p:nvSpPr>
          <p:spPr>
            <a:xfrm>
              <a:off x="681559" y="1108968"/>
              <a:ext cx="1888386" cy="38426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en-US" altLang="zh-CN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2.3 </a:t>
              </a:r>
              <a:r>
                <a:rPr lang="zh-CN" altLang="en-US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舆情分析方法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EF9E73F-CA86-1B19-69DD-91ACB8D91D78}"/>
              </a:ext>
            </a:extLst>
          </p:cNvPr>
          <p:cNvGrpSpPr/>
          <p:nvPr/>
        </p:nvGrpSpPr>
        <p:grpSpPr>
          <a:xfrm>
            <a:off x="0" y="-3848"/>
            <a:ext cx="12192000" cy="795848"/>
            <a:chOff x="0" y="-3848"/>
            <a:chExt cx="12192000" cy="795848"/>
          </a:xfrm>
        </p:grpSpPr>
        <p:sp>
          <p:nvSpPr>
            <p:cNvPr id="7" name="矩形 4">
              <a:extLst>
                <a:ext uri="{FF2B5EF4-FFF2-40B4-BE49-F238E27FC236}">
                  <a16:creationId xmlns:a16="http://schemas.microsoft.com/office/drawing/2014/main" id="{9762D7C9-226C-F787-F623-49D83FF3E0DE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3A911F4-7E22-D6CB-C387-FB4D0E61DD84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16F64A1-A691-635C-10B2-BA5DF95E8B7E}"/>
                </a:ext>
              </a:extLst>
            </p:cNvPr>
            <p:cNvSpPr/>
            <p:nvPr/>
          </p:nvSpPr>
          <p:spPr>
            <a:xfrm>
              <a:off x="4711108" y="-3848"/>
              <a:ext cx="1207330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3F4FE07-D00C-4871-B0F1-7FFF7D5A08C2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B77D2D77-EC0B-BC81-E4B9-7FB714D9357B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A53947B5-07EE-2579-855D-85C1C24DAEDD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9869D677-3CB5-C778-AE85-31F716D65825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B0CD56C7-BD97-5339-58CF-91E1ED49C1CA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E92E55DF-3FE3-1523-B24B-DC33C4D3638A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76CBC564-92B3-0AB2-2A46-23E7407A2003}"/>
                </a:ext>
              </a:extLst>
            </p:cNvPr>
            <p:cNvCxnSpPr/>
            <p:nvPr/>
          </p:nvCxnSpPr>
          <p:spPr>
            <a:xfrm>
              <a:off x="76521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AE732410-976E-5A95-F7D9-CAB52D03D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03" name="TextBox 9">
              <a:extLst>
                <a:ext uri="{FF2B5EF4-FFF2-40B4-BE49-F238E27FC236}">
                  <a16:creationId xmlns:a16="http://schemas.microsoft.com/office/drawing/2014/main" id="{4149C09D-4768-C8FC-96B6-F709C1771FE9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ECD747CA-49E7-8591-F6A4-8740ABE2E58B}"/>
              </a:ext>
            </a:extLst>
          </p:cNvPr>
          <p:cNvSpPr txBox="1"/>
          <p:nvPr/>
        </p:nvSpPr>
        <p:spPr>
          <a:xfrm>
            <a:off x="4161843" y="4101055"/>
            <a:ext cx="1206447" cy="1305270"/>
          </a:xfrm>
          <a:custGeom>
            <a:avLst/>
            <a:gdLst>
              <a:gd name="T0" fmla="*/ 14 w 293"/>
              <a:gd name="T1" fmla="*/ 64 h 317"/>
              <a:gd name="T2" fmla="*/ 143 w 293"/>
              <a:gd name="T3" fmla="*/ 0 h 317"/>
              <a:gd name="T4" fmla="*/ 278 w 293"/>
              <a:gd name="T5" fmla="*/ 62 h 317"/>
              <a:gd name="T6" fmla="*/ 147 w 293"/>
              <a:gd name="T7" fmla="*/ 124 h 317"/>
              <a:gd name="T8" fmla="*/ 14 w 293"/>
              <a:gd name="T9" fmla="*/ 64 h 317"/>
              <a:gd name="T10" fmla="*/ 136 w 293"/>
              <a:gd name="T11" fmla="*/ 145 h 317"/>
              <a:gd name="T12" fmla="*/ 0 w 293"/>
              <a:gd name="T13" fmla="*/ 83 h 317"/>
              <a:gd name="T14" fmla="*/ 0 w 293"/>
              <a:gd name="T15" fmla="*/ 255 h 317"/>
              <a:gd name="T16" fmla="*/ 136 w 293"/>
              <a:gd name="T17" fmla="*/ 317 h 317"/>
              <a:gd name="T18" fmla="*/ 136 w 293"/>
              <a:gd name="T19" fmla="*/ 145 h 317"/>
              <a:gd name="T20" fmla="*/ 162 w 293"/>
              <a:gd name="T21" fmla="*/ 145 h 317"/>
              <a:gd name="T22" fmla="*/ 162 w 293"/>
              <a:gd name="T23" fmla="*/ 314 h 317"/>
              <a:gd name="T24" fmla="*/ 293 w 293"/>
              <a:gd name="T25" fmla="*/ 250 h 317"/>
              <a:gd name="T26" fmla="*/ 293 w 293"/>
              <a:gd name="T27" fmla="*/ 81 h 317"/>
              <a:gd name="T28" fmla="*/ 162 w 293"/>
              <a:gd name="T29" fmla="*/ 145 h 317"/>
            </a:gdLst>
            <a:ahLst/>
            <a:cxnLst/>
            <a:rect l="0" t="0" r="r" b="b"/>
            <a:pathLst>
              <a:path w="293" h="317">
                <a:moveTo>
                  <a:pt x="14" y="64"/>
                </a:moveTo>
                <a:lnTo>
                  <a:pt x="143" y="0"/>
                </a:lnTo>
                <a:lnTo>
                  <a:pt x="278" y="62"/>
                </a:lnTo>
                <a:lnTo>
                  <a:pt x="147" y="124"/>
                </a:lnTo>
                <a:lnTo>
                  <a:pt x="14" y="64"/>
                </a:lnTo>
                <a:close/>
                <a:moveTo>
                  <a:pt x="136" y="145"/>
                </a:moveTo>
                <a:lnTo>
                  <a:pt x="0" y="83"/>
                </a:lnTo>
                <a:lnTo>
                  <a:pt x="0" y="255"/>
                </a:lnTo>
                <a:lnTo>
                  <a:pt x="136" y="317"/>
                </a:lnTo>
                <a:lnTo>
                  <a:pt x="136" y="145"/>
                </a:lnTo>
                <a:close/>
                <a:moveTo>
                  <a:pt x="162" y="145"/>
                </a:moveTo>
                <a:lnTo>
                  <a:pt x="162" y="314"/>
                </a:lnTo>
                <a:lnTo>
                  <a:pt x="293" y="250"/>
                </a:lnTo>
                <a:lnTo>
                  <a:pt x="293" y="81"/>
                </a:lnTo>
                <a:lnTo>
                  <a:pt x="162" y="14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357F0CF5-BF3D-F0DB-71F5-4FE4FCAF9B50}"/>
              </a:ext>
            </a:extLst>
          </p:cNvPr>
          <p:cNvSpPr txBox="1"/>
          <p:nvPr/>
        </p:nvSpPr>
        <p:spPr>
          <a:xfrm>
            <a:off x="5504170" y="4092820"/>
            <a:ext cx="1202329" cy="1292917"/>
          </a:xfrm>
          <a:custGeom>
            <a:avLst/>
            <a:gdLst>
              <a:gd name="T0" fmla="*/ 14 w 292"/>
              <a:gd name="T1" fmla="*/ 62 h 314"/>
              <a:gd name="T2" fmla="*/ 143 w 292"/>
              <a:gd name="T3" fmla="*/ 0 h 314"/>
              <a:gd name="T4" fmla="*/ 278 w 292"/>
              <a:gd name="T5" fmla="*/ 59 h 314"/>
              <a:gd name="T6" fmla="*/ 147 w 292"/>
              <a:gd name="T7" fmla="*/ 123 h 314"/>
              <a:gd name="T8" fmla="*/ 14 w 292"/>
              <a:gd name="T9" fmla="*/ 62 h 314"/>
              <a:gd name="T10" fmla="*/ 135 w 292"/>
              <a:gd name="T11" fmla="*/ 145 h 314"/>
              <a:gd name="T12" fmla="*/ 0 w 292"/>
              <a:gd name="T13" fmla="*/ 83 h 314"/>
              <a:gd name="T14" fmla="*/ 0 w 292"/>
              <a:gd name="T15" fmla="*/ 252 h 314"/>
              <a:gd name="T16" fmla="*/ 135 w 292"/>
              <a:gd name="T17" fmla="*/ 314 h 314"/>
              <a:gd name="T18" fmla="*/ 135 w 292"/>
              <a:gd name="T19" fmla="*/ 145 h 314"/>
              <a:gd name="T20" fmla="*/ 162 w 292"/>
              <a:gd name="T21" fmla="*/ 145 h 314"/>
              <a:gd name="T22" fmla="*/ 162 w 292"/>
              <a:gd name="T23" fmla="*/ 314 h 314"/>
              <a:gd name="T24" fmla="*/ 292 w 292"/>
              <a:gd name="T25" fmla="*/ 250 h 314"/>
              <a:gd name="T26" fmla="*/ 292 w 292"/>
              <a:gd name="T27" fmla="*/ 81 h 314"/>
              <a:gd name="T28" fmla="*/ 162 w 292"/>
              <a:gd name="T29" fmla="*/ 145 h 314"/>
            </a:gdLst>
            <a:ahLst/>
            <a:cxnLst/>
            <a:rect l="0" t="0" r="r" b="b"/>
            <a:pathLst>
              <a:path w="292" h="314">
                <a:moveTo>
                  <a:pt x="14" y="62"/>
                </a:moveTo>
                <a:lnTo>
                  <a:pt x="143" y="0"/>
                </a:lnTo>
                <a:lnTo>
                  <a:pt x="278" y="59"/>
                </a:lnTo>
                <a:lnTo>
                  <a:pt x="147" y="123"/>
                </a:lnTo>
                <a:lnTo>
                  <a:pt x="14" y="62"/>
                </a:lnTo>
                <a:close/>
                <a:moveTo>
                  <a:pt x="135" y="145"/>
                </a:moveTo>
                <a:lnTo>
                  <a:pt x="0" y="83"/>
                </a:lnTo>
                <a:lnTo>
                  <a:pt x="0" y="252"/>
                </a:lnTo>
                <a:lnTo>
                  <a:pt x="135" y="314"/>
                </a:lnTo>
                <a:lnTo>
                  <a:pt x="135" y="145"/>
                </a:lnTo>
                <a:close/>
                <a:moveTo>
                  <a:pt x="162" y="145"/>
                </a:moveTo>
                <a:lnTo>
                  <a:pt x="162" y="314"/>
                </a:lnTo>
                <a:lnTo>
                  <a:pt x="292" y="250"/>
                </a:lnTo>
                <a:lnTo>
                  <a:pt x="292" y="81"/>
                </a:lnTo>
                <a:lnTo>
                  <a:pt x="162" y="14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D2183E2-2F65-78F7-076C-CF2B59400CFF}"/>
              </a:ext>
            </a:extLst>
          </p:cNvPr>
          <p:cNvSpPr txBox="1"/>
          <p:nvPr/>
        </p:nvSpPr>
        <p:spPr>
          <a:xfrm>
            <a:off x="6846497" y="4072232"/>
            <a:ext cx="1202329" cy="1301152"/>
          </a:xfrm>
          <a:custGeom>
            <a:avLst/>
            <a:gdLst>
              <a:gd name="T0" fmla="*/ 14 w 292"/>
              <a:gd name="T1" fmla="*/ 64 h 316"/>
              <a:gd name="T2" fmla="*/ 142 w 292"/>
              <a:gd name="T3" fmla="*/ 0 h 316"/>
              <a:gd name="T4" fmla="*/ 278 w 292"/>
              <a:gd name="T5" fmla="*/ 62 h 316"/>
              <a:gd name="T6" fmla="*/ 150 w 292"/>
              <a:gd name="T7" fmla="*/ 126 h 316"/>
              <a:gd name="T8" fmla="*/ 14 w 292"/>
              <a:gd name="T9" fmla="*/ 64 h 316"/>
              <a:gd name="T10" fmla="*/ 135 w 292"/>
              <a:gd name="T11" fmla="*/ 147 h 316"/>
              <a:gd name="T12" fmla="*/ 0 w 292"/>
              <a:gd name="T13" fmla="*/ 86 h 316"/>
              <a:gd name="T14" fmla="*/ 0 w 292"/>
              <a:gd name="T15" fmla="*/ 255 h 316"/>
              <a:gd name="T16" fmla="*/ 138 w 292"/>
              <a:gd name="T17" fmla="*/ 316 h 316"/>
              <a:gd name="T18" fmla="*/ 135 w 292"/>
              <a:gd name="T19" fmla="*/ 147 h 316"/>
              <a:gd name="T20" fmla="*/ 161 w 292"/>
              <a:gd name="T21" fmla="*/ 147 h 316"/>
              <a:gd name="T22" fmla="*/ 161 w 292"/>
              <a:gd name="T23" fmla="*/ 316 h 316"/>
              <a:gd name="T24" fmla="*/ 292 w 292"/>
              <a:gd name="T25" fmla="*/ 252 h 316"/>
              <a:gd name="T26" fmla="*/ 292 w 292"/>
              <a:gd name="T27" fmla="*/ 83 h 316"/>
              <a:gd name="T28" fmla="*/ 161 w 292"/>
              <a:gd name="T29" fmla="*/ 147 h 316"/>
            </a:gdLst>
            <a:ahLst/>
            <a:cxnLst/>
            <a:rect l="0" t="0" r="r" b="b"/>
            <a:pathLst>
              <a:path w="292" h="316">
                <a:moveTo>
                  <a:pt x="14" y="64"/>
                </a:moveTo>
                <a:lnTo>
                  <a:pt x="142" y="0"/>
                </a:lnTo>
                <a:lnTo>
                  <a:pt x="278" y="62"/>
                </a:lnTo>
                <a:lnTo>
                  <a:pt x="150" y="126"/>
                </a:lnTo>
                <a:lnTo>
                  <a:pt x="14" y="64"/>
                </a:lnTo>
                <a:close/>
                <a:moveTo>
                  <a:pt x="135" y="147"/>
                </a:moveTo>
                <a:lnTo>
                  <a:pt x="0" y="86"/>
                </a:lnTo>
                <a:lnTo>
                  <a:pt x="0" y="255"/>
                </a:lnTo>
                <a:lnTo>
                  <a:pt x="138" y="316"/>
                </a:lnTo>
                <a:lnTo>
                  <a:pt x="135" y="147"/>
                </a:lnTo>
                <a:close/>
                <a:moveTo>
                  <a:pt x="161" y="147"/>
                </a:moveTo>
                <a:lnTo>
                  <a:pt x="161" y="316"/>
                </a:lnTo>
                <a:lnTo>
                  <a:pt x="292" y="252"/>
                </a:lnTo>
                <a:lnTo>
                  <a:pt x="292" y="83"/>
                </a:lnTo>
                <a:lnTo>
                  <a:pt x="161" y="1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5A428973-2DCB-BC2F-C48B-F893084FF855}"/>
              </a:ext>
            </a:extLst>
          </p:cNvPr>
          <p:cNvSpPr txBox="1"/>
          <p:nvPr/>
        </p:nvSpPr>
        <p:spPr>
          <a:xfrm>
            <a:off x="5492777" y="1856980"/>
            <a:ext cx="1206447" cy="1305270"/>
          </a:xfrm>
          <a:custGeom>
            <a:avLst/>
            <a:gdLst>
              <a:gd name="T0" fmla="*/ 14 w 293"/>
              <a:gd name="T1" fmla="*/ 64 h 317"/>
              <a:gd name="T2" fmla="*/ 143 w 293"/>
              <a:gd name="T3" fmla="*/ 0 h 317"/>
              <a:gd name="T4" fmla="*/ 278 w 293"/>
              <a:gd name="T5" fmla="*/ 60 h 317"/>
              <a:gd name="T6" fmla="*/ 150 w 293"/>
              <a:gd name="T7" fmla="*/ 124 h 317"/>
              <a:gd name="T8" fmla="*/ 14 w 293"/>
              <a:gd name="T9" fmla="*/ 64 h 317"/>
              <a:gd name="T10" fmla="*/ 138 w 293"/>
              <a:gd name="T11" fmla="*/ 145 h 317"/>
              <a:gd name="T12" fmla="*/ 0 w 293"/>
              <a:gd name="T13" fmla="*/ 83 h 317"/>
              <a:gd name="T14" fmla="*/ 0 w 293"/>
              <a:gd name="T15" fmla="*/ 255 h 317"/>
              <a:gd name="T16" fmla="*/ 138 w 293"/>
              <a:gd name="T17" fmla="*/ 317 h 317"/>
              <a:gd name="T18" fmla="*/ 138 w 293"/>
              <a:gd name="T19" fmla="*/ 145 h 317"/>
              <a:gd name="T20" fmla="*/ 162 w 293"/>
              <a:gd name="T21" fmla="*/ 145 h 317"/>
              <a:gd name="T22" fmla="*/ 162 w 293"/>
              <a:gd name="T23" fmla="*/ 314 h 317"/>
              <a:gd name="T24" fmla="*/ 293 w 293"/>
              <a:gd name="T25" fmla="*/ 250 h 317"/>
              <a:gd name="T26" fmla="*/ 293 w 293"/>
              <a:gd name="T27" fmla="*/ 81 h 317"/>
              <a:gd name="T28" fmla="*/ 162 w 293"/>
              <a:gd name="T29" fmla="*/ 145 h 317"/>
            </a:gdLst>
            <a:ahLst/>
            <a:cxnLst/>
            <a:rect l="0" t="0" r="r" b="b"/>
            <a:pathLst>
              <a:path w="293" h="317">
                <a:moveTo>
                  <a:pt x="14" y="64"/>
                </a:moveTo>
                <a:lnTo>
                  <a:pt x="143" y="0"/>
                </a:lnTo>
                <a:lnTo>
                  <a:pt x="278" y="60"/>
                </a:lnTo>
                <a:lnTo>
                  <a:pt x="150" y="124"/>
                </a:lnTo>
                <a:lnTo>
                  <a:pt x="14" y="64"/>
                </a:lnTo>
                <a:close/>
                <a:moveTo>
                  <a:pt x="138" y="145"/>
                </a:moveTo>
                <a:lnTo>
                  <a:pt x="0" y="83"/>
                </a:lnTo>
                <a:lnTo>
                  <a:pt x="0" y="255"/>
                </a:lnTo>
                <a:lnTo>
                  <a:pt x="138" y="317"/>
                </a:lnTo>
                <a:lnTo>
                  <a:pt x="138" y="145"/>
                </a:lnTo>
                <a:close/>
                <a:moveTo>
                  <a:pt x="162" y="145"/>
                </a:moveTo>
                <a:lnTo>
                  <a:pt x="162" y="314"/>
                </a:lnTo>
                <a:lnTo>
                  <a:pt x="293" y="250"/>
                </a:lnTo>
                <a:lnTo>
                  <a:pt x="293" y="81"/>
                </a:lnTo>
                <a:lnTo>
                  <a:pt x="162" y="145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54584A36-7966-4113-5042-29B5CE760DF3}"/>
              </a:ext>
            </a:extLst>
          </p:cNvPr>
          <p:cNvSpPr txBox="1"/>
          <p:nvPr/>
        </p:nvSpPr>
        <p:spPr>
          <a:xfrm>
            <a:off x="4816536" y="2985194"/>
            <a:ext cx="1214682" cy="1292917"/>
          </a:xfrm>
          <a:custGeom>
            <a:avLst/>
            <a:gdLst>
              <a:gd name="T0" fmla="*/ 15 w 295"/>
              <a:gd name="T1" fmla="*/ 62 h 314"/>
              <a:gd name="T2" fmla="*/ 145 w 295"/>
              <a:gd name="T3" fmla="*/ 0 h 314"/>
              <a:gd name="T4" fmla="*/ 279 w 295"/>
              <a:gd name="T5" fmla="*/ 59 h 314"/>
              <a:gd name="T6" fmla="*/ 150 w 295"/>
              <a:gd name="T7" fmla="*/ 123 h 314"/>
              <a:gd name="T8" fmla="*/ 15 w 295"/>
              <a:gd name="T9" fmla="*/ 62 h 314"/>
              <a:gd name="T10" fmla="*/ 138 w 295"/>
              <a:gd name="T11" fmla="*/ 145 h 314"/>
              <a:gd name="T12" fmla="*/ 0 w 295"/>
              <a:gd name="T13" fmla="*/ 83 h 314"/>
              <a:gd name="T14" fmla="*/ 0 w 295"/>
              <a:gd name="T15" fmla="*/ 252 h 314"/>
              <a:gd name="T16" fmla="*/ 138 w 295"/>
              <a:gd name="T17" fmla="*/ 314 h 314"/>
              <a:gd name="T18" fmla="*/ 138 w 295"/>
              <a:gd name="T19" fmla="*/ 145 h 314"/>
              <a:gd name="T20" fmla="*/ 162 w 295"/>
              <a:gd name="T21" fmla="*/ 145 h 314"/>
              <a:gd name="T22" fmla="*/ 162 w 295"/>
              <a:gd name="T23" fmla="*/ 314 h 314"/>
              <a:gd name="T24" fmla="*/ 295 w 295"/>
              <a:gd name="T25" fmla="*/ 250 h 314"/>
              <a:gd name="T26" fmla="*/ 295 w 295"/>
              <a:gd name="T27" fmla="*/ 81 h 314"/>
              <a:gd name="T28" fmla="*/ 162 w 295"/>
              <a:gd name="T29" fmla="*/ 145 h 314"/>
            </a:gdLst>
            <a:ahLst/>
            <a:cxnLst/>
            <a:rect l="0" t="0" r="r" b="b"/>
            <a:pathLst>
              <a:path w="295" h="314">
                <a:moveTo>
                  <a:pt x="15" y="62"/>
                </a:moveTo>
                <a:lnTo>
                  <a:pt x="145" y="0"/>
                </a:lnTo>
                <a:lnTo>
                  <a:pt x="279" y="59"/>
                </a:lnTo>
                <a:lnTo>
                  <a:pt x="150" y="123"/>
                </a:lnTo>
                <a:lnTo>
                  <a:pt x="15" y="62"/>
                </a:lnTo>
                <a:close/>
                <a:moveTo>
                  <a:pt x="138" y="145"/>
                </a:moveTo>
                <a:lnTo>
                  <a:pt x="0" y="83"/>
                </a:lnTo>
                <a:lnTo>
                  <a:pt x="0" y="252"/>
                </a:lnTo>
                <a:lnTo>
                  <a:pt x="138" y="314"/>
                </a:lnTo>
                <a:lnTo>
                  <a:pt x="138" y="145"/>
                </a:lnTo>
                <a:close/>
                <a:moveTo>
                  <a:pt x="162" y="145"/>
                </a:moveTo>
                <a:lnTo>
                  <a:pt x="162" y="314"/>
                </a:lnTo>
                <a:lnTo>
                  <a:pt x="295" y="250"/>
                </a:lnTo>
                <a:lnTo>
                  <a:pt x="295" y="81"/>
                </a:lnTo>
                <a:lnTo>
                  <a:pt x="162" y="14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8" name="标题 1">
            <a:extLst>
              <a:ext uri="{FF2B5EF4-FFF2-40B4-BE49-F238E27FC236}">
                <a16:creationId xmlns:a16="http://schemas.microsoft.com/office/drawing/2014/main" id="{27B45F0E-FF2E-85D7-1B03-57891A6D9FCA}"/>
              </a:ext>
            </a:extLst>
          </p:cNvPr>
          <p:cNvSpPr txBox="1"/>
          <p:nvPr/>
        </p:nvSpPr>
        <p:spPr>
          <a:xfrm>
            <a:off x="6158863" y="2964606"/>
            <a:ext cx="1214682" cy="1301152"/>
          </a:xfrm>
          <a:custGeom>
            <a:avLst/>
            <a:gdLst>
              <a:gd name="T0" fmla="*/ 14 w 295"/>
              <a:gd name="T1" fmla="*/ 64 h 316"/>
              <a:gd name="T2" fmla="*/ 145 w 295"/>
              <a:gd name="T3" fmla="*/ 0 h 316"/>
              <a:gd name="T4" fmla="*/ 279 w 295"/>
              <a:gd name="T5" fmla="*/ 62 h 316"/>
              <a:gd name="T6" fmla="*/ 150 w 295"/>
              <a:gd name="T7" fmla="*/ 126 h 316"/>
              <a:gd name="T8" fmla="*/ 14 w 295"/>
              <a:gd name="T9" fmla="*/ 64 h 316"/>
              <a:gd name="T10" fmla="*/ 138 w 295"/>
              <a:gd name="T11" fmla="*/ 148 h 316"/>
              <a:gd name="T12" fmla="*/ 0 w 295"/>
              <a:gd name="T13" fmla="*/ 86 h 316"/>
              <a:gd name="T14" fmla="*/ 0 w 295"/>
              <a:gd name="T15" fmla="*/ 255 h 316"/>
              <a:gd name="T16" fmla="*/ 138 w 295"/>
              <a:gd name="T17" fmla="*/ 316 h 316"/>
              <a:gd name="T18" fmla="*/ 138 w 295"/>
              <a:gd name="T19" fmla="*/ 148 h 316"/>
              <a:gd name="T20" fmla="*/ 162 w 295"/>
              <a:gd name="T21" fmla="*/ 148 h 316"/>
              <a:gd name="T22" fmla="*/ 162 w 295"/>
              <a:gd name="T23" fmla="*/ 316 h 316"/>
              <a:gd name="T24" fmla="*/ 295 w 295"/>
              <a:gd name="T25" fmla="*/ 252 h 316"/>
              <a:gd name="T26" fmla="*/ 295 w 295"/>
              <a:gd name="T27" fmla="*/ 83 h 316"/>
              <a:gd name="T28" fmla="*/ 162 w 295"/>
              <a:gd name="T29" fmla="*/ 148 h 316"/>
            </a:gdLst>
            <a:ahLst/>
            <a:cxnLst/>
            <a:rect l="0" t="0" r="r" b="b"/>
            <a:pathLst>
              <a:path w="295" h="316">
                <a:moveTo>
                  <a:pt x="14" y="64"/>
                </a:moveTo>
                <a:lnTo>
                  <a:pt x="145" y="0"/>
                </a:lnTo>
                <a:lnTo>
                  <a:pt x="279" y="62"/>
                </a:lnTo>
                <a:lnTo>
                  <a:pt x="150" y="126"/>
                </a:lnTo>
                <a:lnTo>
                  <a:pt x="14" y="64"/>
                </a:lnTo>
                <a:close/>
                <a:moveTo>
                  <a:pt x="138" y="148"/>
                </a:moveTo>
                <a:lnTo>
                  <a:pt x="0" y="86"/>
                </a:lnTo>
                <a:lnTo>
                  <a:pt x="0" y="255"/>
                </a:lnTo>
                <a:lnTo>
                  <a:pt x="138" y="316"/>
                </a:lnTo>
                <a:lnTo>
                  <a:pt x="138" y="148"/>
                </a:lnTo>
                <a:close/>
                <a:moveTo>
                  <a:pt x="162" y="148"/>
                </a:moveTo>
                <a:lnTo>
                  <a:pt x="162" y="316"/>
                </a:lnTo>
                <a:lnTo>
                  <a:pt x="295" y="252"/>
                </a:lnTo>
                <a:lnTo>
                  <a:pt x="295" y="83"/>
                </a:lnTo>
                <a:lnTo>
                  <a:pt x="162" y="14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>
            <a:extLst>
              <a:ext uri="{FF2B5EF4-FFF2-40B4-BE49-F238E27FC236}">
                <a16:creationId xmlns:a16="http://schemas.microsoft.com/office/drawing/2014/main" id="{1899305A-F392-DD78-BE99-A8AD0CD51F03}"/>
              </a:ext>
            </a:extLst>
          </p:cNvPr>
          <p:cNvSpPr txBox="1"/>
          <p:nvPr/>
        </p:nvSpPr>
        <p:spPr>
          <a:xfrm>
            <a:off x="6846497" y="2169639"/>
            <a:ext cx="861324" cy="508944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0" scaled="0"/>
          </a:gra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0" name="标题 1">
            <a:extLst>
              <a:ext uri="{FF2B5EF4-FFF2-40B4-BE49-F238E27FC236}">
                <a16:creationId xmlns:a16="http://schemas.microsoft.com/office/drawing/2014/main" id="{E966C24B-EDB1-975D-2D82-4B169FD54363}"/>
              </a:ext>
            </a:extLst>
          </p:cNvPr>
          <p:cNvSpPr txBox="1"/>
          <p:nvPr/>
        </p:nvSpPr>
        <p:spPr>
          <a:xfrm flipH="1">
            <a:off x="3827567" y="3389933"/>
            <a:ext cx="861324" cy="508944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1" name="标题 1">
            <a:extLst>
              <a:ext uri="{FF2B5EF4-FFF2-40B4-BE49-F238E27FC236}">
                <a16:creationId xmlns:a16="http://schemas.microsoft.com/office/drawing/2014/main" id="{14C3FC47-0D84-2C24-F784-D5EF91ACDC00}"/>
              </a:ext>
            </a:extLst>
          </p:cNvPr>
          <p:cNvSpPr txBox="1"/>
          <p:nvPr/>
        </p:nvSpPr>
        <p:spPr>
          <a:xfrm>
            <a:off x="8188824" y="4523094"/>
            <a:ext cx="861324" cy="508944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50000"/>
                </a:schemeClr>
              </a:gs>
            </a:gsLst>
            <a:lin ang="0" scaled="0"/>
          </a:gra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2" name="标题 1">
            <a:extLst>
              <a:ext uri="{FF2B5EF4-FFF2-40B4-BE49-F238E27FC236}">
                <a16:creationId xmlns:a16="http://schemas.microsoft.com/office/drawing/2014/main" id="{A2A5CF4A-7978-95D8-ADE7-45DAD4456ABB}"/>
              </a:ext>
            </a:extLst>
          </p:cNvPr>
          <p:cNvSpPr txBox="1"/>
          <p:nvPr/>
        </p:nvSpPr>
        <p:spPr>
          <a:xfrm>
            <a:off x="9134636" y="4362810"/>
            <a:ext cx="2384263" cy="27699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舆情预测</a:t>
            </a:r>
            <a:endParaRPr kumimoji="1" lang="zh-CN" altLang="en-US"/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716381C7-171E-65CB-E31C-1A0B2D8651B5}"/>
              </a:ext>
            </a:extLst>
          </p:cNvPr>
          <p:cNvSpPr txBox="1"/>
          <p:nvPr/>
        </p:nvSpPr>
        <p:spPr>
          <a:xfrm>
            <a:off x="9134637" y="4671237"/>
            <a:ext cx="2805726" cy="11554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舆情预测环节采用ARIMA模型，通过整理出按时间排序的热度数据，构建时间序列进行预测。最终选定ARIMA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(2,1,1)作为最优模型，其MSE值较基准模型降低37.2%，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能够对未来一段时间内特定话题的热度和情感趋势进行预测，帮助用户把握舆情走向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3200" dirty="0"/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B432890C-6D27-D521-C6D7-F85313B13187}"/>
              </a:ext>
            </a:extLst>
          </p:cNvPr>
          <p:cNvSpPr txBox="1"/>
          <p:nvPr/>
        </p:nvSpPr>
        <p:spPr>
          <a:xfrm>
            <a:off x="7831616" y="1545511"/>
            <a:ext cx="2384263" cy="69609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情感分析</a:t>
            </a:r>
            <a:endParaRPr kumimoji="1" lang="zh-CN" altLang="en-US"/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FED1709A-C851-EFEF-5C45-1147AF0B3141}"/>
              </a:ext>
            </a:extLst>
          </p:cNvPr>
          <p:cNvSpPr txBox="1"/>
          <p:nvPr/>
        </p:nvSpPr>
        <p:spPr>
          <a:xfrm>
            <a:off x="7831617" y="2311648"/>
            <a:ext cx="3687282" cy="11554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情感分析是舆情分析的核心内容之一，本文采用BERT与朴素贝叶斯混合模型进行情感分类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通过深度语义理解与统计分类的结合，在中文文本情感分类任务中达到95.7%的准确率，较传统方法提升5.5%，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能够有效判别微博文本所表达的情绪倾向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3200" dirty="0"/>
          </a:p>
        </p:txBody>
      </p:sp>
      <p:sp>
        <p:nvSpPr>
          <p:cNvPr id="46" name="标题 1">
            <a:extLst>
              <a:ext uri="{FF2B5EF4-FFF2-40B4-BE49-F238E27FC236}">
                <a16:creationId xmlns:a16="http://schemas.microsoft.com/office/drawing/2014/main" id="{318FDA5C-48DC-CB71-A193-31FE9C597C45}"/>
              </a:ext>
            </a:extLst>
          </p:cNvPr>
          <p:cNvSpPr txBox="1"/>
          <p:nvPr/>
        </p:nvSpPr>
        <p:spPr>
          <a:xfrm>
            <a:off x="1363980" y="3183811"/>
            <a:ext cx="2277861" cy="27699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r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热度计算</a:t>
            </a:r>
            <a:endParaRPr kumimoji="1" lang="zh-CN" altLang="en-US" dirty="0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88DF7C3D-EF81-92AE-3517-9CA36E2E7F9E}"/>
              </a:ext>
            </a:extLst>
          </p:cNvPr>
          <p:cNvSpPr txBox="1"/>
          <p:nvPr/>
        </p:nvSpPr>
        <p:spPr>
          <a:xfrm>
            <a:off x="518558" y="3530847"/>
            <a:ext cx="3123284" cy="16680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热度计算模块基于熵权法构建动态权重模型，综合转发、评论、点赞等指标量化舆情热度，支持热点事件的实时追踪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11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通过动态权重分配算法避免静态赋权的主观性，能够筛选出具有较高关注度的热点事件并展示，帮助用户快速把握舆情热点</a:t>
            </a:r>
            <a:r>
              <a:rPr kumimoji="1" lang="en-US" altLang="zh-CN" sz="11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40592520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737934" y="4789616"/>
            <a:ext cx="6716131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系统需求分析与总体设计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91B2580-10DB-4C3D-ADBF-72F34D410B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8" b="29490"/>
          <a:stretch/>
        </p:blipFill>
        <p:spPr>
          <a:xfrm>
            <a:off x="2" y="-1"/>
            <a:ext cx="12191998" cy="373649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117D2-B5AD-4282-B736-09EE8EBFDBA5}"/>
              </a:ext>
            </a:extLst>
          </p:cNvPr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C00000"/>
              </a:gs>
              <a:gs pos="59000">
                <a:srgbClr val="C00000">
                  <a:alpha val="40000"/>
                </a:srgbClr>
              </a:gs>
              <a:gs pos="100000">
                <a:srgbClr val="C00000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3E0139-D4EB-4894-8D43-72AC584E24CF}"/>
              </a:ext>
            </a:extLst>
          </p:cNvPr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A78A39ED-1116-4380-9C42-7A71869E27A6}"/>
                </a:ext>
              </a:extLst>
            </p:cNvPr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D0528B29-2248-40B2-A98A-F1373DB2787B}"/>
                </a:ext>
              </a:extLst>
            </p:cNvPr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FF5D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CCFF2B2-5953-4405-820C-1107BB299899}"/>
              </a:ext>
            </a:extLst>
          </p:cNvPr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Part.03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324466E-3B4C-4162-A064-1DD47EB6BC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64" y="903148"/>
            <a:ext cx="5911273" cy="170659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2" grpId="0" animBg="1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2" grpId="0" animBg="1"/>
          <p:bldP spid="16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A45E3-9811-7675-C92A-56F33F73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3A915E7-0EF1-F868-4699-3A1ADAD30960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DB6B25BF-8572-9D8D-3CC0-F524C6F98199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设计目标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F43554A-1596-5993-DE8F-B8B6D38FB2AC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22" name="矩形 4">
              <a:extLst>
                <a:ext uri="{FF2B5EF4-FFF2-40B4-BE49-F238E27FC236}">
                  <a16:creationId xmlns:a16="http://schemas.microsoft.com/office/drawing/2014/main" id="{FC75D19A-0BDF-827E-B1B3-4493D4DBEA5A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90D5003-094D-0806-B0E3-49B013220F66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F2056AE-180B-6BE2-8F4B-8B7E32E5FADA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7D8A7860-25D5-EF57-D26D-63AEDD04A244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8B7C8C9D-87A1-097A-93D9-3835642064A5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71A76239-139B-1495-3127-FE13AFD283D5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F5FE1D88-331F-3835-F2AB-7C3EC6C0F294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CB546A0C-C5E6-F233-084A-9C31106365F7}"/>
                </a:ext>
              </a:extLst>
            </p:cNvPr>
            <p:cNvSpPr txBox="1"/>
            <p:nvPr/>
          </p:nvSpPr>
          <p:spPr>
            <a:xfrm>
              <a:off x="7820483" y="21589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229B9D46-7310-05A3-7A41-A51C3FCE25E7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E773E998-33B0-C03A-A836-ECAF4921A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88" name="TextBox 9">
              <a:extLst>
                <a:ext uri="{FF2B5EF4-FFF2-40B4-BE49-F238E27FC236}">
                  <a16:creationId xmlns:a16="http://schemas.microsoft.com/office/drawing/2014/main" id="{3DBC71F9-7871-9762-3E9B-C751D8A3ABDF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AC3BC0DD-3282-E119-4370-96977ACE2B64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标题 1">
            <a:extLst>
              <a:ext uri="{FF2B5EF4-FFF2-40B4-BE49-F238E27FC236}">
                <a16:creationId xmlns:a16="http://schemas.microsoft.com/office/drawing/2014/main" id="{E1756813-9E5C-5102-A32C-6D531F12B890}"/>
              </a:ext>
            </a:extLst>
          </p:cNvPr>
          <p:cNvSpPr txBox="1"/>
          <p:nvPr/>
        </p:nvSpPr>
        <p:spPr>
          <a:xfrm flipV="1">
            <a:off x="660400" y="2049491"/>
            <a:ext cx="3394898" cy="3777148"/>
          </a:xfrm>
          <a:custGeom>
            <a:avLst/>
            <a:gdLst>
              <a:gd name="connsiteX0" fmla="*/ 121647 w 5001127"/>
              <a:gd name="connsiteY0" fmla="*/ 4106779 h 4106779"/>
              <a:gd name="connsiteX1" fmla="*/ 4879480 w 5001127"/>
              <a:gd name="connsiteY1" fmla="*/ 4106779 h 4106779"/>
              <a:gd name="connsiteX2" fmla="*/ 5001127 w 5001127"/>
              <a:gd name="connsiteY2" fmla="*/ 3985132 h 4106779"/>
              <a:gd name="connsiteX3" fmla="*/ 5001127 w 5001127"/>
              <a:gd name="connsiteY3" fmla="*/ 370300 h 4106779"/>
              <a:gd name="connsiteX4" fmla="*/ 4879480 w 5001127"/>
              <a:gd name="connsiteY4" fmla="*/ 248653 h 4106779"/>
              <a:gd name="connsiteX5" fmla="*/ 2667343 w 5001127"/>
              <a:gd name="connsiteY5" fmla="*/ 248653 h 4106779"/>
              <a:gd name="connsiteX6" fmla="*/ 2500563 w 5001127"/>
              <a:gd name="connsiteY6" fmla="*/ 0 h 4106779"/>
              <a:gd name="connsiteX7" fmla="*/ 2333784 w 5001127"/>
              <a:gd name="connsiteY7" fmla="*/ 248653 h 4106779"/>
              <a:gd name="connsiteX8" fmla="*/ 121647 w 5001127"/>
              <a:gd name="connsiteY8" fmla="*/ 248653 h 4106779"/>
              <a:gd name="connsiteX9" fmla="*/ 0 w 5001127"/>
              <a:gd name="connsiteY9" fmla="*/ 370300 h 4106779"/>
              <a:gd name="connsiteX10" fmla="*/ 0 w 5001127"/>
              <a:gd name="connsiteY10" fmla="*/ 3985132 h 4106779"/>
              <a:gd name="connsiteX11" fmla="*/ 121647 w 5001127"/>
              <a:gd name="connsiteY11" fmla="*/ 4106779 h 4106779"/>
            </a:gdLst>
            <a:ahLst/>
            <a:cxnLst/>
            <a:rect l="l" t="t" r="r" b="b"/>
            <a:pathLst>
              <a:path w="5001127" h="4106779">
                <a:moveTo>
                  <a:pt x="121647" y="4106779"/>
                </a:moveTo>
                <a:lnTo>
                  <a:pt x="4879480" y="4106779"/>
                </a:lnTo>
                <a:cubicBezTo>
                  <a:pt x="4946664" y="4106779"/>
                  <a:pt x="5001127" y="4052316"/>
                  <a:pt x="5001127" y="3985132"/>
                </a:cubicBezTo>
                <a:lnTo>
                  <a:pt x="5001127" y="370300"/>
                </a:lnTo>
                <a:cubicBezTo>
                  <a:pt x="5001127" y="303116"/>
                  <a:pt x="4946664" y="248653"/>
                  <a:pt x="4879480" y="248653"/>
                </a:cubicBezTo>
                <a:lnTo>
                  <a:pt x="2667343" y="248653"/>
                </a:lnTo>
                <a:lnTo>
                  <a:pt x="2500563" y="0"/>
                </a:lnTo>
                <a:lnTo>
                  <a:pt x="2333784" y="248653"/>
                </a:lnTo>
                <a:lnTo>
                  <a:pt x="121647" y="248653"/>
                </a:lnTo>
                <a:cubicBezTo>
                  <a:pt x="54463" y="248653"/>
                  <a:pt x="0" y="303116"/>
                  <a:pt x="0" y="370300"/>
                </a:cubicBezTo>
                <a:lnTo>
                  <a:pt x="0" y="3985132"/>
                </a:lnTo>
                <a:cubicBezTo>
                  <a:pt x="0" y="4052316"/>
                  <a:pt x="54463" y="4106779"/>
                  <a:pt x="121647" y="4106779"/>
                </a:cubicBez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919A2332-5A9C-46D7-06B0-21EE4D3AD58F}"/>
              </a:ext>
            </a:extLst>
          </p:cNvPr>
          <p:cNvSpPr txBox="1"/>
          <p:nvPr/>
        </p:nvSpPr>
        <p:spPr>
          <a:xfrm>
            <a:off x="1939043" y="1644315"/>
            <a:ext cx="837611" cy="837611"/>
          </a:xfrm>
          <a:prstGeom prst="flowChartConnector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>
            <a:extLst>
              <a:ext uri="{FF2B5EF4-FFF2-40B4-BE49-F238E27FC236}">
                <a16:creationId xmlns:a16="http://schemas.microsoft.com/office/drawing/2014/main" id="{5A9119A8-9E99-1BB6-F6D1-EE6CFD4FC014}"/>
              </a:ext>
            </a:extLst>
          </p:cNvPr>
          <p:cNvSpPr txBox="1"/>
          <p:nvPr/>
        </p:nvSpPr>
        <p:spPr>
          <a:xfrm>
            <a:off x="846586" y="3184901"/>
            <a:ext cx="3022524" cy="1997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需要实现微博数据的自动采集、智能处理、可视化展示等功能，涵盖数据采集、情感分析、热度计算、可视化展示等核心模块，支持多用户访问。为用户提供全面的舆情分析服务，满足不同用户对舆情监测和分析的需求。</a:t>
            </a:r>
            <a:endParaRPr kumimoji="1" lang="zh-CN" altLang="en-US" dirty="0"/>
          </a:p>
        </p:txBody>
      </p:sp>
      <p:sp>
        <p:nvSpPr>
          <p:cNvPr id="49" name="标题 1">
            <a:extLst>
              <a:ext uri="{FF2B5EF4-FFF2-40B4-BE49-F238E27FC236}">
                <a16:creationId xmlns:a16="http://schemas.microsoft.com/office/drawing/2014/main" id="{82D1FE86-74BB-67B5-DA8C-7FF38681EE36}"/>
              </a:ext>
            </a:extLst>
          </p:cNvPr>
          <p:cNvSpPr txBox="1"/>
          <p:nvPr/>
        </p:nvSpPr>
        <p:spPr>
          <a:xfrm>
            <a:off x="2152434" y="1883283"/>
            <a:ext cx="410830" cy="359676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0" name="标题 1">
            <a:extLst>
              <a:ext uri="{FF2B5EF4-FFF2-40B4-BE49-F238E27FC236}">
                <a16:creationId xmlns:a16="http://schemas.microsoft.com/office/drawing/2014/main" id="{3B076229-5FFF-653E-7D35-0B752E07FFC4}"/>
              </a:ext>
            </a:extLst>
          </p:cNvPr>
          <p:cNvSpPr txBox="1"/>
          <p:nvPr/>
        </p:nvSpPr>
        <p:spPr>
          <a:xfrm>
            <a:off x="846587" y="2582687"/>
            <a:ext cx="3022524" cy="5712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B81B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功能完备</a:t>
            </a:r>
            <a:endParaRPr kumimoji="1" lang="zh-CN" altLang="en-US"/>
          </a:p>
        </p:txBody>
      </p:sp>
      <p:sp>
        <p:nvSpPr>
          <p:cNvPr id="51" name="标题 1">
            <a:extLst>
              <a:ext uri="{FF2B5EF4-FFF2-40B4-BE49-F238E27FC236}">
                <a16:creationId xmlns:a16="http://schemas.microsoft.com/office/drawing/2014/main" id="{28509748-3BCD-9405-5E6E-6C029AA637CF}"/>
              </a:ext>
            </a:extLst>
          </p:cNvPr>
          <p:cNvSpPr txBox="1"/>
          <p:nvPr/>
        </p:nvSpPr>
        <p:spPr>
          <a:xfrm flipV="1">
            <a:off x="4392201" y="2049491"/>
            <a:ext cx="3394898" cy="3777150"/>
          </a:xfrm>
          <a:custGeom>
            <a:avLst/>
            <a:gdLst>
              <a:gd name="connsiteX0" fmla="*/ 121647 w 5001127"/>
              <a:gd name="connsiteY0" fmla="*/ 4106779 h 4106779"/>
              <a:gd name="connsiteX1" fmla="*/ 4879480 w 5001127"/>
              <a:gd name="connsiteY1" fmla="*/ 4106779 h 4106779"/>
              <a:gd name="connsiteX2" fmla="*/ 5001127 w 5001127"/>
              <a:gd name="connsiteY2" fmla="*/ 3985132 h 4106779"/>
              <a:gd name="connsiteX3" fmla="*/ 5001127 w 5001127"/>
              <a:gd name="connsiteY3" fmla="*/ 370300 h 4106779"/>
              <a:gd name="connsiteX4" fmla="*/ 4879480 w 5001127"/>
              <a:gd name="connsiteY4" fmla="*/ 248653 h 4106779"/>
              <a:gd name="connsiteX5" fmla="*/ 2667343 w 5001127"/>
              <a:gd name="connsiteY5" fmla="*/ 248653 h 4106779"/>
              <a:gd name="connsiteX6" fmla="*/ 2500563 w 5001127"/>
              <a:gd name="connsiteY6" fmla="*/ 0 h 4106779"/>
              <a:gd name="connsiteX7" fmla="*/ 2333784 w 5001127"/>
              <a:gd name="connsiteY7" fmla="*/ 248653 h 4106779"/>
              <a:gd name="connsiteX8" fmla="*/ 121647 w 5001127"/>
              <a:gd name="connsiteY8" fmla="*/ 248653 h 4106779"/>
              <a:gd name="connsiteX9" fmla="*/ 0 w 5001127"/>
              <a:gd name="connsiteY9" fmla="*/ 370300 h 4106779"/>
              <a:gd name="connsiteX10" fmla="*/ 0 w 5001127"/>
              <a:gd name="connsiteY10" fmla="*/ 3985132 h 4106779"/>
              <a:gd name="connsiteX11" fmla="*/ 121647 w 5001127"/>
              <a:gd name="connsiteY11" fmla="*/ 4106779 h 4106779"/>
            </a:gdLst>
            <a:ahLst/>
            <a:cxnLst/>
            <a:rect l="l" t="t" r="r" b="b"/>
            <a:pathLst>
              <a:path w="5001127" h="4106779">
                <a:moveTo>
                  <a:pt x="121647" y="4106779"/>
                </a:moveTo>
                <a:lnTo>
                  <a:pt x="4879480" y="4106779"/>
                </a:lnTo>
                <a:cubicBezTo>
                  <a:pt x="4946664" y="4106779"/>
                  <a:pt x="5001127" y="4052316"/>
                  <a:pt x="5001127" y="3985132"/>
                </a:cubicBezTo>
                <a:lnTo>
                  <a:pt x="5001127" y="370300"/>
                </a:lnTo>
                <a:cubicBezTo>
                  <a:pt x="5001127" y="303116"/>
                  <a:pt x="4946664" y="248653"/>
                  <a:pt x="4879480" y="248653"/>
                </a:cubicBezTo>
                <a:lnTo>
                  <a:pt x="2667343" y="248653"/>
                </a:lnTo>
                <a:lnTo>
                  <a:pt x="2500563" y="0"/>
                </a:lnTo>
                <a:lnTo>
                  <a:pt x="2333784" y="248653"/>
                </a:lnTo>
                <a:lnTo>
                  <a:pt x="121647" y="248653"/>
                </a:lnTo>
                <a:cubicBezTo>
                  <a:pt x="54463" y="248653"/>
                  <a:pt x="0" y="303116"/>
                  <a:pt x="0" y="370300"/>
                </a:cubicBezTo>
                <a:lnTo>
                  <a:pt x="0" y="3985132"/>
                </a:lnTo>
                <a:cubicBezTo>
                  <a:pt x="0" y="4052316"/>
                  <a:pt x="54463" y="4106779"/>
                  <a:pt x="121647" y="4106779"/>
                </a:cubicBez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2" name="标题 1">
            <a:extLst>
              <a:ext uri="{FF2B5EF4-FFF2-40B4-BE49-F238E27FC236}">
                <a16:creationId xmlns:a16="http://schemas.microsoft.com/office/drawing/2014/main" id="{1CDA8186-EF6F-347C-F0F1-D0005D90EF70}"/>
              </a:ext>
            </a:extLst>
          </p:cNvPr>
          <p:cNvSpPr txBox="1"/>
          <p:nvPr/>
        </p:nvSpPr>
        <p:spPr>
          <a:xfrm>
            <a:off x="5670844" y="1644315"/>
            <a:ext cx="837611" cy="837611"/>
          </a:xfrm>
          <a:prstGeom prst="flowChartConnector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55387479-5FA1-0A3D-066C-535894783D9A}"/>
              </a:ext>
            </a:extLst>
          </p:cNvPr>
          <p:cNvSpPr txBox="1"/>
          <p:nvPr/>
        </p:nvSpPr>
        <p:spPr>
          <a:xfrm>
            <a:off x="4578387" y="3184901"/>
            <a:ext cx="3022524" cy="1997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34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系统采用B</a:t>
            </a:r>
            <a:r>
              <a:rPr kumimoji="1" lang="en-US" altLang="zh-CN" sz="1234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/</a:t>
            </a:r>
            <a:r>
              <a:rPr kumimoji="1" lang="en-US" altLang="zh-CN" sz="1234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S架构，通过Web浏览器提供服务访问，后端采用Django框架构建，数据库使用MySQL</a:t>
            </a:r>
            <a:r>
              <a:rPr kumimoji="1" lang="en-US" altLang="zh-CN" sz="1234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8.0.12，前端采用HTML5、CSS3和JavaScript技术栈。引入Redis缓存、Celery消息队列、MinIO文件存储、ELK日志系统和Prometheus监控系统等组件，构建了一个完整的分布式应用架构，保障系统的稳定运行。</a:t>
            </a:r>
            <a:endParaRPr kumimoji="1" lang="zh-CN" altLang="en-US" dirty="0"/>
          </a:p>
        </p:txBody>
      </p:sp>
      <p:sp>
        <p:nvSpPr>
          <p:cNvPr id="54" name="标题 1">
            <a:extLst>
              <a:ext uri="{FF2B5EF4-FFF2-40B4-BE49-F238E27FC236}">
                <a16:creationId xmlns:a16="http://schemas.microsoft.com/office/drawing/2014/main" id="{8C976004-1E02-AF4F-81CD-DA94C94EAC08}"/>
              </a:ext>
            </a:extLst>
          </p:cNvPr>
          <p:cNvSpPr txBox="1"/>
          <p:nvPr/>
        </p:nvSpPr>
        <p:spPr>
          <a:xfrm>
            <a:off x="5884235" y="1873098"/>
            <a:ext cx="410830" cy="380046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5" name="标题 1">
            <a:extLst>
              <a:ext uri="{FF2B5EF4-FFF2-40B4-BE49-F238E27FC236}">
                <a16:creationId xmlns:a16="http://schemas.microsoft.com/office/drawing/2014/main" id="{2292D229-64C5-F325-ADB2-50E9B620BD61}"/>
              </a:ext>
            </a:extLst>
          </p:cNvPr>
          <p:cNvSpPr txBox="1"/>
          <p:nvPr/>
        </p:nvSpPr>
        <p:spPr>
          <a:xfrm>
            <a:off x="4578388" y="2582687"/>
            <a:ext cx="3022524" cy="5712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B81B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运行稳定</a:t>
            </a:r>
            <a:endParaRPr kumimoji="1" lang="zh-CN" altLang="en-US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6C353AD6-20B0-D300-4FBF-0510B8B3379B}"/>
              </a:ext>
            </a:extLst>
          </p:cNvPr>
          <p:cNvSpPr txBox="1"/>
          <p:nvPr/>
        </p:nvSpPr>
        <p:spPr>
          <a:xfrm flipV="1">
            <a:off x="8124002" y="2049491"/>
            <a:ext cx="3394898" cy="3777149"/>
          </a:xfrm>
          <a:custGeom>
            <a:avLst/>
            <a:gdLst>
              <a:gd name="connsiteX0" fmla="*/ 121647 w 5001127"/>
              <a:gd name="connsiteY0" fmla="*/ 4106779 h 4106779"/>
              <a:gd name="connsiteX1" fmla="*/ 4879480 w 5001127"/>
              <a:gd name="connsiteY1" fmla="*/ 4106779 h 4106779"/>
              <a:gd name="connsiteX2" fmla="*/ 5001127 w 5001127"/>
              <a:gd name="connsiteY2" fmla="*/ 3985132 h 4106779"/>
              <a:gd name="connsiteX3" fmla="*/ 5001127 w 5001127"/>
              <a:gd name="connsiteY3" fmla="*/ 370300 h 4106779"/>
              <a:gd name="connsiteX4" fmla="*/ 4879480 w 5001127"/>
              <a:gd name="connsiteY4" fmla="*/ 248653 h 4106779"/>
              <a:gd name="connsiteX5" fmla="*/ 2667343 w 5001127"/>
              <a:gd name="connsiteY5" fmla="*/ 248653 h 4106779"/>
              <a:gd name="connsiteX6" fmla="*/ 2500563 w 5001127"/>
              <a:gd name="connsiteY6" fmla="*/ 0 h 4106779"/>
              <a:gd name="connsiteX7" fmla="*/ 2333784 w 5001127"/>
              <a:gd name="connsiteY7" fmla="*/ 248653 h 4106779"/>
              <a:gd name="connsiteX8" fmla="*/ 121647 w 5001127"/>
              <a:gd name="connsiteY8" fmla="*/ 248653 h 4106779"/>
              <a:gd name="connsiteX9" fmla="*/ 0 w 5001127"/>
              <a:gd name="connsiteY9" fmla="*/ 370300 h 4106779"/>
              <a:gd name="connsiteX10" fmla="*/ 0 w 5001127"/>
              <a:gd name="connsiteY10" fmla="*/ 3985132 h 4106779"/>
              <a:gd name="connsiteX11" fmla="*/ 121647 w 5001127"/>
              <a:gd name="connsiteY11" fmla="*/ 4106779 h 4106779"/>
            </a:gdLst>
            <a:ahLst/>
            <a:cxnLst/>
            <a:rect l="l" t="t" r="r" b="b"/>
            <a:pathLst>
              <a:path w="5001127" h="4106779">
                <a:moveTo>
                  <a:pt x="121647" y="4106779"/>
                </a:moveTo>
                <a:lnTo>
                  <a:pt x="4879480" y="4106779"/>
                </a:lnTo>
                <a:cubicBezTo>
                  <a:pt x="4946664" y="4106779"/>
                  <a:pt x="5001127" y="4052316"/>
                  <a:pt x="5001127" y="3985132"/>
                </a:cubicBezTo>
                <a:lnTo>
                  <a:pt x="5001127" y="370300"/>
                </a:lnTo>
                <a:cubicBezTo>
                  <a:pt x="5001127" y="303116"/>
                  <a:pt x="4946664" y="248653"/>
                  <a:pt x="4879480" y="248653"/>
                </a:cubicBezTo>
                <a:lnTo>
                  <a:pt x="2667343" y="248653"/>
                </a:lnTo>
                <a:lnTo>
                  <a:pt x="2500563" y="0"/>
                </a:lnTo>
                <a:lnTo>
                  <a:pt x="2333784" y="248653"/>
                </a:lnTo>
                <a:lnTo>
                  <a:pt x="121647" y="248653"/>
                </a:lnTo>
                <a:cubicBezTo>
                  <a:pt x="54463" y="248653"/>
                  <a:pt x="0" y="303116"/>
                  <a:pt x="0" y="370300"/>
                </a:cubicBezTo>
                <a:lnTo>
                  <a:pt x="0" y="3985132"/>
                </a:lnTo>
                <a:cubicBezTo>
                  <a:pt x="0" y="4052316"/>
                  <a:pt x="54463" y="4106779"/>
                  <a:pt x="121647" y="4106779"/>
                </a:cubicBez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7" name="标题 1">
            <a:extLst>
              <a:ext uri="{FF2B5EF4-FFF2-40B4-BE49-F238E27FC236}">
                <a16:creationId xmlns:a16="http://schemas.microsoft.com/office/drawing/2014/main" id="{1B5D7F14-C22E-BA48-C6D7-CAD84EFDCDA8}"/>
              </a:ext>
            </a:extLst>
          </p:cNvPr>
          <p:cNvSpPr txBox="1"/>
          <p:nvPr/>
        </p:nvSpPr>
        <p:spPr>
          <a:xfrm>
            <a:off x="9402645" y="1644315"/>
            <a:ext cx="837611" cy="837611"/>
          </a:xfrm>
          <a:prstGeom prst="flowChartConnector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8" name="标题 1">
            <a:extLst>
              <a:ext uri="{FF2B5EF4-FFF2-40B4-BE49-F238E27FC236}">
                <a16:creationId xmlns:a16="http://schemas.microsoft.com/office/drawing/2014/main" id="{940EE24D-288A-998B-ED9D-0D9B041BA279}"/>
              </a:ext>
            </a:extLst>
          </p:cNvPr>
          <p:cNvSpPr txBox="1"/>
          <p:nvPr/>
        </p:nvSpPr>
        <p:spPr>
          <a:xfrm>
            <a:off x="8310189" y="3184901"/>
            <a:ext cx="3022524" cy="1997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系统通过数据加密、访问控制、SQL注入防护等措施保障数据安全，可靠性设计包含MySQL主从复制与定期备份策略。结合日志监控与异常处理机制提升容错能力，确保系统的安全性和可靠性，保护用户数据和隐私。</a:t>
            </a:r>
            <a:endParaRPr kumimoji="1" lang="zh-CN" altLang="en-US" dirty="0"/>
          </a:p>
        </p:txBody>
      </p:sp>
      <p:sp>
        <p:nvSpPr>
          <p:cNvPr id="59" name="标题 1">
            <a:extLst>
              <a:ext uri="{FF2B5EF4-FFF2-40B4-BE49-F238E27FC236}">
                <a16:creationId xmlns:a16="http://schemas.microsoft.com/office/drawing/2014/main" id="{12427AE3-7A72-7A26-B576-B5FA2E6630CE}"/>
              </a:ext>
            </a:extLst>
          </p:cNvPr>
          <p:cNvSpPr txBox="1"/>
          <p:nvPr/>
        </p:nvSpPr>
        <p:spPr>
          <a:xfrm>
            <a:off x="9616067" y="1857706"/>
            <a:ext cx="410770" cy="410830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0" name="标题 1">
            <a:extLst>
              <a:ext uri="{FF2B5EF4-FFF2-40B4-BE49-F238E27FC236}">
                <a16:creationId xmlns:a16="http://schemas.microsoft.com/office/drawing/2014/main" id="{119F8F12-8754-8713-7006-A81CA1C99940}"/>
              </a:ext>
            </a:extLst>
          </p:cNvPr>
          <p:cNvSpPr txBox="1"/>
          <p:nvPr/>
        </p:nvSpPr>
        <p:spPr>
          <a:xfrm>
            <a:off x="8310189" y="2582687"/>
            <a:ext cx="3022524" cy="5712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B81B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安全可靠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52854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0397-6EDF-CBB6-16D7-4C9059B3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7D99944-E692-B237-6A70-37AE26D32284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63B9A6C3-9E12-E0C7-D121-4DA02A8313B0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系统架构设计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5989003-5F88-0360-C144-5071B85DD4D7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22" name="矩形 4">
              <a:extLst>
                <a:ext uri="{FF2B5EF4-FFF2-40B4-BE49-F238E27FC236}">
                  <a16:creationId xmlns:a16="http://schemas.microsoft.com/office/drawing/2014/main" id="{1209C172-233B-87D1-C7E9-40ED4B5CF555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DF4A9EB-07D6-2E8B-AA98-6EE35EA42283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E44964E-A917-B5E8-5552-5871DC418498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15903AB-B633-097A-DD49-35497C5AB2DA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7C7B8AD0-716F-7B01-E9DE-D1672EE731F5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6C43AC01-D478-387F-F8EB-2B75D5AF79A4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F2CDD7D0-28AC-F485-3ED6-1E5895F35669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3610429B-325C-1B41-2B3D-9DA7B93B1379}"/>
                </a:ext>
              </a:extLst>
            </p:cNvPr>
            <p:cNvSpPr txBox="1"/>
            <p:nvPr/>
          </p:nvSpPr>
          <p:spPr>
            <a:xfrm>
              <a:off x="7820483" y="21589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B7BBE55E-1F09-1255-6DA0-98D4D7C52CB8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664655E-FECA-0BF1-AAA1-0479A0CBD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88" name="TextBox 9">
              <a:extLst>
                <a:ext uri="{FF2B5EF4-FFF2-40B4-BE49-F238E27FC236}">
                  <a16:creationId xmlns:a16="http://schemas.microsoft.com/office/drawing/2014/main" id="{D42AADBA-B5C0-564E-0407-258D6B77972B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2EA1B9FE-79B8-B250-3F2A-06768BDEFCFC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FB9C8CB-FC09-ED8A-1991-C9A5BC99DF3E}"/>
              </a:ext>
            </a:extLst>
          </p:cNvPr>
          <p:cNvSpPr txBox="1"/>
          <p:nvPr/>
        </p:nvSpPr>
        <p:spPr>
          <a:xfrm rot="5400000" flipH="1">
            <a:off x="3315386" y="-880330"/>
            <a:ext cx="1458411" cy="6528307"/>
          </a:xfrm>
          <a:prstGeom prst="round2DiagRect">
            <a:avLst>
              <a:gd name="adj1" fmla="val 37162"/>
              <a:gd name="adj2" fmla="val 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F0EB136-780F-6883-5625-5DAA8DFA21C7}"/>
              </a:ext>
            </a:extLst>
          </p:cNvPr>
          <p:cNvSpPr txBox="1"/>
          <p:nvPr/>
        </p:nvSpPr>
        <p:spPr>
          <a:xfrm>
            <a:off x="774030" y="1584763"/>
            <a:ext cx="402420" cy="402420"/>
          </a:xfrm>
          <a:prstGeom prst="ellipse">
            <a:avLst/>
          </a:prstGeom>
          <a:noFill/>
          <a:ln w="317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716F63D-BC08-B9D7-E5EC-FEE67D87E84B}"/>
              </a:ext>
            </a:extLst>
          </p:cNvPr>
          <p:cNvSpPr txBox="1"/>
          <p:nvPr/>
        </p:nvSpPr>
        <p:spPr>
          <a:xfrm>
            <a:off x="766726" y="1551572"/>
            <a:ext cx="177924" cy="17792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5143E6E-EFF8-A6C0-E6CB-5DD09563624E}"/>
              </a:ext>
            </a:extLst>
          </p:cNvPr>
          <p:cNvSpPr txBox="1"/>
          <p:nvPr/>
        </p:nvSpPr>
        <p:spPr>
          <a:xfrm>
            <a:off x="1432201" y="2159408"/>
            <a:ext cx="5451675" cy="8545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65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系统采用B</a:t>
            </a:r>
            <a:r>
              <a:rPr kumimoji="1" lang="en-US" altLang="zh-CN" sz="1065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/</a:t>
            </a:r>
            <a:r>
              <a:rPr kumimoji="1" lang="en-US" altLang="zh-CN" sz="1065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S架构，后端采用Django框架构建，数据库使用MySQL</a:t>
            </a:r>
            <a:r>
              <a:rPr kumimoji="1" lang="en-US" altLang="zh-CN" sz="1065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8.0.12，前端采用HTML5、CSS3和JavaScript技术栈。
引入Redis缓存、Celery消息队列、MinIO文件存储、ELK日志系统和Prometheus监控系统等组件，构建了一个完整的分布式应用架构，通过Web浏览器提供服务访问。</a:t>
            </a:r>
            <a:endParaRPr kumimoji="1"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F9382A2-4072-4C40-5F28-6580A6D4F6BD}"/>
              </a:ext>
            </a:extLst>
          </p:cNvPr>
          <p:cNvSpPr txBox="1"/>
          <p:nvPr/>
        </p:nvSpPr>
        <p:spPr>
          <a:xfrm>
            <a:off x="1431506" y="1703859"/>
            <a:ext cx="5466293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系统运行架构</a:t>
            </a:r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8339F7D-EAB8-118A-EC67-545CD77699E3}"/>
              </a:ext>
            </a:extLst>
          </p:cNvPr>
          <p:cNvSpPr txBox="1"/>
          <p:nvPr/>
        </p:nvSpPr>
        <p:spPr>
          <a:xfrm rot="5400000" flipH="1">
            <a:off x="5679099" y="887382"/>
            <a:ext cx="1458411" cy="6528307"/>
          </a:xfrm>
          <a:prstGeom prst="round2DiagRect">
            <a:avLst>
              <a:gd name="adj1" fmla="val 37162"/>
              <a:gd name="adj2" fmla="val 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7A9BB12-3B44-DD9F-8FB6-81A47BCE4E7F}"/>
              </a:ext>
            </a:extLst>
          </p:cNvPr>
          <p:cNvSpPr txBox="1"/>
          <p:nvPr/>
        </p:nvSpPr>
        <p:spPr>
          <a:xfrm>
            <a:off x="3137743" y="3352475"/>
            <a:ext cx="402420" cy="402420"/>
          </a:xfrm>
          <a:prstGeom prst="ellipse">
            <a:avLst/>
          </a:prstGeom>
          <a:noFill/>
          <a:ln w="317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D01C0154-668E-A9A7-BA35-35339E5FECB5}"/>
              </a:ext>
            </a:extLst>
          </p:cNvPr>
          <p:cNvSpPr txBox="1"/>
          <p:nvPr/>
        </p:nvSpPr>
        <p:spPr>
          <a:xfrm>
            <a:off x="3130439" y="3319284"/>
            <a:ext cx="177924" cy="17792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5FCE159C-EE62-2E27-A7FA-D9B6800DF01C}"/>
              </a:ext>
            </a:extLst>
          </p:cNvPr>
          <p:cNvSpPr txBox="1"/>
          <p:nvPr/>
        </p:nvSpPr>
        <p:spPr>
          <a:xfrm>
            <a:off x="3795914" y="3927120"/>
            <a:ext cx="5451675" cy="8545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948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系统采用前后端分离的架构设计，前端负责页面展示和用户交互，后端提供RESTful API接口。
数据库层负责数据持久化存储，缓存层提升访问性能，消息队列处理异步任务，文件存储系统管理媒体文件，日志系统记录运行状态，监控系统保障系统性能，这种分层架构设计使得系统具有良好的可扩展性和可维护性。</a:t>
            </a: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36738BD1-E062-3246-86AA-5756DD202ECA}"/>
              </a:ext>
            </a:extLst>
          </p:cNvPr>
          <p:cNvSpPr txBox="1"/>
          <p:nvPr/>
        </p:nvSpPr>
        <p:spPr>
          <a:xfrm>
            <a:off x="3795219" y="3471571"/>
            <a:ext cx="5466293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Web服务运行结构</a:t>
            </a: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29B62D58-8564-3A98-BB07-96FF0896A2F8}"/>
              </a:ext>
            </a:extLst>
          </p:cNvPr>
          <p:cNvSpPr txBox="1"/>
          <p:nvPr/>
        </p:nvSpPr>
        <p:spPr>
          <a:xfrm rot="5400000" flipH="1">
            <a:off x="7631867" y="2655093"/>
            <a:ext cx="1458411" cy="6528307"/>
          </a:xfrm>
          <a:prstGeom prst="round2DiagRect">
            <a:avLst>
              <a:gd name="adj1" fmla="val 37162"/>
              <a:gd name="adj2" fmla="val 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D274C1EB-AD62-6E9B-EF3A-3EC621144820}"/>
              </a:ext>
            </a:extLst>
          </p:cNvPr>
          <p:cNvSpPr txBox="1"/>
          <p:nvPr/>
        </p:nvSpPr>
        <p:spPr>
          <a:xfrm>
            <a:off x="5090511" y="5120186"/>
            <a:ext cx="402420" cy="402420"/>
          </a:xfrm>
          <a:prstGeom prst="ellipse">
            <a:avLst/>
          </a:prstGeom>
          <a:noFill/>
          <a:ln w="317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9C66EED4-0E82-4D15-2BFC-90B17815EDB6}"/>
              </a:ext>
            </a:extLst>
          </p:cNvPr>
          <p:cNvSpPr txBox="1"/>
          <p:nvPr/>
        </p:nvSpPr>
        <p:spPr>
          <a:xfrm>
            <a:off x="5083207" y="5086995"/>
            <a:ext cx="177924" cy="17792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69127B4D-FBA5-2C65-92D5-90777E9BAA25}"/>
              </a:ext>
            </a:extLst>
          </p:cNvPr>
          <p:cNvSpPr txBox="1"/>
          <p:nvPr/>
        </p:nvSpPr>
        <p:spPr>
          <a:xfrm>
            <a:off x="5748682" y="5694831"/>
            <a:ext cx="5451675" cy="8545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65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系统选择MySQL 8.0.12作为主数据库，设计了多张核心数据表，包括用户表、搜索历史表、微博数据表、评论数据表等。
各数据表根据功能需求进行结构设计，设置了必要的字段和索引，以支持系统在数据采集、查询、分析等环节的高效运行，表与表之间通过外键建立关联，构建出完整的数据模型。</a:t>
            </a:r>
            <a:endParaRPr kumimoji="1"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0AA9D7F3-21A4-4A80-051D-068DBBE4226D}"/>
              </a:ext>
            </a:extLst>
          </p:cNvPr>
          <p:cNvSpPr txBox="1"/>
          <p:nvPr/>
        </p:nvSpPr>
        <p:spPr>
          <a:xfrm>
            <a:off x="5747987" y="5239282"/>
            <a:ext cx="5466293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数据库设计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27900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2EDD-2A69-25F4-DAA2-45200EB7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72050DD-F265-CB2A-D4A3-7B6CF5012884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CC80C923-AD2F-0845-F123-45EABC2ED535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ABF9C70-76AD-4862-F489-C4AC05DE227C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22" name="矩形 4">
              <a:extLst>
                <a:ext uri="{FF2B5EF4-FFF2-40B4-BE49-F238E27FC236}">
                  <a16:creationId xmlns:a16="http://schemas.microsoft.com/office/drawing/2014/main" id="{CCCC6B84-CB98-FD5F-ADB0-65193FAE2DB3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EA91748-DDA4-D6C5-01AA-17FC0DD1040C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BDB5B1B-F304-4C9D-70FB-0BBF34CDCBFA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5F550665-E11F-F9E8-15DF-9148BBD51778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96A8DDCE-6D20-DBF4-D060-3C16DDBB64A6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31505B58-86D6-1F1A-52E3-B989E70A47EB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452353C-20C5-8FCA-5021-1033B783814C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F543627D-9EAE-909D-22EA-C3042BA12C9D}"/>
                </a:ext>
              </a:extLst>
            </p:cNvPr>
            <p:cNvSpPr txBox="1"/>
            <p:nvPr/>
          </p:nvSpPr>
          <p:spPr>
            <a:xfrm>
              <a:off x="7820483" y="21589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A592C1C4-0FBF-DC87-CA5F-FA967CFD8ACD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1506469D-AEEE-E19E-3935-2DBD8ED05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88" name="TextBox 9">
              <a:extLst>
                <a:ext uri="{FF2B5EF4-FFF2-40B4-BE49-F238E27FC236}">
                  <a16:creationId xmlns:a16="http://schemas.microsoft.com/office/drawing/2014/main" id="{3CB713BA-34E6-4FF7-4FA0-CB3CB52ECC4C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BDF418DF-DBF4-D01A-5A45-E135E85893B7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F0E70E40-CA8A-9D02-1FB6-E94295815013}"/>
              </a:ext>
            </a:extLst>
          </p:cNvPr>
          <p:cNvSpPr txBox="1"/>
          <p:nvPr/>
        </p:nvSpPr>
        <p:spPr>
          <a:xfrm>
            <a:off x="1431506" y="1703859"/>
            <a:ext cx="5466293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系统运行架构</a:t>
            </a:r>
            <a:endParaRPr kumimoji="1"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D3CF8CC5-0C2F-F8E2-9522-5FF65E73EA56}"/>
              </a:ext>
            </a:extLst>
          </p:cNvPr>
          <p:cNvSpPr txBox="1"/>
          <p:nvPr/>
        </p:nvSpPr>
        <p:spPr>
          <a:xfrm rot="4100204">
            <a:off x="9232579" y="2742054"/>
            <a:ext cx="2240736" cy="2240736"/>
          </a:xfrm>
          <a:prstGeom prst="donut">
            <a:avLst>
              <a:gd name="adj" fmla="val 3250"/>
            </a:avLst>
          </a:prstGeom>
          <a:gradFill>
            <a:gsLst>
              <a:gs pos="0">
                <a:schemeClr val="accent1"/>
              </a:gs>
              <a:gs pos="81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9452FE9F-1915-8A9D-3401-C7C68538AAE6}"/>
              </a:ext>
            </a:extLst>
          </p:cNvPr>
          <p:cNvSpPr txBox="1"/>
          <p:nvPr/>
        </p:nvSpPr>
        <p:spPr>
          <a:xfrm rot="4500000">
            <a:off x="5448883" y="2254193"/>
            <a:ext cx="3216458" cy="3216458"/>
          </a:xfrm>
          <a:prstGeom prst="donut">
            <a:avLst>
              <a:gd name="adj" fmla="val 2864"/>
            </a:avLst>
          </a:prstGeom>
          <a:gradFill>
            <a:gsLst>
              <a:gs pos="0">
                <a:schemeClr val="accent1"/>
              </a:gs>
              <a:gs pos="76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F59AE9A3-BC25-793E-94C2-0A5939ECB6AD}"/>
              </a:ext>
            </a:extLst>
          </p:cNvPr>
          <p:cNvSpPr txBox="1"/>
          <p:nvPr/>
        </p:nvSpPr>
        <p:spPr>
          <a:xfrm rot="5400000">
            <a:off x="3294450" y="2582262"/>
            <a:ext cx="2560320" cy="2560320"/>
          </a:xfrm>
          <a:prstGeom prst="donut">
            <a:avLst>
              <a:gd name="adj" fmla="val 3189"/>
            </a:avLst>
          </a:prstGeom>
          <a:gradFill>
            <a:gsLst>
              <a:gs pos="0">
                <a:schemeClr val="accent1"/>
              </a:gs>
              <a:gs pos="73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AADBE3A5-A10C-27B5-555E-8079AEBF6244}"/>
              </a:ext>
            </a:extLst>
          </p:cNvPr>
          <p:cNvSpPr txBox="1"/>
          <p:nvPr/>
        </p:nvSpPr>
        <p:spPr>
          <a:xfrm>
            <a:off x="796954" y="3900881"/>
            <a:ext cx="11459362" cy="7550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82329F2A-9DD3-CE6E-B55E-06F19183D930}"/>
              </a:ext>
            </a:extLst>
          </p:cNvPr>
          <p:cNvSpPr txBox="1"/>
          <p:nvPr/>
        </p:nvSpPr>
        <p:spPr>
          <a:xfrm>
            <a:off x="5717572" y="3850547"/>
            <a:ext cx="209724" cy="20972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5E14C0F4-2CCB-52F9-2EB8-12BE44059568}"/>
              </a:ext>
            </a:extLst>
          </p:cNvPr>
          <p:cNvSpPr txBox="1"/>
          <p:nvPr/>
        </p:nvSpPr>
        <p:spPr>
          <a:xfrm>
            <a:off x="8513374" y="3850547"/>
            <a:ext cx="209724" cy="20972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E20855AD-4B1D-18D8-F2E6-13BC1F430424}"/>
              </a:ext>
            </a:extLst>
          </p:cNvPr>
          <p:cNvSpPr txBox="1"/>
          <p:nvPr/>
        </p:nvSpPr>
        <p:spPr>
          <a:xfrm>
            <a:off x="11309176" y="3850547"/>
            <a:ext cx="209724" cy="20972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3812B3A2-148D-8514-CD37-7D0C467C8C1F}"/>
              </a:ext>
            </a:extLst>
          </p:cNvPr>
          <p:cNvSpPr txBox="1"/>
          <p:nvPr/>
        </p:nvSpPr>
        <p:spPr>
          <a:xfrm rot="3600000">
            <a:off x="-404864" y="2125061"/>
            <a:ext cx="3474720" cy="3474720"/>
          </a:xfrm>
          <a:prstGeom prst="donut">
            <a:avLst>
              <a:gd name="adj" fmla="val 2338"/>
            </a:avLst>
          </a:prstGeom>
          <a:gradFill>
            <a:gsLst>
              <a:gs pos="0">
                <a:schemeClr val="accent1"/>
              </a:gs>
              <a:gs pos="67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8" name="标题 1">
            <a:extLst>
              <a:ext uri="{FF2B5EF4-FFF2-40B4-BE49-F238E27FC236}">
                <a16:creationId xmlns:a16="http://schemas.microsoft.com/office/drawing/2014/main" id="{7AA53293-A390-257E-703F-EE4DB8111686}"/>
              </a:ext>
            </a:extLst>
          </p:cNvPr>
          <p:cNvSpPr txBox="1"/>
          <p:nvPr/>
        </p:nvSpPr>
        <p:spPr>
          <a:xfrm>
            <a:off x="2921770" y="3850547"/>
            <a:ext cx="209724" cy="20972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>
            <a:extLst>
              <a:ext uri="{FF2B5EF4-FFF2-40B4-BE49-F238E27FC236}">
                <a16:creationId xmlns:a16="http://schemas.microsoft.com/office/drawing/2014/main" id="{06BB0CE4-B9D4-3933-F043-0BA31C8DB952}"/>
              </a:ext>
            </a:extLst>
          </p:cNvPr>
          <p:cNvSpPr txBox="1"/>
          <p:nvPr/>
        </p:nvSpPr>
        <p:spPr>
          <a:xfrm>
            <a:off x="660400" y="4376838"/>
            <a:ext cx="242280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用户管理接口</a:t>
            </a:r>
            <a:endParaRPr kumimoji="1" lang="zh-CN" altLang="en-US"/>
          </a:p>
        </p:txBody>
      </p:sp>
      <p:sp>
        <p:nvSpPr>
          <p:cNvPr id="40" name="标题 1">
            <a:extLst>
              <a:ext uri="{FF2B5EF4-FFF2-40B4-BE49-F238E27FC236}">
                <a16:creationId xmlns:a16="http://schemas.microsoft.com/office/drawing/2014/main" id="{F9F3BC94-1DFC-1312-693C-902C679308AB}"/>
              </a:ext>
            </a:extLst>
          </p:cNvPr>
          <p:cNvSpPr txBox="1"/>
          <p:nvPr/>
        </p:nvSpPr>
        <p:spPr>
          <a:xfrm>
            <a:off x="660400" y="4855836"/>
            <a:ext cx="2422800" cy="13798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058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用户管理接口主要包括用户认证相关接口和用户信息相关接口，用户认证相关接口主要包括用户登录、注册等功能。
用户信息相关接口主要包括信息修改、用户管理等功能，通过这些接口实现对用户身份的验证和管理，确保系统的权限分离和数据安全。</a:t>
            </a:r>
            <a:endParaRPr kumimoji="1" lang="zh-CN" altLang="en-US"/>
          </a:p>
        </p:txBody>
      </p:sp>
      <p:sp>
        <p:nvSpPr>
          <p:cNvPr id="41" name="标题 1">
            <a:extLst>
              <a:ext uri="{FF2B5EF4-FFF2-40B4-BE49-F238E27FC236}">
                <a16:creationId xmlns:a16="http://schemas.microsoft.com/office/drawing/2014/main" id="{4682DC84-2D87-31F4-1700-E6EE919CD409}"/>
              </a:ext>
            </a:extLst>
          </p:cNvPr>
          <p:cNvSpPr txBox="1"/>
          <p:nvPr/>
        </p:nvSpPr>
        <p:spPr>
          <a:xfrm>
            <a:off x="3472300" y="4376838"/>
            <a:ext cx="242280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搜索接口</a:t>
            </a:r>
            <a:endParaRPr kumimoji="1" lang="zh-CN" altLang="en-US"/>
          </a:p>
        </p:txBody>
      </p:sp>
      <p:sp>
        <p:nvSpPr>
          <p:cNvPr id="42" name="标题 1">
            <a:extLst>
              <a:ext uri="{FF2B5EF4-FFF2-40B4-BE49-F238E27FC236}">
                <a16:creationId xmlns:a16="http://schemas.microsoft.com/office/drawing/2014/main" id="{F6F29A89-67AC-47BA-1B8F-0BAFF5F8200F}"/>
              </a:ext>
            </a:extLst>
          </p:cNvPr>
          <p:cNvSpPr txBox="1"/>
          <p:nvPr/>
        </p:nvSpPr>
        <p:spPr>
          <a:xfrm>
            <a:off x="3472300" y="4855836"/>
            <a:ext cx="2422800" cy="13798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058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搜索接口提供了微博数据搜索和历史记录管理功能，搜索页面接口返回搜索界面，搜索处理接口执行实际的搜索操作。
历史记录接口展示用户的搜索历史，删除历史接口允许用户清理历史记录，这些接口共同构成了系统的搜索功能模块，为用户提供便捷的数据查询服务。</a:t>
            </a:r>
            <a:endParaRPr kumimoji="1" lang="zh-CN" altLang="en-US"/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DFA1D6E9-CA32-73F2-FB66-E657ACFA4AED}"/>
              </a:ext>
            </a:extLst>
          </p:cNvPr>
          <p:cNvSpPr txBox="1"/>
          <p:nvPr/>
        </p:nvSpPr>
        <p:spPr>
          <a:xfrm>
            <a:off x="9096100" y="4376838"/>
            <a:ext cx="242280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预测分析接口</a:t>
            </a:r>
            <a:endParaRPr kumimoji="1" lang="zh-CN" altLang="en-US"/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380C05B2-EF64-607A-9767-881B14EE812B}"/>
              </a:ext>
            </a:extLst>
          </p:cNvPr>
          <p:cNvSpPr txBox="1"/>
          <p:nvPr/>
        </p:nvSpPr>
        <p:spPr>
          <a:xfrm>
            <a:off x="9096100" y="4855836"/>
            <a:ext cx="2422800" cy="13798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058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预测分析接口实现了舆情趋势预测功能，预测绘制接口生成预测图表，预测数据接口提供预测数据。
这些接口基于时间序列分析算法，对舆情发展趋势进行预测，帮助用户把握舆情走向，为舆情管理提供前瞻性支持。</a:t>
            </a:r>
            <a:endParaRPr kumimoji="1" lang="zh-CN" altLang="en-US"/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D97857DA-051A-4A2C-2058-620A03844035}"/>
              </a:ext>
            </a:extLst>
          </p:cNvPr>
          <p:cNvSpPr txBox="1"/>
          <p:nvPr/>
        </p:nvSpPr>
        <p:spPr>
          <a:xfrm>
            <a:off x="6284200" y="4376838"/>
            <a:ext cx="242280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数据分析接口</a:t>
            </a:r>
            <a:endParaRPr kumimoji="1" lang="zh-CN" altLang="en-US"/>
          </a:p>
        </p:txBody>
      </p:sp>
      <p:sp>
        <p:nvSpPr>
          <p:cNvPr id="46" name="标题 1">
            <a:extLst>
              <a:ext uri="{FF2B5EF4-FFF2-40B4-BE49-F238E27FC236}">
                <a16:creationId xmlns:a16="http://schemas.microsoft.com/office/drawing/2014/main" id="{B97D3A0E-16D3-C7F7-12D7-2E3742B99DFB}"/>
              </a:ext>
            </a:extLst>
          </p:cNvPr>
          <p:cNvSpPr txBox="1"/>
          <p:nvPr/>
        </p:nvSpPr>
        <p:spPr>
          <a:xfrm>
            <a:off x="6284200" y="4855836"/>
            <a:ext cx="2422800" cy="13798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058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数据分析接口提供了多种数据可视化功能，词云图接口生成关键词云图，地图相关接口展示地域分布，区域分析接口提供区域维度的数据分析。
这些接口通过ECharts等可视化库，将复杂的数据以直观的图表形式展现给用户，帮助用户快速理解和分析舆情数据。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77241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831E-8056-6683-82DA-D1CFC504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0078C15-1FB1-4C29-DFA4-B4839F18AB61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35CC7D27-26FD-37FF-7D3D-757D6301A358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EBB815A-E114-F22D-1931-21B002AC6102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22" name="矩形 4">
              <a:extLst>
                <a:ext uri="{FF2B5EF4-FFF2-40B4-BE49-F238E27FC236}">
                  <a16:creationId xmlns:a16="http://schemas.microsoft.com/office/drawing/2014/main" id="{B3A119EF-ADB9-54A7-24B9-F509DCD7CD1D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279B99A-345B-E0DD-DDCF-42E9B4E21A7F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6A8EBC8-644E-E079-EA0C-677CB2943FEA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1E0632A-4972-9DE2-E58C-5058CC230C4F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FEBBB299-9DE1-8AA4-01F5-B4BC51CB3F8D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95AA7CF6-E7C5-3248-517A-32E739E1974F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110FECE8-CDA2-FECE-3CE0-3F5EE30ACD82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E3205A13-FD4F-C4FD-6577-2A6F3F87D422}"/>
                </a:ext>
              </a:extLst>
            </p:cNvPr>
            <p:cNvSpPr txBox="1"/>
            <p:nvPr/>
          </p:nvSpPr>
          <p:spPr>
            <a:xfrm>
              <a:off x="7820483" y="21589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9E78B527-167A-522F-FD30-B2AA2F5091CB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6DCE6E91-CAA4-426A-1961-C10EC9EE0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88" name="TextBox 9">
              <a:extLst>
                <a:ext uri="{FF2B5EF4-FFF2-40B4-BE49-F238E27FC236}">
                  <a16:creationId xmlns:a16="http://schemas.microsoft.com/office/drawing/2014/main" id="{32A878BB-C2B3-9B1F-FC7E-83E04AC795A1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4F74BD8D-38B1-B064-B528-A023F1D9DAC4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05ACE3B-B375-1C48-DB57-D6268C59ACB6}"/>
              </a:ext>
            </a:extLst>
          </p:cNvPr>
          <p:cNvSpPr txBox="1"/>
          <p:nvPr/>
        </p:nvSpPr>
        <p:spPr>
          <a:xfrm>
            <a:off x="1371402" y="1460573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A4D30D8-1027-053F-41A1-EB6BD22118BD}"/>
              </a:ext>
            </a:extLst>
          </p:cNvPr>
          <p:cNvSpPr txBox="1"/>
          <p:nvPr/>
        </p:nvSpPr>
        <p:spPr>
          <a:xfrm>
            <a:off x="1638956" y="2051433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4CC0C83-C2CA-728F-39F6-4A333D3D15D8}"/>
              </a:ext>
            </a:extLst>
          </p:cNvPr>
          <p:cNvSpPr txBox="1"/>
          <p:nvPr/>
        </p:nvSpPr>
        <p:spPr>
          <a:xfrm>
            <a:off x="4213386" y="1460573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FD0FD23-060E-103B-4DBB-87C9F1BBDE57}"/>
              </a:ext>
            </a:extLst>
          </p:cNvPr>
          <p:cNvSpPr txBox="1"/>
          <p:nvPr/>
        </p:nvSpPr>
        <p:spPr>
          <a:xfrm>
            <a:off x="4480940" y="2051433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9F2647F-8754-C08A-C042-3DFD6F439B0B}"/>
              </a:ext>
            </a:extLst>
          </p:cNvPr>
          <p:cNvSpPr txBox="1"/>
          <p:nvPr/>
        </p:nvSpPr>
        <p:spPr>
          <a:xfrm>
            <a:off x="7051644" y="1460573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342C8C6-C790-7163-B0D3-E4E21BF9BC4A}"/>
              </a:ext>
            </a:extLst>
          </p:cNvPr>
          <p:cNvSpPr txBox="1"/>
          <p:nvPr/>
        </p:nvSpPr>
        <p:spPr>
          <a:xfrm>
            <a:off x="7319198" y="2051433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453DE88-6E77-4718-44B5-22B832173BAF}"/>
              </a:ext>
            </a:extLst>
          </p:cNvPr>
          <p:cNvSpPr txBox="1"/>
          <p:nvPr/>
        </p:nvSpPr>
        <p:spPr>
          <a:xfrm>
            <a:off x="9889902" y="1460573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04</a:t>
            </a:r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706CFBE1-424E-890F-6101-3E581E940ADE}"/>
              </a:ext>
            </a:extLst>
          </p:cNvPr>
          <p:cNvSpPr txBox="1"/>
          <p:nvPr/>
        </p:nvSpPr>
        <p:spPr>
          <a:xfrm>
            <a:off x="10157456" y="2051433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575B57CD-7B14-333E-3C0D-E23CFD94E7B8}"/>
              </a:ext>
            </a:extLst>
          </p:cNvPr>
          <p:cNvSpPr txBox="1"/>
          <p:nvPr/>
        </p:nvSpPr>
        <p:spPr>
          <a:xfrm>
            <a:off x="741402" y="2334146"/>
            <a:ext cx="2340000" cy="37335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用户认证控制模块</a:t>
            </a: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9CD5778-0450-27EA-3F4E-7AB729AD2B9C}"/>
              </a:ext>
            </a:extLst>
          </p:cNvPr>
          <p:cNvSpPr txBox="1"/>
          <p:nvPr/>
        </p:nvSpPr>
        <p:spPr>
          <a:xfrm>
            <a:off x="741402" y="2758365"/>
            <a:ext cx="23400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5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用户认证控制模块负责用户的身份验证管理，主要通过用户注册、登录时对用户身份信息的验证，能够确保系统的权限分离。
让不同权限用户能够看到不同的界面，同时阻止不安全的访问，保障系统的安全性和稳定性。</a:t>
            </a:r>
            <a:endParaRPr kumimoji="1"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4DF3A174-6B71-9614-F86F-1F5D026E6BF2}"/>
              </a:ext>
            </a:extLst>
          </p:cNvPr>
          <p:cNvSpPr txBox="1"/>
          <p:nvPr/>
        </p:nvSpPr>
        <p:spPr>
          <a:xfrm>
            <a:off x="741402" y="4949360"/>
            <a:ext cx="2340000" cy="37335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用户活跃度分析模块</a:t>
            </a:r>
            <a:endParaRPr kumimoji="1"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A3406ABD-D461-D727-1DB9-1295C0F982E6}"/>
              </a:ext>
            </a:extLst>
          </p:cNvPr>
          <p:cNvSpPr txBox="1"/>
          <p:nvPr/>
        </p:nvSpPr>
        <p:spPr>
          <a:xfrm>
            <a:off x="741402" y="5373580"/>
            <a:ext cx="23400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837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用户活跃度分析模块主要评估微博用户的活跃度情况，构建了一个活跃度模型，通过分析用户的行为数据，如发帖、评论、点赞等行为的频率和数量，计算出活跃度分数并可视化展示。
另外通过结合地域等维度，能够展示地理热力图等，展现用户活跃度的分布特征，为舆情分析提供用户层面的参考信息。</a:t>
            </a:r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8AE4D04B-718D-AE2B-57FC-089FFAC18201}"/>
              </a:ext>
            </a:extLst>
          </p:cNvPr>
          <p:cNvSpPr txBox="1"/>
          <p:nvPr/>
        </p:nvSpPr>
        <p:spPr>
          <a:xfrm>
            <a:off x="3583386" y="2334146"/>
            <a:ext cx="2340000" cy="37335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微博数据爬虫模块</a:t>
            </a:r>
            <a:endParaRPr kumimoji="1"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533FD90B-F701-E5B9-78DA-48617B2C333F}"/>
              </a:ext>
            </a:extLst>
          </p:cNvPr>
          <p:cNvSpPr txBox="1"/>
          <p:nvPr/>
        </p:nvSpPr>
        <p:spPr>
          <a:xfrm>
            <a:off x="3583386" y="2758365"/>
            <a:ext cx="23400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5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微博数据爬虫模块主要是用于微博数据的爬取，通过分布式爬取等策略，能够突破微博平台的限制，采集微博正文、评论、转发等相关数据。
为后续的舆情分析提供数据支持，确保系统能够获取到最新的微博数据，及时反映舆情动态。</a:t>
            </a: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F361B3DF-623C-09C9-BE2B-E13152C1D9B8}"/>
              </a:ext>
            </a:extLst>
          </p:cNvPr>
          <p:cNvSpPr txBox="1"/>
          <p:nvPr/>
        </p:nvSpPr>
        <p:spPr>
          <a:xfrm>
            <a:off x="3583386" y="4949360"/>
            <a:ext cx="2340000" cy="37335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评论舆情分析模块</a:t>
            </a:r>
            <a:endParaRPr kumimoji="1" lang="zh-CN" altLang="en-US"/>
          </a:p>
        </p:txBody>
      </p:sp>
      <p:sp>
        <p:nvSpPr>
          <p:cNvPr id="48" name="标题 1">
            <a:extLst>
              <a:ext uri="{FF2B5EF4-FFF2-40B4-BE49-F238E27FC236}">
                <a16:creationId xmlns:a16="http://schemas.microsoft.com/office/drawing/2014/main" id="{0F5D5974-5561-F6CC-E3DD-66850EBD01F3}"/>
              </a:ext>
            </a:extLst>
          </p:cNvPr>
          <p:cNvSpPr txBox="1"/>
          <p:nvPr/>
        </p:nvSpPr>
        <p:spPr>
          <a:xfrm>
            <a:off x="3583386" y="5373580"/>
            <a:ext cx="23400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037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评论舆情分析模块实现了对微博评论区的舆情分析，能够筛选和展示微博的热门评论，生成关键词云图。
帮助用户了解评论区的主流观点与讨论焦点，进一步深入分析舆情的细节和趋势，为舆情应对提供依据。</a:t>
            </a:r>
            <a:endParaRPr kumimoji="1" lang="zh-CN" altLang="en-US"/>
          </a:p>
        </p:txBody>
      </p:sp>
      <p:sp>
        <p:nvSpPr>
          <p:cNvPr id="49" name="标题 1">
            <a:extLst>
              <a:ext uri="{FF2B5EF4-FFF2-40B4-BE49-F238E27FC236}">
                <a16:creationId xmlns:a16="http://schemas.microsoft.com/office/drawing/2014/main" id="{4DB17979-EC26-05CB-E348-B9F169566228}"/>
              </a:ext>
            </a:extLst>
          </p:cNvPr>
          <p:cNvSpPr txBox="1"/>
          <p:nvPr/>
        </p:nvSpPr>
        <p:spPr>
          <a:xfrm>
            <a:off x="6421644" y="2334146"/>
            <a:ext cx="2340000" cy="37335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热度事件分析模块</a:t>
            </a:r>
            <a:endParaRPr kumimoji="1" lang="zh-CN" altLang="en-US"/>
          </a:p>
        </p:txBody>
      </p:sp>
      <p:sp>
        <p:nvSpPr>
          <p:cNvPr id="50" name="标题 1">
            <a:extLst>
              <a:ext uri="{FF2B5EF4-FFF2-40B4-BE49-F238E27FC236}">
                <a16:creationId xmlns:a16="http://schemas.microsoft.com/office/drawing/2014/main" id="{2E35E65A-1154-5A57-E7C0-7741A7294C1E}"/>
              </a:ext>
            </a:extLst>
          </p:cNvPr>
          <p:cNvSpPr txBox="1"/>
          <p:nvPr/>
        </p:nvSpPr>
        <p:spPr>
          <a:xfrm>
            <a:off x="6421644" y="2758365"/>
            <a:ext cx="23400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5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热度事件分析模块主要是分析微博热点事件，并对事件进行热度打分，构建了一个热度分数计算模型，综合考虑了微博的各项互动指标。
能够筛选具有较高关注度的热点事件并展示，帮助用户快速把握舆情热点，为舆情监测和分析提供重点方向。</a:t>
            </a:r>
            <a:endParaRPr kumimoji="1" lang="zh-CN" altLang="en-US"/>
          </a:p>
        </p:txBody>
      </p:sp>
      <p:sp>
        <p:nvSpPr>
          <p:cNvPr id="51" name="标题 1">
            <a:extLst>
              <a:ext uri="{FF2B5EF4-FFF2-40B4-BE49-F238E27FC236}">
                <a16:creationId xmlns:a16="http://schemas.microsoft.com/office/drawing/2014/main" id="{2AA6E393-D39A-069A-F707-17765344F465}"/>
              </a:ext>
            </a:extLst>
          </p:cNvPr>
          <p:cNvSpPr txBox="1"/>
          <p:nvPr/>
        </p:nvSpPr>
        <p:spPr>
          <a:xfrm>
            <a:off x="6421644" y="4949360"/>
            <a:ext cx="2340000" cy="37335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舆情预测模块</a:t>
            </a:r>
            <a:endParaRPr kumimoji="1" lang="zh-CN" altLang="en-US"/>
          </a:p>
        </p:txBody>
      </p:sp>
      <p:sp>
        <p:nvSpPr>
          <p:cNvPr id="52" name="标题 1">
            <a:extLst>
              <a:ext uri="{FF2B5EF4-FFF2-40B4-BE49-F238E27FC236}">
                <a16:creationId xmlns:a16="http://schemas.microsoft.com/office/drawing/2014/main" id="{1DA0B1BD-973A-867E-B51C-032BA687B1AB}"/>
              </a:ext>
            </a:extLst>
          </p:cNvPr>
          <p:cNvSpPr txBox="1"/>
          <p:nvPr/>
        </p:nvSpPr>
        <p:spPr>
          <a:xfrm>
            <a:off x="6421644" y="5373580"/>
            <a:ext cx="23400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5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舆情预测模块能够基于历史舆情数据，运用时间序列分析等相关技术，对未来一段时间内的舆情热度、情感趋势进行预测。
并将预测结果以可视化的形式呈现，帮助用户把握舆情走向，提前做好应对准备，提升舆情管理的前瞻性和主动性。</a:t>
            </a:r>
            <a:endParaRPr kumimoji="1" lang="zh-CN" altLang="en-US"/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433719DF-2384-6972-BBEC-18E2D4B8439F}"/>
              </a:ext>
            </a:extLst>
          </p:cNvPr>
          <p:cNvSpPr txBox="1"/>
          <p:nvPr/>
        </p:nvSpPr>
        <p:spPr>
          <a:xfrm>
            <a:off x="9259902" y="2334146"/>
            <a:ext cx="2340000" cy="37335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舆情情感分析模块</a:t>
            </a:r>
            <a:endParaRPr kumimoji="1" lang="zh-CN" altLang="en-US"/>
          </a:p>
        </p:txBody>
      </p:sp>
      <p:sp>
        <p:nvSpPr>
          <p:cNvPr id="54" name="标题 1">
            <a:extLst>
              <a:ext uri="{FF2B5EF4-FFF2-40B4-BE49-F238E27FC236}">
                <a16:creationId xmlns:a16="http://schemas.microsoft.com/office/drawing/2014/main" id="{CA3BC268-3325-E1B1-1F1D-A5F08027BAD5}"/>
              </a:ext>
            </a:extLst>
          </p:cNvPr>
          <p:cNvSpPr txBox="1"/>
          <p:nvPr/>
        </p:nvSpPr>
        <p:spPr>
          <a:xfrm>
            <a:off x="9259902" y="2758365"/>
            <a:ext cx="23400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5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舆情情感分析模块主要是分析微博文本的情感倾向，通过BERT和朴素贝叶斯分类器将文本的情感倾向归类，实现文本的情感分类与舆情分析。
为舆情监测与趋势判断提供支持，帮助用户了解公众对特定事件的态度和情绪倾向，辅助决策制定。</a:t>
            </a:r>
            <a:endParaRPr kumimoji="1" lang="zh-CN" altLang="en-US"/>
          </a:p>
        </p:txBody>
      </p:sp>
      <p:sp>
        <p:nvSpPr>
          <p:cNvPr id="55" name="标题 1">
            <a:extLst>
              <a:ext uri="{FF2B5EF4-FFF2-40B4-BE49-F238E27FC236}">
                <a16:creationId xmlns:a16="http://schemas.microsoft.com/office/drawing/2014/main" id="{E4DEFC0A-3E62-FCB4-4CBE-DBA036A22AAC}"/>
              </a:ext>
            </a:extLst>
          </p:cNvPr>
          <p:cNvSpPr txBox="1"/>
          <p:nvPr/>
        </p:nvSpPr>
        <p:spPr>
          <a:xfrm>
            <a:off x="1371402" y="4105002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05</a:t>
            </a:r>
            <a:endParaRPr kumimoji="1" lang="zh-CN" altLang="en-US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62B5E2F7-E278-5486-C4CC-7C1B00A350F8}"/>
              </a:ext>
            </a:extLst>
          </p:cNvPr>
          <p:cNvSpPr txBox="1"/>
          <p:nvPr/>
        </p:nvSpPr>
        <p:spPr>
          <a:xfrm>
            <a:off x="1638956" y="4695863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7" name="标题 1">
            <a:extLst>
              <a:ext uri="{FF2B5EF4-FFF2-40B4-BE49-F238E27FC236}">
                <a16:creationId xmlns:a16="http://schemas.microsoft.com/office/drawing/2014/main" id="{17F656B4-59AD-8612-A504-C091450EB890}"/>
              </a:ext>
            </a:extLst>
          </p:cNvPr>
          <p:cNvSpPr txBox="1"/>
          <p:nvPr/>
        </p:nvSpPr>
        <p:spPr>
          <a:xfrm>
            <a:off x="4213386" y="4105002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06</a:t>
            </a:r>
            <a:endParaRPr kumimoji="1" lang="zh-CN" altLang="en-US"/>
          </a:p>
        </p:txBody>
      </p:sp>
      <p:sp>
        <p:nvSpPr>
          <p:cNvPr id="58" name="标题 1">
            <a:extLst>
              <a:ext uri="{FF2B5EF4-FFF2-40B4-BE49-F238E27FC236}">
                <a16:creationId xmlns:a16="http://schemas.microsoft.com/office/drawing/2014/main" id="{0B64B205-B405-0182-8388-E5973B7557D8}"/>
              </a:ext>
            </a:extLst>
          </p:cNvPr>
          <p:cNvSpPr txBox="1"/>
          <p:nvPr/>
        </p:nvSpPr>
        <p:spPr>
          <a:xfrm>
            <a:off x="4480940" y="4695863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9" name="标题 1">
            <a:extLst>
              <a:ext uri="{FF2B5EF4-FFF2-40B4-BE49-F238E27FC236}">
                <a16:creationId xmlns:a16="http://schemas.microsoft.com/office/drawing/2014/main" id="{C3529253-09E2-4494-FB44-FE1EAF8D0004}"/>
              </a:ext>
            </a:extLst>
          </p:cNvPr>
          <p:cNvSpPr txBox="1"/>
          <p:nvPr/>
        </p:nvSpPr>
        <p:spPr>
          <a:xfrm>
            <a:off x="7051644" y="4105002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07</a:t>
            </a:r>
            <a:endParaRPr kumimoji="1" lang="zh-CN" altLang="en-US"/>
          </a:p>
        </p:txBody>
      </p:sp>
      <p:sp>
        <p:nvSpPr>
          <p:cNvPr id="60" name="标题 1">
            <a:extLst>
              <a:ext uri="{FF2B5EF4-FFF2-40B4-BE49-F238E27FC236}">
                <a16:creationId xmlns:a16="http://schemas.microsoft.com/office/drawing/2014/main" id="{F9AF4B6A-3336-D54A-8D59-1D4E14D6E64A}"/>
              </a:ext>
            </a:extLst>
          </p:cNvPr>
          <p:cNvSpPr txBox="1"/>
          <p:nvPr/>
        </p:nvSpPr>
        <p:spPr>
          <a:xfrm>
            <a:off x="7319198" y="4695863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63398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D6765-2DB9-F352-3DEC-673C2065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F82BB00-A615-1CEF-69D0-495F01B98947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FAEFD353-4F6E-D7D1-97C4-EF4BDB322C86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技术可行性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6A7638D-2D2A-439B-6739-C51420DC926C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22" name="矩形 4">
              <a:extLst>
                <a:ext uri="{FF2B5EF4-FFF2-40B4-BE49-F238E27FC236}">
                  <a16:creationId xmlns:a16="http://schemas.microsoft.com/office/drawing/2014/main" id="{897656C5-948D-31F1-8523-9A1813F6F11B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5C5A70B-D7E7-6D8A-4136-C02C9AC60DC4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F0E9753-EA0D-5F81-CC17-9951600448E2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1E18B67-5BA1-D1C9-24B5-3208AE7381A8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BED38A62-6CC4-7BFC-35E9-C252EA2B734A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F618DB9A-9655-83E3-F3B5-DCE679C057FE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A039E114-17CB-43DA-616E-24D3C4AD4245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40E1F7D2-D5F7-0115-9153-B52AA0377566}"/>
                </a:ext>
              </a:extLst>
            </p:cNvPr>
            <p:cNvSpPr txBox="1"/>
            <p:nvPr/>
          </p:nvSpPr>
          <p:spPr>
            <a:xfrm>
              <a:off x="7820483" y="21589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71B93A12-AAEE-72F9-FBCA-121CB1B1CCC7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46AD1AC4-095C-404C-72B3-67CA71D30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88" name="TextBox 9">
              <a:extLst>
                <a:ext uri="{FF2B5EF4-FFF2-40B4-BE49-F238E27FC236}">
                  <a16:creationId xmlns:a16="http://schemas.microsoft.com/office/drawing/2014/main" id="{7E9F0B94-3697-33A1-0276-C34FFEFB1F48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AD0ABD36-F376-676C-5FF1-5AF95955F250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B30A203E-31F7-A45A-A0CD-E82BFBF245AE}"/>
              </a:ext>
            </a:extLst>
          </p:cNvPr>
          <p:cNvSpPr txBox="1"/>
          <p:nvPr/>
        </p:nvSpPr>
        <p:spPr>
          <a:xfrm>
            <a:off x="994277" y="1470538"/>
            <a:ext cx="363175" cy="808435"/>
          </a:xfrm>
          <a:prstGeom prst="rect">
            <a:avLst/>
          </a:prstGeom>
          <a:gradFill>
            <a:gsLst>
              <a:gs pos="1000">
                <a:schemeClr val="accent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0800000" scaled="0"/>
          </a:gradFill>
          <a:ln cap="sq">
            <a:noFill/>
            <a:prstDash val="solid"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229D98C-634F-F44D-901A-81C3BA8FCE8F}"/>
              </a:ext>
            </a:extLst>
          </p:cNvPr>
          <p:cNvSpPr txBox="1"/>
          <p:nvPr/>
        </p:nvSpPr>
        <p:spPr>
          <a:xfrm>
            <a:off x="4535712" y="2091130"/>
            <a:ext cx="363175" cy="808435"/>
          </a:xfrm>
          <a:prstGeom prst="rect">
            <a:avLst/>
          </a:prstGeom>
          <a:gradFill>
            <a:gsLst>
              <a:gs pos="1000">
                <a:schemeClr val="accent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0800000" scaled="0"/>
          </a:gradFill>
          <a:ln cap="sq">
            <a:noFill/>
            <a:prstDash val="solid"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43C380A-8F03-B20D-9E2B-D469D78C7CDF}"/>
              </a:ext>
            </a:extLst>
          </p:cNvPr>
          <p:cNvSpPr txBox="1"/>
          <p:nvPr/>
        </p:nvSpPr>
        <p:spPr>
          <a:xfrm>
            <a:off x="8135846" y="3676664"/>
            <a:ext cx="363175" cy="808435"/>
          </a:xfrm>
          <a:prstGeom prst="rect">
            <a:avLst/>
          </a:prstGeom>
          <a:gradFill>
            <a:gsLst>
              <a:gs pos="1000">
                <a:schemeClr val="accent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0800000" scaled="0"/>
          </a:gradFill>
          <a:ln cap="sq">
            <a:noFill/>
            <a:prstDash val="solid"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028D7D3-85F0-5AAF-B508-04B5176132C0}"/>
              </a:ext>
            </a:extLst>
          </p:cNvPr>
          <p:cNvSpPr txBox="1"/>
          <p:nvPr/>
        </p:nvSpPr>
        <p:spPr>
          <a:xfrm>
            <a:off x="0" y="4546158"/>
            <a:ext cx="8864666" cy="2311842"/>
          </a:xfrm>
          <a:custGeom>
            <a:avLst/>
            <a:gdLst>
              <a:gd name="connsiteX0" fmla="*/ 371740 w 8767392"/>
              <a:gd name="connsiteY0" fmla="*/ 0 h 2311842"/>
              <a:gd name="connsiteX1" fmla="*/ 8587824 w 8767392"/>
              <a:gd name="connsiteY1" fmla="*/ 2178285 h 2311842"/>
              <a:gd name="connsiteX2" fmla="*/ 8767392 w 8767392"/>
              <a:gd name="connsiteY2" fmla="*/ 2311842 h 2311842"/>
              <a:gd name="connsiteX3" fmla="*/ 0 w 8767392"/>
              <a:gd name="connsiteY3" fmla="*/ 2311842 h 2311842"/>
              <a:gd name="connsiteX4" fmla="*/ 0 w 8767392"/>
              <a:gd name="connsiteY4" fmla="*/ 4972 h 2311842"/>
            </a:gdLst>
            <a:ahLst/>
            <a:cxnLst/>
            <a:rect l="l" t="t" r="r" b="b"/>
            <a:pathLst>
              <a:path w="8767392" h="2311842">
                <a:moveTo>
                  <a:pt x="371740" y="0"/>
                </a:moveTo>
                <a:cubicBezTo>
                  <a:pt x="3733891" y="0"/>
                  <a:pt x="6718067" y="855932"/>
                  <a:pt x="8587824" y="2178285"/>
                </a:cubicBezTo>
                <a:lnTo>
                  <a:pt x="8767392" y="2311842"/>
                </a:lnTo>
                <a:lnTo>
                  <a:pt x="0" y="2311842"/>
                </a:lnTo>
                <a:lnTo>
                  <a:pt x="0" y="4972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F4629BD3-0F0F-65D3-DDDF-C94583FE1EF8}"/>
              </a:ext>
            </a:extLst>
          </p:cNvPr>
          <p:cNvSpPr txBox="1"/>
          <p:nvPr/>
        </p:nvSpPr>
        <p:spPr>
          <a:xfrm rot="21431518">
            <a:off x="745283" y="4171476"/>
            <a:ext cx="8228826" cy="2786276"/>
          </a:xfrm>
          <a:custGeom>
            <a:avLst/>
            <a:gdLst>
              <a:gd name="connsiteX0" fmla="*/ 0 w 9247286"/>
              <a:gd name="connsiteY0" fmla="*/ 0 h 3562120"/>
              <a:gd name="connsiteX1" fmla="*/ 138295 w 9247286"/>
              <a:gd name="connsiteY1" fmla="*/ 1850 h 3562120"/>
              <a:gd name="connsiteX2" fmla="*/ 9241518 w 9247286"/>
              <a:gd name="connsiteY2" fmla="*/ 3553106 h 3562120"/>
              <a:gd name="connsiteX3" fmla="*/ 9247286 w 9247286"/>
              <a:gd name="connsiteY3" fmla="*/ 3562120 h 3562120"/>
              <a:gd name="connsiteX4" fmla="*/ 9027492 w 9247286"/>
              <a:gd name="connsiteY4" fmla="*/ 3330898 h 3562120"/>
              <a:gd name="connsiteX5" fmla="*/ 95904 w 9247286"/>
              <a:gd name="connsiteY5" fmla="*/ 5154 h 3562120"/>
              <a:gd name="connsiteX6" fmla="*/ 0 w 9247286"/>
              <a:gd name="connsiteY6" fmla="*/ 0 h 3562120"/>
            </a:gdLst>
            <a:ahLst/>
            <a:cxnLst/>
            <a:rect l="l" t="t" r="r" b="b"/>
            <a:pathLst>
              <a:path w="9247286" h="3562120">
                <a:moveTo>
                  <a:pt x="0" y="0"/>
                </a:moveTo>
                <a:lnTo>
                  <a:pt x="138295" y="1850"/>
                </a:lnTo>
                <a:cubicBezTo>
                  <a:pt x="4332388" y="114296"/>
                  <a:pt x="7861553" y="1559728"/>
                  <a:pt x="9241518" y="3553106"/>
                </a:cubicBezTo>
                <a:lnTo>
                  <a:pt x="9247286" y="3562120"/>
                </a:lnTo>
                <a:lnTo>
                  <a:pt x="9027492" y="3330898"/>
                </a:lnTo>
                <a:cubicBezTo>
                  <a:pt x="6900106" y="1306763"/>
                  <a:pt x="3894809" y="219134"/>
                  <a:pt x="95904" y="51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592609F-7447-8EE5-9CD7-71A827215809}"/>
              </a:ext>
            </a:extLst>
          </p:cNvPr>
          <p:cNvSpPr txBox="1"/>
          <p:nvPr/>
        </p:nvSpPr>
        <p:spPr>
          <a:xfrm>
            <a:off x="1140758" y="1639401"/>
            <a:ext cx="2880000" cy="6249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后端技术</a:t>
            </a:r>
            <a:endParaRPr kumimoji="1" lang="zh-CN" altLang="en-US" b="1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820FCE9C-FDA3-002B-E63B-2DEBF9C213A6}"/>
              </a:ext>
            </a:extLst>
          </p:cNvPr>
          <p:cNvSpPr txBox="1"/>
          <p:nvPr/>
        </p:nvSpPr>
        <p:spPr>
          <a:xfrm>
            <a:off x="1140759" y="2380753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79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后端采用Django框架，其MTV架构能够降低数据模型、业务逻辑、用户界面之间的依赖性，内置的ORM机制简化了数据库操作</a:t>
            </a:r>
            <a:r>
              <a:rPr kumimoji="1" lang="en-US" altLang="zh-CN" sz="1179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1179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原生支持RESTful</a:t>
            </a:r>
            <a:r>
              <a:rPr kumimoji="1" lang="en-US" altLang="zh-CN" sz="1179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179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API设计，配合第三方库能够扩展实时数据的推送功能，满足舆情监测对时效性的需求</a:t>
            </a:r>
            <a:r>
              <a:rPr kumimoji="1" lang="en-US" altLang="zh-CN" sz="1179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4668309-3E56-431D-4CBF-2375C072186D}"/>
              </a:ext>
            </a:extLst>
          </p:cNvPr>
          <p:cNvSpPr txBox="1"/>
          <p:nvPr/>
        </p:nvSpPr>
        <p:spPr>
          <a:xfrm>
            <a:off x="8236649" y="3821248"/>
            <a:ext cx="2880000" cy="6249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前端展示</a:t>
            </a:r>
            <a:endParaRPr kumimoji="1" lang="zh-CN" altLang="en-US" b="1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44A2ECFE-495C-1214-5C4F-58047A5FAE90}"/>
              </a:ext>
            </a:extLst>
          </p:cNvPr>
          <p:cNvSpPr txBox="1"/>
          <p:nvPr/>
        </p:nvSpPr>
        <p:spPr>
          <a:xfrm>
            <a:off x="8236650" y="4562600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79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前端基于HTML5/CSS3与ECharts可视化库，实现了词云、热力图等复杂图表的交互展示，经主流浏览器兼容性测试，图表渲染错误率低于1.5%。
能够为用户提供直观的舆情分析结果展示，提升系统的可用性和用户体验。</a:t>
            </a:r>
            <a:endParaRPr kumimoji="1" lang="zh-CN" altLang="en-US"/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2D4D1CDA-7267-886F-5DE2-561698220A25}"/>
              </a:ext>
            </a:extLst>
          </p:cNvPr>
          <p:cNvSpPr txBox="1"/>
          <p:nvPr/>
        </p:nvSpPr>
        <p:spPr>
          <a:xfrm>
            <a:off x="4740890" y="2261720"/>
            <a:ext cx="2880000" cy="6249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数据存储</a:t>
            </a:r>
            <a:endParaRPr kumimoji="1" lang="zh-CN" altLang="en-US" b="1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F8253E8A-E4BE-E04F-7618-47085E6A280E}"/>
              </a:ext>
            </a:extLst>
          </p:cNvPr>
          <p:cNvSpPr txBox="1"/>
          <p:nvPr/>
        </p:nvSpPr>
        <p:spPr>
          <a:xfrm>
            <a:off x="4740892" y="3020314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79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数据存储层选用MySQL关系型数据库，通过分区表、全文索引及主从复制技术，在测试环境中实现了数据的秒级查询响应。
主从节点数据同步延迟控制在50ms以内，能够满足系统对数据存储和查询的性能要求。</a:t>
            </a:r>
            <a:endParaRPr kumimoji="1" lang="zh-CN" altLang="en-US"/>
          </a:p>
        </p:txBody>
      </p:sp>
      <p:sp>
        <p:nvSpPr>
          <p:cNvPr id="94" name="标题 1">
            <a:extLst>
              <a:ext uri="{FF2B5EF4-FFF2-40B4-BE49-F238E27FC236}">
                <a16:creationId xmlns:a16="http://schemas.microsoft.com/office/drawing/2014/main" id="{BEA42668-810E-22C4-EACE-507D99C27602}"/>
              </a:ext>
            </a:extLst>
          </p:cNvPr>
          <p:cNvSpPr txBox="1"/>
          <p:nvPr/>
        </p:nvSpPr>
        <p:spPr>
          <a:xfrm>
            <a:off x="8098583" y="5973894"/>
            <a:ext cx="242395" cy="242395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5" name="标题 1">
            <a:extLst>
              <a:ext uri="{FF2B5EF4-FFF2-40B4-BE49-F238E27FC236}">
                <a16:creationId xmlns:a16="http://schemas.microsoft.com/office/drawing/2014/main" id="{9295AC84-6CD1-B727-58A8-A7B33EA36A86}"/>
              </a:ext>
            </a:extLst>
          </p:cNvPr>
          <p:cNvSpPr txBox="1"/>
          <p:nvPr/>
        </p:nvSpPr>
        <p:spPr>
          <a:xfrm>
            <a:off x="8184674" y="6059985"/>
            <a:ext cx="70213" cy="70213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95E6759E-43AC-83CF-B367-655E2B841154}"/>
              </a:ext>
            </a:extLst>
          </p:cNvPr>
          <p:cNvSpPr txBox="1"/>
          <p:nvPr/>
        </p:nvSpPr>
        <p:spPr>
          <a:xfrm>
            <a:off x="4547276" y="4584008"/>
            <a:ext cx="242395" cy="242395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7" name="标题 1">
            <a:extLst>
              <a:ext uri="{FF2B5EF4-FFF2-40B4-BE49-F238E27FC236}">
                <a16:creationId xmlns:a16="http://schemas.microsoft.com/office/drawing/2014/main" id="{FBDF5157-62B1-AE02-79D2-46C83EAB2437}"/>
              </a:ext>
            </a:extLst>
          </p:cNvPr>
          <p:cNvSpPr txBox="1"/>
          <p:nvPr/>
        </p:nvSpPr>
        <p:spPr>
          <a:xfrm>
            <a:off x="4633367" y="4670099"/>
            <a:ext cx="70213" cy="70213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9" name="标题 1">
            <a:extLst>
              <a:ext uri="{FF2B5EF4-FFF2-40B4-BE49-F238E27FC236}">
                <a16:creationId xmlns:a16="http://schemas.microsoft.com/office/drawing/2014/main" id="{F5CF65DE-9CB9-7BA0-9E02-DA68F5BC1637}"/>
              </a:ext>
            </a:extLst>
          </p:cNvPr>
          <p:cNvSpPr txBox="1"/>
          <p:nvPr/>
        </p:nvSpPr>
        <p:spPr>
          <a:xfrm>
            <a:off x="1054668" y="4242704"/>
            <a:ext cx="242395" cy="242395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0" name="标题 1">
            <a:extLst>
              <a:ext uri="{FF2B5EF4-FFF2-40B4-BE49-F238E27FC236}">
                <a16:creationId xmlns:a16="http://schemas.microsoft.com/office/drawing/2014/main" id="{E8E1F136-E2FD-E7FC-A3D9-C41726A92C09}"/>
              </a:ext>
            </a:extLst>
          </p:cNvPr>
          <p:cNvSpPr txBox="1"/>
          <p:nvPr/>
        </p:nvSpPr>
        <p:spPr>
          <a:xfrm>
            <a:off x="1140759" y="4328795"/>
            <a:ext cx="70213" cy="70213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8126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EE57D-7D73-1A37-8030-A6EB6B69D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BC61125-05AE-8832-E8D7-681066F79CCF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91490361-C3A4-5C3B-9985-C45FCD92B944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经济可行性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C014AED-950A-05C8-90FB-22962423C538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22" name="矩形 4">
              <a:extLst>
                <a:ext uri="{FF2B5EF4-FFF2-40B4-BE49-F238E27FC236}">
                  <a16:creationId xmlns:a16="http://schemas.microsoft.com/office/drawing/2014/main" id="{BA13511A-A4D7-6931-32DB-AC94A5D50207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8F6AA1A-32CF-F447-F082-E9697A6F36A0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53122EB-8937-2735-E01D-8488CEEBC0FC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F88DE84-AECF-1437-9123-2CE1812ABF83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5A575775-3216-783C-3D64-2B99D2820487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1598F06C-744C-21D9-B6DF-778E0D6B0399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DE356F9A-5F66-1491-E814-077F5A2E83B2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ADD44F02-348E-7B8D-983D-E0BEC2EAE071}"/>
                </a:ext>
              </a:extLst>
            </p:cNvPr>
            <p:cNvSpPr txBox="1"/>
            <p:nvPr/>
          </p:nvSpPr>
          <p:spPr>
            <a:xfrm>
              <a:off x="7820483" y="21589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D1A3C791-965C-BFFC-AF0D-C6FC5060AB66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B317E8A5-B93F-7514-974F-87A18FA9F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88" name="TextBox 9">
              <a:extLst>
                <a:ext uri="{FF2B5EF4-FFF2-40B4-BE49-F238E27FC236}">
                  <a16:creationId xmlns:a16="http://schemas.microsoft.com/office/drawing/2014/main" id="{6F3949AB-8B5A-825B-CD2E-967AA2563B0B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C010C9DB-0D99-8539-4D41-CB0EE1AF1EB3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FDB0403-67D8-C01F-D914-AECE49A5E80F}"/>
              </a:ext>
            </a:extLst>
          </p:cNvPr>
          <p:cNvSpPr txBox="1"/>
          <p:nvPr/>
        </p:nvSpPr>
        <p:spPr>
          <a:xfrm>
            <a:off x="1453678" y="2124662"/>
            <a:ext cx="2821034" cy="3876982"/>
          </a:xfrm>
          <a:custGeom>
            <a:avLst/>
            <a:gdLst>
              <a:gd name="connsiteX0" fmla="*/ 2672080 w 3413760"/>
              <a:gd name="connsiteY0" fmla="*/ 0 h 3792010"/>
              <a:gd name="connsiteX1" fmla="*/ 3086210 w 3413760"/>
              <a:gd name="connsiteY1" fmla="*/ 0 h 3792010"/>
              <a:gd name="connsiteX2" fmla="*/ 3413760 w 3413760"/>
              <a:gd name="connsiteY2" fmla="*/ 327550 h 3792010"/>
              <a:gd name="connsiteX3" fmla="*/ 3413760 w 3413760"/>
              <a:gd name="connsiteY3" fmla="*/ 3464460 h 3792010"/>
              <a:gd name="connsiteX4" fmla="*/ 3086210 w 3413760"/>
              <a:gd name="connsiteY4" fmla="*/ 3792010 h 3792010"/>
              <a:gd name="connsiteX5" fmla="*/ 327550 w 3413760"/>
              <a:gd name="connsiteY5" fmla="*/ 3792010 h 3792010"/>
              <a:gd name="connsiteX6" fmla="*/ 0 w 3413760"/>
              <a:gd name="connsiteY6" fmla="*/ 3464460 h 3792010"/>
              <a:gd name="connsiteX7" fmla="*/ 0 w 3413760"/>
              <a:gd name="connsiteY7" fmla="*/ 327550 h 3792010"/>
              <a:gd name="connsiteX8" fmla="*/ 327550 w 3413760"/>
              <a:gd name="connsiteY8" fmla="*/ 0 h 3792010"/>
              <a:gd name="connsiteX9" fmla="*/ 741680 w 3413760"/>
              <a:gd name="connsiteY9" fmla="*/ 0 h 3792010"/>
              <a:gd name="connsiteX10" fmla="*/ 741680 w 3413760"/>
              <a:gd name="connsiteY10" fmla="*/ 0 h 3792010"/>
              <a:gd name="connsiteX11" fmla="*/ 741680 w 3413760"/>
              <a:gd name="connsiteY11" fmla="*/ 0 h 3792010"/>
              <a:gd name="connsiteX12" fmla="*/ 833120 w 3413760"/>
              <a:gd name="connsiteY12" fmla="*/ 619760 h 3792010"/>
            </a:gdLst>
            <a:ahLst/>
            <a:cxnLst/>
            <a:rect l="l" t="t" r="r" b="b"/>
            <a:pathLst>
              <a:path w="3413760" h="3792010">
                <a:moveTo>
                  <a:pt x="2672080" y="0"/>
                </a:moveTo>
                <a:lnTo>
                  <a:pt x="3086210" y="0"/>
                </a:lnTo>
                <a:cubicBezTo>
                  <a:pt x="3267111" y="0"/>
                  <a:pt x="3413760" y="146649"/>
                  <a:pt x="3413760" y="327550"/>
                </a:cubicBezTo>
                <a:lnTo>
                  <a:pt x="3413760" y="3464460"/>
                </a:lnTo>
                <a:cubicBezTo>
                  <a:pt x="3413760" y="3645361"/>
                  <a:pt x="3267111" y="3792010"/>
                  <a:pt x="3086210" y="3792010"/>
                </a:cubicBezTo>
                <a:lnTo>
                  <a:pt x="327550" y="3792010"/>
                </a:lnTo>
                <a:cubicBezTo>
                  <a:pt x="146649" y="3792010"/>
                  <a:pt x="0" y="3645361"/>
                  <a:pt x="0" y="3464460"/>
                </a:cubicBezTo>
                <a:lnTo>
                  <a:pt x="0" y="327550"/>
                </a:lnTo>
                <a:cubicBezTo>
                  <a:pt x="0" y="146649"/>
                  <a:pt x="146649" y="0"/>
                  <a:pt x="327550" y="0"/>
                </a:cubicBezTo>
                <a:lnTo>
                  <a:pt x="741680" y="0"/>
                </a:lnTo>
              </a:path>
            </a:pathLst>
          </a:custGeom>
          <a:noFill/>
          <a:ln w="127000" cap="rnd">
            <a:solidFill>
              <a:schemeClr val="accent1"/>
            </a:solidFill>
            <a:round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16F4ED0-214E-43EE-0773-8C7CA4C5B548}"/>
              </a:ext>
            </a:extLst>
          </p:cNvPr>
          <p:cNvGrpSpPr/>
          <p:nvPr/>
        </p:nvGrpSpPr>
        <p:grpSpPr>
          <a:xfrm>
            <a:off x="1745991" y="3531732"/>
            <a:ext cx="2236409" cy="106400"/>
            <a:chOff x="1745991" y="3531732"/>
            <a:chExt cx="2236409" cy="106400"/>
          </a:xfrm>
        </p:grpSpPr>
        <p:cxnSp>
          <p:nvCxnSpPr>
            <p:cNvPr id="4" name="标题 1">
              <a:extLst>
                <a:ext uri="{FF2B5EF4-FFF2-40B4-BE49-F238E27FC236}">
                  <a16:creationId xmlns:a16="http://schemas.microsoft.com/office/drawing/2014/main" id="{137DA8CD-6143-738F-D04A-7C9ADE3C6F18}"/>
                </a:ext>
              </a:extLst>
            </p:cNvPr>
            <p:cNvCxnSpPr/>
            <p:nvPr/>
          </p:nvCxnSpPr>
          <p:spPr>
            <a:xfrm>
              <a:off x="1745991" y="3533656"/>
              <a:ext cx="223640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/>
            </a:ln>
          </p:spPr>
        </p:cxnSp>
        <p:sp>
          <p:nvSpPr>
            <p:cNvPr id="5" name="标题 1">
              <a:extLst>
                <a:ext uri="{FF2B5EF4-FFF2-40B4-BE49-F238E27FC236}">
                  <a16:creationId xmlns:a16="http://schemas.microsoft.com/office/drawing/2014/main" id="{7F55FD0F-DCF9-EA3E-9B57-29D6BC26DB38}"/>
                </a:ext>
              </a:extLst>
            </p:cNvPr>
            <p:cNvSpPr txBox="1"/>
            <p:nvPr/>
          </p:nvSpPr>
          <p:spPr>
            <a:xfrm flipV="1">
              <a:off x="2793142" y="3531732"/>
              <a:ext cx="142106" cy="106400"/>
            </a:xfrm>
            <a:prstGeom prst="triangle">
              <a:avLst/>
            </a:prstGeom>
            <a:solidFill>
              <a:schemeClr val="tx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id="{AECE6161-5E4B-4658-E261-B9A47F7A14C2}"/>
              </a:ext>
            </a:extLst>
          </p:cNvPr>
          <p:cNvSpPr txBox="1"/>
          <p:nvPr/>
        </p:nvSpPr>
        <p:spPr>
          <a:xfrm>
            <a:off x="4621049" y="2124662"/>
            <a:ext cx="2821034" cy="3876982"/>
          </a:xfrm>
          <a:custGeom>
            <a:avLst/>
            <a:gdLst>
              <a:gd name="connsiteX0" fmla="*/ 2672080 w 3413760"/>
              <a:gd name="connsiteY0" fmla="*/ 0 h 3792010"/>
              <a:gd name="connsiteX1" fmla="*/ 3086210 w 3413760"/>
              <a:gd name="connsiteY1" fmla="*/ 0 h 3792010"/>
              <a:gd name="connsiteX2" fmla="*/ 3413760 w 3413760"/>
              <a:gd name="connsiteY2" fmla="*/ 327550 h 3792010"/>
              <a:gd name="connsiteX3" fmla="*/ 3413760 w 3413760"/>
              <a:gd name="connsiteY3" fmla="*/ 3464460 h 3792010"/>
              <a:gd name="connsiteX4" fmla="*/ 3086210 w 3413760"/>
              <a:gd name="connsiteY4" fmla="*/ 3792010 h 3792010"/>
              <a:gd name="connsiteX5" fmla="*/ 327550 w 3413760"/>
              <a:gd name="connsiteY5" fmla="*/ 3792010 h 3792010"/>
              <a:gd name="connsiteX6" fmla="*/ 0 w 3413760"/>
              <a:gd name="connsiteY6" fmla="*/ 3464460 h 3792010"/>
              <a:gd name="connsiteX7" fmla="*/ 0 w 3413760"/>
              <a:gd name="connsiteY7" fmla="*/ 327550 h 3792010"/>
              <a:gd name="connsiteX8" fmla="*/ 327550 w 3413760"/>
              <a:gd name="connsiteY8" fmla="*/ 0 h 3792010"/>
              <a:gd name="connsiteX9" fmla="*/ 741680 w 3413760"/>
              <a:gd name="connsiteY9" fmla="*/ 0 h 3792010"/>
              <a:gd name="connsiteX10" fmla="*/ 741680 w 3413760"/>
              <a:gd name="connsiteY10" fmla="*/ 0 h 3792010"/>
              <a:gd name="connsiteX11" fmla="*/ 741680 w 3413760"/>
              <a:gd name="connsiteY11" fmla="*/ 0 h 3792010"/>
              <a:gd name="connsiteX12" fmla="*/ 833120 w 3413760"/>
              <a:gd name="connsiteY12" fmla="*/ 619760 h 3792010"/>
            </a:gdLst>
            <a:ahLst/>
            <a:cxnLst/>
            <a:rect l="l" t="t" r="r" b="b"/>
            <a:pathLst>
              <a:path w="3413760" h="3792010">
                <a:moveTo>
                  <a:pt x="2672080" y="0"/>
                </a:moveTo>
                <a:lnTo>
                  <a:pt x="3086210" y="0"/>
                </a:lnTo>
                <a:cubicBezTo>
                  <a:pt x="3267111" y="0"/>
                  <a:pt x="3413760" y="146649"/>
                  <a:pt x="3413760" y="327550"/>
                </a:cubicBezTo>
                <a:lnTo>
                  <a:pt x="3413760" y="3464460"/>
                </a:lnTo>
                <a:cubicBezTo>
                  <a:pt x="3413760" y="3645361"/>
                  <a:pt x="3267111" y="3792010"/>
                  <a:pt x="3086210" y="3792010"/>
                </a:cubicBezTo>
                <a:lnTo>
                  <a:pt x="327550" y="3792010"/>
                </a:lnTo>
                <a:cubicBezTo>
                  <a:pt x="146649" y="3792010"/>
                  <a:pt x="0" y="3645361"/>
                  <a:pt x="0" y="3464460"/>
                </a:cubicBezTo>
                <a:lnTo>
                  <a:pt x="0" y="327550"/>
                </a:lnTo>
                <a:cubicBezTo>
                  <a:pt x="0" y="146649"/>
                  <a:pt x="146649" y="0"/>
                  <a:pt x="327550" y="0"/>
                </a:cubicBezTo>
                <a:lnTo>
                  <a:pt x="741680" y="0"/>
                </a:lnTo>
              </a:path>
            </a:pathLst>
          </a:custGeom>
          <a:noFill/>
          <a:ln w="127000" cap="rnd">
            <a:solidFill>
              <a:schemeClr val="accent2"/>
            </a:solidFill>
            <a:round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8397698-641C-5A61-2EF8-A298FFEA1991}"/>
              </a:ext>
            </a:extLst>
          </p:cNvPr>
          <p:cNvGrpSpPr/>
          <p:nvPr/>
        </p:nvGrpSpPr>
        <p:grpSpPr>
          <a:xfrm>
            <a:off x="4913362" y="3531732"/>
            <a:ext cx="2236409" cy="106400"/>
            <a:chOff x="4913362" y="3531732"/>
            <a:chExt cx="2236409" cy="106400"/>
          </a:xfrm>
        </p:grpSpPr>
        <p:cxnSp>
          <p:nvCxnSpPr>
            <p:cNvPr id="18" name="标题 1">
              <a:extLst>
                <a:ext uri="{FF2B5EF4-FFF2-40B4-BE49-F238E27FC236}">
                  <a16:creationId xmlns:a16="http://schemas.microsoft.com/office/drawing/2014/main" id="{49073BC0-E503-82AB-8BCA-DD1DC87FB4DE}"/>
                </a:ext>
              </a:extLst>
            </p:cNvPr>
            <p:cNvCxnSpPr/>
            <p:nvPr/>
          </p:nvCxnSpPr>
          <p:spPr>
            <a:xfrm>
              <a:off x="4913362" y="3533656"/>
              <a:ext cx="223640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/>
            </a:ln>
          </p:spPr>
        </p:cxnSp>
        <p:sp>
          <p:nvSpPr>
            <p:cNvPr id="19" name="标题 1">
              <a:extLst>
                <a:ext uri="{FF2B5EF4-FFF2-40B4-BE49-F238E27FC236}">
                  <a16:creationId xmlns:a16="http://schemas.microsoft.com/office/drawing/2014/main" id="{8CF954E7-1761-ED20-96E5-655507866D08}"/>
                </a:ext>
              </a:extLst>
            </p:cNvPr>
            <p:cNvSpPr txBox="1"/>
            <p:nvPr/>
          </p:nvSpPr>
          <p:spPr>
            <a:xfrm flipV="1">
              <a:off x="5960513" y="3531732"/>
              <a:ext cx="142106" cy="106400"/>
            </a:xfrm>
            <a:prstGeom prst="triangle">
              <a:avLst/>
            </a:prstGeom>
            <a:solidFill>
              <a:schemeClr val="tx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0" name="标题 1">
            <a:extLst>
              <a:ext uri="{FF2B5EF4-FFF2-40B4-BE49-F238E27FC236}">
                <a16:creationId xmlns:a16="http://schemas.microsoft.com/office/drawing/2014/main" id="{E789AAC3-9CD1-655F-87EE-DCFDAB27C197}"/>
              </a:ext>
            </a:extLst>
          </p:cNvPr>
          <p:cNvSpPr txBox="1"/>
          <p:nvPr/>
        </p:nvSpPr>
        <p:spPr>
          <a:xfrm>
            <a:off x="7906821" y="2133779"/>
            <a:ext cx="2821034" cy="3876983"/>
          </a:xfrm>
          <a:custGeom>
            <a:avLst/>
            <a:gdLst>
              <a:gd name="connsiteX0" fmla="*/ 2672080 w 3413760"/>
              <a:gd name="connsiteY0" fmla="*/ 0 h 3792010"/>
              <a:gd name="connsiteX1" fmla="*/ 3086210 w 3413760"/>
              <a:gd name="connsiteY1" fmla="*/ 0 h 3792010"/>
              <a:gd name="connsiteX2" fmla="*/ 3413760 w 3413760"/>
              <a:gd name="connsiteY2" fmla="*/ 327550 h 3792010"/>
              <a:gd name="connsiteX3" fmla="*/ 3413760 w 3413760"/>
              <a:gd name="connsiteY3" fmla="*/ 3464460 h 3792010"/>
              <a:gd name="connsiteX4" fmla="*/ 3086210 w 3413760"/>
              <a:gd name="connsiteY4" fmla="*/ 3792010 h 3792010"/>
              <a:gd name="connsiteX5" fmla="*/ 327550 w 3413760"/>
              <a:gd name="connsiteY5" fmla="*/ 3792010 h 3792010"/>
              <a:gd name="connsiteX6" fmla="*/ 0 w 3413760"/>
              <a:gd name="connsiteY6" fmla="*/ 3464460 h 3792010"/>
              <a:gd name="connsiteX7" fmla="*/ 0 w 3413760"/>
              <a:gd name="connsiteY7" fmla="*/ 327550 h 3792010"/>
              <a:gd name="connsiteX8" fmla="*/ 327550 w 3413760"/>
              <a:gd name="connsiteY8" fmla="*/ 0 h 3792010"/>
              <a:gd name="connsiteX9" fmla="*/ 741680 w 3413760"/>
              <a:gd name="connsiteY9" fmla="*/ 0 h 3792010"/>
              <a:gd name="connsiteX10" fmla="*/ 741680 w 3413760"/>
              <a:gd name="connsiteY10" fmla="*/ 0 h 3792010"/>
              <a:gd name="connsiteX11" fmla="*/ 741680 w 3413760"/>
              <a:gd name="connsiteY11" fmla="*/ 0 h 3792010"/>
              <a:gd name="connsiteX12" fmla="*/ 833120 w 3413760"/>
              <a:gd name="connsiteY12" fmla="*/ 619760 h 3792010"/>
            </a:gdLst>
            <a:ahLst/>
            <a:cxnLst/>
            <a:rect l="l" t="t" r="r" b="b"/>
            <a:pathLst>
              <a:path w="3413760" h="3792010">
                <a:moveTo>
                  <a:pt x="2672080" y="0"/>
                </a:moveTo>
                <a:lnTo>
                  <a:pt x="3086210" y="0"/>
                </a:lnTo>
                <a:cubicBezTo>
                  <a:pt x="3267111" y="0"/>
                  <a:pt x="3413760" y="146649"/>
                  <a:pt x="3413760" y="327550"/>
                </a:cubicBezTo>
                <a:lnTo>
                  <a:pt x="3413760" y="3464460"/>
                </a:lnTo>
                <a:cubicBezTo>
                  <a:pt x="3413760" y="3645361"/>
                  <a:pt x="3267111" y="3792010"/>
                  <a:pt x="3086210" y="3792010"/>
                </a:cubicBezTo>
                <a:lnTo>
                  <a:pt x="327550" y="3792010"/>
                </a:lnTo>
                <a:cubicBezTo>
                  <a:pt x="146649" y="3792010"/>
                  <a:pt x="0" y="3645361"/>
                  <a:pt x="0" y="3464460"/>
                </a:cubicBezTo>
                <a:lnTo>
                  <a:pt x="0" y="327550"/>
                </a:lnTo>
                <a:cubicBezTo>
                  <a:pt x="0" y="146649"/>
                  <a:pt x="146649" y="0"/>
                  <a:pt x="327550" y="0"/>
                </a:cubicBezTo>
                <a:lnTo>
                  <a:pt x="741680" y="0"/>
                </a:lnTo>
              </a:path>
            </a:pathLst>
          </a:custGeom>
          <a:noFill/>
          <a:ln w="127000" cap="rnd">
            <a:solidFill>
              <a:schemeClr val="accent1"/>
            </a:solidFill>
            <a:round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9E19F04-DCCF-B109-1D61-750EF31A75C7}"/>
              </a:ext>
            </a:extLst>
          </p:cNvPr>
          <p:cNvGrpSpPr/>
          <p:nvPr/>
        </p:nvGrpSpPr>
        <p:grpSpPr>
          <a:xfrm>
            <a:off x="8199134" y="3540851"/>
            <a:ext cx="2236409" cy="106400"/>
            <a:chOff x="8199134" y="3540851"/>
            <a:chExt cx="2236409" cy="106400"/>
          </a:xfrm>
        </p:grpSpPr>
        <p:cxnSp>
          <p:nvCxnSpPr>
            <p:cNvPr id="32" name="标题 1">
              <a:extLst>
                <a:ext uri="{FF2B5EF4-FFF2-40B4-BE49-F238E27FC236}">
                  <a16:creationId xmlns:a16="http://schemas.microsoft.com/office/drawing/2014/main" id="{39BC430F-A0DE-0494-56C6-14FA09ECD03D}"/>
                </a:ext>
              </a:extLst>
            </p:cNvPr>
            <p:cNvCxnSpPr/>
            <p:nvPr/>
          </p:nvCxnSpPr>
          <p:spPr>
            <a:xfrm>
              <a:off x="8199134" y="3542775"/>
              <a:ext cx="223640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/>
            </a:ln>
          </p:spPr>
        </p:cxnSp>
        <p:sp>
          <p:nvSpPr>
            <p:cNvPr id="36" name="标题 1">
              <a:extLst>
                <a:ext uri="{FF2B5EF4-FFF2-40B4-BE49-F238E27FC236}">
                  <a16:creationId xmlns:a16="http://schemas.microsoft.com/office/drawing/2014/main" id="{DCD8F68F-0F11-C032-5EFD-FB6725583EF3}"/>
                </a:ext>
              </a:extLst>
            </p:cNvPr>
            <p:cNvSpPr txBox="1"/>
            <p:nvPr/>
          </p:nvSpPr>
          <p:spPr>
            <a:xfrm flipV="1">
              <a:off x="9246285" y="3540851"/>
              <a:ext cx="142106" cy="106400"/>
            </a:xfrm>
            <a:prstGeom prst="triangle">
              <a:avLst/>
            </a:prstGeom>
            <a:solidFill>
              <a:schemeClr val="tx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7" name="标题 1">
            <a:extLst>
              <a:ext uri="{FF2B5EF4-FFF2-40B4-BE49-F238E27FC236}">
                <a16:creationId xmlns:a16="http://schemas.microsoft.com/office/drawing/2014/main" id="{C189B921-A03F-C310-84BD-E61588D0D08A}"/>
              </a:ext>
            </a:extLst>
          </p:cNvPr>
          <p:cNvSpPr txBox="1"/>
          <p:nvPr/>
        </p:nvSpPr>
        <p:spPr>
          <a:xfrm>
            <a:off x="1683408" y="2422975"/>
            <a:ext cx="2361573" cy="1110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开源技术栈</a:t>
            </a:r>
            <a:endParaRPr kumimoji="1" lang="zh-CN" altLang="en-US" dirty="0"/>
          </a:p>
        </p:txBody>
      </p:sp>
      <p:sp>
        <p:nvSpPr>
          <p:cNvPr id="38" name="标题 1">
            <a:extLst>
              <a:ext uri="{FF2B5EF4-FFF2-40B4-BE49-F238E27FC236}">
                <a16:creationId xmlns:a16="http://schemas.microsoft.com/office/drawing/2014/main" id="{7989079A-B2D9-0923-F50A-C95206D5200D}"/>
              </a:ext>
            </a:extLst>
          </p:cNvPr>
          <p:cNvSpPr txBox="1"/>
          <p:nvPr/>
        </p:nvSpPr>
        <p:spPr>
          <a:xfrm>
            <a:off x="1683408" y="3811454"/>
            <a:ext cx="2361573" cy="19773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系统采用全开源技术栈，Python、Django、MySQL等核心工具均为开源软件，无授权费用，仅需承担服务器硬件与带宽成本，显著降低了技术投入门槛。</a:t>
            </a:r>
            <a:endParaRPr kumimoji="1" lang="zh-CN" altLang="en-US" dirty="0"/>
          </a:p>
        </p:txBody>
      </p:sp>
      <p:sp>
        <p:nvSpPr>
          <p:cNvPr id="39" name="标题 1">
            <a:extLst>
              <a:ext uri="{FF2B5EF4-FFF2-40B4-BE49-F238E27FC236}">
                <a16:creationId xmlns:a16="http://schemas.microsoft.com/office/drawing/2014/main" id="{7C3533EA-66A9-497F-5FB2-1065B55540FB}"/>
              </a:ext>
            </a:extLst>
          </p:cNvPr>
          <p:cNvSpPr txBox="1"/>
          <p:nvPr/>
        </p:nvSpPr>
        <p:spPr>
          <a:xfrm>
            <a:off x="4850779" y="2422975"/>
            <a:ext cx="2361573" cy="11106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硬件资源</a:t>
            </a:r>
            <a:endParaRPr kumimoji="1" lang="zh-CN" altLang="en-US"/>
          </a:p>
        </p:txBody>
      </p:sp>
      <p:sp>
        <p:nvSpPr>
          <p:cNvPr id="40" name="标题 1">
            <a:extLst>
              <a:ext uri="{FF2B5EF4-FFF2-40B4-BE49-F238E27FC236}">
                <a16:creationId xmlns:a16="http://schemas.microsoft.com/office/drawing/2014/main" id="{60D81147-2F62-9648-A2AD-462DC60B9086}"/>
              </a:ext>
            </a:extLst>
          </p:cNvPr>
          <p:cNvSpPr txBox="1"/>
          <p:nvPr/>
        </p:nvSpPr>
        <p:spPr>
          <a:xfrm>
            <a:off x="4850779" y="3811454"/>
            <a:ext cx="2361573" cy="19773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系统在4核CPU、8GB内存的服务器上运行流畅，满足中小型舆情监测需求，且支持增加代理节点等横向扩展技术以应对突发流量，硬件成本较低。</a:t>
            </a:r>
            <a:endParaRPr kumimoji="1" lang="zh-CN" altLang="en-US" dirty="0"/>
          </a:p>
        </p:txBody>
      </p:sp>
      <p:sp>
        <p:nvSpPr>
          <p:cNvPr id="41" name="标题 1">
            <a:extLst>
              <a:ext uri="{FF2B5EF4-FFF2-40B4-BE49-F238E27FC236}">
                <a16:creationId xmlns:a16="http://schemas.microsoft.com/office/drawing/2014/main" id="{54488F43-03D5-FBC1-5B77-5C8485EE0032}"/>
              </a:ext>
            </a:extLst>
          </p:cNvPr>
          <p:cNvSpPr txBox="1"/>
          <p:nvPr/>
        </p:nvSpPr>
        <p:spPr>
          <a:xfrm>
            <a:off x="8021686" y="2432093"/>
            <a:ext cx="2591303" cy="11106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开发与维护成本</a:t>
            </a:r>
            <a:endParaRPr kumimoji="1" lang="zh-CN" altLang="en-US"/>
          </a:p>
        </p:txBody>
      </p:sp>
      <p:sp>
        <p:nvSpPr>
          <p:cNvPr id="42" name="标题 1">
            <a:extLst>
              <a:ext uri="{FF2B5EF4-FFF2-40B4-BE49-F238E27FC236}">
                <a16:creationId xmlns:a16="http://schemas.microsoft.com/office/drawing/2014/main" id="{754E70EE-E697-2886-EF15-5A9DF3C2A2E7}"/>
              </a:ext>
            </a:extLst>
          </p:cNvPr>
          <p:cNvSpPr txBox="1"/>
          <p:nvPr/>
        </p:nvSpPr>
        <p:spPr>
          <a:xfrm>
            <a:off x="8136552" y="3820572"/>
            <a:ext cx="2361573" cy="19682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25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自动化脚本及Django的管理后台简化了运维流程，基于docker的容器化部署降低了环境配置复杂度。开发周期通过模块化设计得到控制，核心功能在3个月内完成，投入产出比达1:5.2，显示出良好的经济可行性。</a:t>
            </a:r>
            <a:endParaRPr kumimoji="1" lang="zh-CN" altLang="en-US" dirty="0"/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ECCAF763-E3D1-7461-2A3E-BD1A2D7CDEC8}"/>
              </a:ext>
            </a:extLst>
          </p:cNvPr>
          <p:cNvSpPr txBox="1"/>
          <p:nvPr/>
        </p:nvSpPr>
        <p:spPr>
          <a:xfrm>
            <a:off x="2220030" y="1449423"/>
            <a:ext cx="1300837" cy="12123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800" dirty="0">
                <a:ln w="12700">
                  <a:noFill/>
                </a:ln>
                <a:solidFill>
                  <a:srgbClr val="B81B26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 dirty="0"/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B8CA76FB-D2BC-1D8B-C2EF-7AE4E9A3EBD7}"/>
              </a:ext>
            </a:extLst>
          </p:cNvPr>
          <p:cNvSpPr txBox="1"/>
          <p:nvPr/>
        </p:nvSpPr>
        <p:spPr>
          <a:xfrm>
            <a:off x="8671630" y="1449423"/>
            <a:ext cx="1300837" cy="12123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B81B26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8388D03D-A6B2-4D8F-883F-59313A3B671E}"/>
              </a:ext>
            </a:extLst>
          </p:cNvPr>
          <p:cNvSpPr txBox="1"/>
          <p:nvPr/>
        </p:nvSpPr>
        <p:spPr>
          <a:xfrm>
            <a:off x="5387708" y="1449423"/>
            <a:ext cx="1300837" cy="12123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2BC3E3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33706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7F09-737D-46C3-1C73-620C8889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4E51779-E159-1AFD-8E9D-BABDD15D5FBD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39DF3852-88CB-8BAD-594F-6F9672190AE2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需求功能分析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2D65038-1095-EAC0-D687-6B9079505042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E7744F1D-F7E2-614A-8FC5-EC3FC547A1C6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27D9838-0170-DF64-AF59-7E520E2D384D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55C56A1-6D54-9CA3-615C-ED784219716E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2AEFEC0-5CE9-A46A-4D39-459D40D8C43D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9D1DC8-2548-C420-C12A-7E9EA581CAC6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BE03D2-FEFB-3A1A-202F-9A6C2DA4B817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3CBD85C-0FDE-2F89-6E8A-32ABBB2F2E29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C415FEB-BFEE-F9C3-0DE2-A3E37FB7E9E3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2B278BA-943D-007F-DFA8-53C4E1ED7F9E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C346492-7B49-B2E7-2E05-B1F2ED5B7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B2C82237-AFD0-17D0-7DF7-453B19488057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308BBF7-9129-7887-3C63-0D45F50947CC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DDF9D65-F18B-313C-B77D-5DC1E3A17154}"/>
              </a:ext>
            </a:extLst>
          </p:cNvPr>
          <p:cNvGraphicFramePr>
            <a:graphicFrameLocks noGrp="1"/>
          </p:cNvGraphicFramePr>
          <p:nvPr/>
        </p:nvGraphicFramePr>
        <p:xfrm>
          <a:off x="1280431" y="1596143"/>
          <a:ext cx="9697596" cy="5078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32532">
                  <a:extLst>
                    <a:ext uri="{9D8B030D-6E8A-4147-A177-3AD203B41FA5}">
                      <a16:colId xmlns:a16="http://schemas.microsoft.com/office/drawing/2014/main" val="3822250527"/>
                    </a:ext>
                  </a:extLst>
                </a:gridCol>
                <a:gridCol w="3232532">
                  <a:extLst>
                    <a:ext uri="{9D8B030D-6E8A-4147-A177-3AD203B41FA5}">
                      <a16:colId xmlns:a16="http://schemas.microsoft.com/office/drawing/2014/main" val="2602908117"/>
                    </a:ext>
                  </a:extLst>
                </a:gridCol>
                <a:gridCol w="3232532">
                  <a:extLst>
                    <a:ext uri="{9D8B030D-6E8A-4147-A177-3AD203B41FA5}">
                      <a16:colId xmlns:a16="http://schemas.microsoft.com/office/drawing/2014/main" val="427299516"/>
                    </a:ext>
                  </a:extLst>
                </a:gridCol>
              </a:tblGrid>
              <a:tr h="2856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模块</a:t>
                      </a:r>
                      <a:endParaRPr lang="zh-CN" sz="105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功能</a:t>
                      </a:r>
                      <a:endParaRPr lang="zh-CN" sz="105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功能描述</a:t>
                      </a:r>
                      <a:endParaRPr lang="zh-CN" sz="105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647715326"/>
                  </a:ext>
                </a:extLst>
              </a:tr>
              <a:tr h="239663">
                <a:tc rowSpan="3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用户功能模块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用户注册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新用户通过填写用户名、邮箱和密码进行注册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617945915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用户登录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已注册用户通过用户名和密码进行登录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562817780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个人信息管理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用户可以查看和修改个人信息，包括头像、邮箱等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244712581"/>
                  </a:ext>
                </a:extLst>
              </a:tr>
              <a:tr h="239663">
                <a:tc rowSpan="5"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dirty="0">
                          <a:effectLst/>
                        </a:rPr>
                        <a:t>电影模块</a:t>
                      </a:r>
                      <a:endParaRPr lang="zh-CN" sz="12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电影信息展示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展示电影基本信息，包括标题、介绍、类型等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466116488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电影搜索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支持按标题、类型等条件搜索电影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429737086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电影详情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展示电影的详细信息，包括简介、评分、评论等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805638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管理电影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管理员可以对电影进行上架、下架和编辑电影信息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3642046374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收藏电影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用户可以收藏自己感兴趣的电影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822962072"/>
                  </a:ext>
                </a:extLst>
              </a:tr>
              <a:tr h="239663">
                <a:tc rowSpan="4"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dirty="0">
                          <a:effectLst/>
                        </a:rPr>
                        <a:t>评论模块</a:t>
                      </a:r>
                      <a:endParaRPr lang="zh-CN" sz="12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发表评论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用户可以对电影发表评论和评分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341342651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评论列表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展示电影的所有评论，支持分页和排序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3603906410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评论删除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用户可以删除自己的评论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202493792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管理评论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管理员可以对用户发布的评论进行管理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272939647"/>
                  </a:ext>
                </a:extLst>
              </a:tr>
              <a:tr h="239663">
                <a:tc rowSpan="2"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dirty="0">
                          <a:effectLst/>
                        </a:rPr>
                        <a:t>情感分析模块</a:t>
                      </a:r>
                      <a:endParaRPr lang="zh-CN" sz="12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评论情感分析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使用</a:t>
                      </a:r>
                      <a:r>
                        <a:rPr lang="en-US" sz="1100" kern="100">
                          <a:effectLst/>
                        </a:rPr>
                        <a:t>BERT</a:t>
                      </a:r>
                      <a:r>
                        <a:rPr lang="zh-CN" sz="1100" kern="100">
                          <a:effectLst/>
                        </a:rPr>
                        <a:t>模型分析评论的情感倾向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736000907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情感趋势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展示电影评论的情感趋势变化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1013418153"/>
                  </a:ext>
                </a:extLst>
              </a:tr>
              <a:tr h="239663">
                <a:tc rowSpan="4"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dirty="0">
                          <a:effectLst/>
                        </a:rPr>
                        <a:t>数据分析模块</a:t>
                      </a:r>
                      <a:endParaRPr lang="zh-CN" sz="12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用户行为分析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分析用户活跃度和行为模式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896471600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电影评分分析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分析电影评分分布和趋势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3754895376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电影类型分析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可以查看系统中上架电影的类型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933381613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影评关键词分析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可以查看该部电影影评关键词情况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585479056"/>
                  </a:ext>
                </a:extLst>
              </a:tr>
              <a:tr h="239663">
                <a:tc rowSpan="2"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系统管理</a:t>
                      </a:r>
                      <a:r>
                        <a:rPr lang="zh-CN" sz="1200" dirty="0">
                          <a:effectLst/>
                        </a:rPr>
                        <a:t>模块</a:t>
                      </a:r>
                      <a:endParaRPr lang="zh-CN" sz="12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用户权限管理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管理员可以管理用户权限和状态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712078672"/>
                  </a:ext>
                </a:extLst>
              </a:tr>
              <a:tr h="2396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数据备份</a:t>
                      </a:r>
                      <a:endParaRPr lang="zh-CN" sz="1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buNone/>
                      </a:pPr>
                      <a:r>
                        <a:rPr lang="zh-CN" sz="1100" kern="100" dirty="0">
                          <a:effectLst/>
                        </a:rPr>
                        <a:t>支持系统数据的备份和恢复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245" marR="63245" marT="0" marB="0"/>
                </a:tc>
                <a:extLst>
                  <a:ext uri="{0D108BD9-81ED-4DB2-BD59-A6C34878D82A}">
                    <a16:rowId xmlns:a16="http://schemas.microsoft.com/office/drawing/2014/main" val="284093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13484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079CF-C368-5F65-249A-6365DC9E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A2A3C96-CCD0-8475-4A41-B321324443CF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22C2C296-8D84-6DFD-957E-27E90B347D94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需求功能分析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F098206-22E0-DAB2-E022-4ACC55A23777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0933CDAB-4BA5-4713-7167-D6BC35B54AA3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2CD9F92-1EC2-F922-AFB2-E4BF959C46B0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9FB1A4B-8074-4FE6-1CB1-3ACD0DE96F3E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1AC4F6B-14C9-0A2C-74DD-410FBD434354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B383EA-CE96-7CA2-B21E-3C1DDD6AA88F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E823A7-2C84-F5DD-65DE-0031D399396E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78185CA-3E07-059E-AC5E-F5F57E1DA1E8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0A536AC-DA2C-8610-E606-DC75A70C8106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255CA4C-848D-67ED-1EDA-4B5B4AAD4854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09F85FC-EC15-3F75-BC8B-9D538A3D3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E0C979B5-F168-0E67-3305-74B60E459BAB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53B46C9-6CA6-514A-0903-0C1E842B1FE9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用例图">
            <a:extLst>
              <a:ext uri="{FF2B5EF4-FFF2-40B4-BE49-F238E27FC236}">
                <a16:creationId xmlns:a16="http://schemas.microsoft.com/office/drawing/2014/main" id="{2511B181-AE5D-3319-D440-1A13D21B8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449" y="1637414"/>
            <a:ext cx="5456712" cy="4823639"/>
          </a:xfrm>
          <a:prstGeom prst="rect">
            <a:avLst/>
          </a:prstGeom>
        </p:spPr>
      </p:pic>
      <p:sp>
        <p:nvSpPr>
          <p:cNvPr id="19" name="文本框 115">
            <a:extLst>
              <a:ext uri="{FF2B5EF4-FFF2-40B4-BE49-F238E27FC236}">
                <a16:creationId xmlns:a16="http://schemas.microsoft.com/office/drawing/2014/main" id="{DE10CEDA-E518-0CA6-C2AE-5F015E3002E2}"/>
              </a:ext>
            </a:extLst>
          </p:cNvPr>
          <p:cNvSpPr txBox="1"/>
          <p:nvPr/>
        </p:nvSpPr>
        <p:spPr>
          <a:xfrm>
            <a:off x="718906" y="2052559"/>
            <a:ext cx="3931817" cy="3027509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本系统中定义了两种角色，分别是普通用户和管理员用户。普通用户拥有的系统功能包括用户注册、用户登录、个人信息管理、电影信息查看、电影收藏、评论查看等，管理员用户拥有的功能还包括用户权限管理、用户行为分析、电影列表管理、评论列表管理、评论情感分析、电影评分分析等。</a:t>
            </a:r>
          </a:p>
        </p:txBody>
      </p:sp>
    </p:spTree>
    <p:extLst>
      <p:ext uri="{BB962C8B-B14F-4D97-AF65-F5344CB8AC3E}">
        <p14:creationId xmlns:p14="http://schemas.microsoft.com/office/powerpoint/2010/main" val="360245304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需求数据分析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8A16908-AA60-BFC5-9DB3-B63E71F866A2}"/>
              </a:ext>
            </a:extLst>
          </p:cNvPr>
          <p:cNvGrpSpPr/>
          <p:nvPr/>
        </p:nvGrpSpPr>
        <p:grpSpPr>
          <a:xfrm>
            <a:off x="0" y="0"/>
            <a:ext cx="12192000" cy="794796"/>
            <a:chOff x="0" y="0"/>
            <a:chExt cx="12192000" cy="794796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20213292-A152-BF48-BE02-E447C3266F96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931FDA0-EF74-127A-D292-C4CAF9F7CAEB}"/>
                </a:ext>
              </a:extLst>
            </p:cNvPr>
            <p:cNvCxnSpPr/>
            <p:nvPr/>
          </p:nvCxnSpPr>
          <p:spPr>
            <a:xfrm>
              <a:off x="9353930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8CF7E60-7EC3-266E-696D-1C115181A79E}"/>
                </a:ext>
              </a:extLst>
            </p:cNvPr>
            <p:cNvSpPr/>
            <p:nvPr/>
          </p:nvSpPr>
          <p:spPr>
            <a:xfrm>
              <a:off x="5979159" y="2796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15D6487-29C4-C031-D615-8AA6F8FBF409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D78B71-1981-0C3A-FF81-3728A399285D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3E49F7-B630-2040-D042-D1CEEB4C0F20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572B49E-F380-4B87-F824-AEFBE2E6F9AE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D3CA714-C1B8-FD7E-A730-01FDFEB4D0EA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24A897A-01A8-1B9C-5ECA-3CA05D7A74E7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A5F29E7-59E7-9B5F-B785-DDB6EBD39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98B2B284-1928-D690-3CD4-7374974E6030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F532753-4D42-A928-1112-CC2AA5D397DE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47A02BDF-BAB4-41F0-1232-A105278F9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403" y="2774930"/>
            <a:ext cx="6775597" cy="2868131"/>
          </a:xfrm>
          <a:prstGeom prst="rect">
            <a:avLst/>
          </a:prstGeom>
        </p:spPr>
      </p:pic>
      <p:sp>
        <p:nvSpPr>
          <p:cNvPr id="38" name="文本框 115">
            <a:extLst>
              <a:ext uri="{FF2B5EF4-FFF2-40B4-BE49-F238E27FC236}">
                <a16:creationId xmlns:a16="http://schemas.microsoft.com/office/drawing/2014/main" id="{BB925F21-A48A-7C29-F64B-9CFC3C2863B6}"/>
              </a:ext>
            </a:extLst>
          </p:cNvPr>
          <p:cNvSpPr txBox="1"/>
          <p:nvPr/>
        </p:nvSpPr>
        <p:spPr>
          <a:xfrm>
            <a:off x="425751" y="1635601"/>
            <a:ext cx="11418918" cy="811517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在系统数据建模阶段，本文采用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Pydantic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库来定义实体的数据结构，通过严格的数据类型校验，简化了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FastAPI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框架中的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序列化过程。</a:t>
            </a:r>
          </a:p>
        </p:txBody>
      </p:sp>
      <p:sp>
        <p:nvSpPr>
          <p:cNvPr id="39" name="文本框 115">
            <a:extLst>
              <a:ext uri="{FF2B5EF4-FFF2-40B4-BE49-F238E27FC236}">
                <a16:creationId xmlns:a16="http://schemas.microsoft.com/office/drawing/2014/main" id="{83A557AF-74E2-89EF-2361-5F3DDB4489FC}"/>
              </a:ext>
            </a:extLst>
          </p:cNvPr>
          <p:cNvSpPr txBox="1"/>
          <p:nvPr/>
        </p:nvSpPr>
        <p:spPr>
          <a:xfrm>
            <a:off x="420524" y="2553878"/>
            <a:ext cx="5096537" cy="3766172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数据模型主要包括以下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个：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用户模型 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(users)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_id,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user_id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username, email, password, avatar, role, status,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created_at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电影模型 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(movies)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_id, title, director, actors, genres,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release_date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rating, poster, description,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created_at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评论模型 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(reviews)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_id,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movie_id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user_id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content, rating, sentiment,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created_at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喜好集合 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(favorites)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_id,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user_id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movie_id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created_at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  <p:bldP spid="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Part.04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系统详细设计与实现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detail="2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00" y="917624"/>
            <a:ext cx="4495800" cy="12089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C0FA05F-9B18-43DE-B14C-796467F4217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8" b="29490"/>
          <a:stretch/>
        </p:blipFill>
        <p:spPr>
          <a:xfrm>
            <a:off x="2" y="-1"/>
            <a:ext cx="12191998" cy="373649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F250DBF-1BF2-400D-9439-ACDF9D6F3F76}"/>
              </a:ext>
            </a:extLst>
          </p:cNvPr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C00000"/>
              </a:gs>
              <a:gs pos="59000">
                <a:srgbClr val="C00000">
                  <a:alpha val="40000"/>
                </a:srgbClr>
              </a:gs>
              <a:gs pos="100000">
                <a:srgbClr val="C00000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9712DC9-7427-4396-97B9-61008DE8ECE2}"/>
              </a:ext>
            </a:extLst>
          </p:cNvPr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6E63B437-68ED-4E36-94A4-F489B00731A2}"/>
                </a:ext>
              </a:extLst>
            </p:cNvPr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FAB0CF01-01E2-4E67-9436-6AC86B7F6985}"/>
                </a:ext>
              </a:extLst>
            </p:cNvPr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FF5D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89205041-170F-45BF-BD36-9FEA9E9F35C2}"/>
              </a:ext>
            </a:extLst>
          </p:cNvPr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Part.04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F21281D-F812-4BCE-884B-3AAFD303249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64" y="903148"/>
            <a:ext cx="5911273" cy="170659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27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7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9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0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4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8" grpId="0"/>
          <p:bldP spid="9" grpId="0"/>
          <p:bldP spid="12" grpId="0" animBg="1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27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7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4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8" grpId="0"/>
          <p:bldP spid="9" grpId="0"/>
          <p:bldP spid="12" grpId="0" animBg="1"/>
          <p:bldP spid="16" grpId="0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用户登录模块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FD031DC-3A36-0281-4AEA-E06FF98A3076}"/>
              </a:ext>
            </a:extLst>
          </p:cNvPr>
          <p:cNvGrpSpPr/>
          <p:nvPr/>
        </p:nvGrpSpPr>
        <p:grpSpPr>
          <a:xfrm>
            <a:off x="1094562" y="1641323"/>
            <a:ext cx="9562165" cy="884053"/>
            <a:chOff x="1094562" y="1641323"/>
            <a:chExt cx="9562165" cy="884053"/>
          </a:xfrm>
        </p:grpSpPr>
        <p:sp>
          <p:nvSpPr>
            <p:cNvPr id="45" name="圆角矩形 44"/>
            <p:cNvSpPr/>
            <p:nvPr/>
          </p:nvSpPr>
          <p:spPr>
            <a:xfrm>
              <a:off x="1256128" y="1641323"/>
              <a:ext cx="8640000" cy="884053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603D497-4ABC-82B4-1780-3AE3C3E352E4}"/>
                </a:ext>
              </a:extLst>
            </p:cNvPr>
            <p:cNvGrpSpPr/>
            <p:nvPr/>
          </p:nvGrpSpPr>
          <p:grpSpPr>
            <a:xfrm>
              <a:off x="1094562" y="1810196"/>
              <a:ext cx="9562165" cy="546307"/>
              <a:chOff x="1339492" y="1941712"/>
              <a:chExt cx="9562165" cy="546307"/>
            </a:xfrm>
          </p:grpSpPr>
          <p:sp>
            <p:nvSpPr>
              <p:cNvPr id="46" name="流程图: 离页连接符 45"/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2159124" y="1986897"/>
                <a:ext cx="2030103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用户认证功能</a:t>
                </a: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4412099" y="1941712"/>
                <a:ext cx="6489558" cy="4181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系统中采用了基于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OAuth2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密码流和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JWT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的认证方案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3630A0D-F83A-85B7-C4F3-024513F83EB7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EF883EB2-6AAE-4425-2E8C-D1D9CD2ABAD8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EA59AC0-6F77-CB59-3F84-7940B3587CA9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0780968-C719-12DC-0048-519226645BEA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5802C6-0C49-6ADF-60A6-4DAB8743428C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F5226D-6F47-3B44-268D-508190FB7CF9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8458C19-A31C-B60E-CD7F-A564D8E1B24D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18BB9DF-AEB0-573C-76C3-6A6C8567EB90}"/>
                </a:ext>
              </a:extLst>
            </p:cNvPr>
            <p:cNvSpPr txBox="1"/>
            <p:nvPr/>
          </p:nvSpPr>
          <p:spPr>
            <a:xfrm>
              <a:off x="7829274" y="22441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329E287-8DFF-EE20-0CE4-91AB72AA64F9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1D63E01-A514-4CF2-837F-51B553B64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6FCB1FD6-FDD7-5874-E360-44CF160AF2D5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00D1766-BDDE-AB3E-72AE-64CAF7ECBAE3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A0C86B3-636F-D9F0-E40D-48CAE2C6F8CA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B7831085-063F-1BF6-A00C-E8E29713432A}"/>
              </a:ext>
            </a:extLst>
          </p:cNvPr>
          <p:cNvSpPr txBox="1"/>
          <p:nvPr/>
        </p:nvSpPr>
        <p:spPr>
          <a:xfrm>
            <a:off x="4406796" y="2910222"/>
            <a:ext cx="3330912" cy="3662662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8575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50299913-C27E-D058-4A68-CC0604DCF683}"/>
              </a:ext>
            </a:extLst>
          </p:cNvPr>
          <p:cNvSpPr txBox="1"/>
          <p:nvPr/>
        </p:nvSpPr>
        <p:spPr>
          <a:xfrm>
            <a:off x="4517097" y="4030067"/>
            <a:ext cx="3110310" cy="23857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用户登录时，系统接收用户名和密码，从数据库中检索对应用户记录，使用相同的哈希算法验证密码的正确性。
验证通过后，用户ID、昵称等信息被存入Django的Session用于后续请求的身份识别和权限控制，实现用户的登录功能。</a:t>
            </a:r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ED33A894-5195-3C5B-83EC-A82CF3C05480}"/>
              </a:ext>
            </a:extLst>
          </p:cNvPr>
          <p:cNvSpPr txBox="1"/>
          <p:nvPr/>
        </p:nvSpPr>
        <p:spPr>
          <a:xfrm>
            <a:off x="5668920" y="2511424"/>
            <a:ext cx="806664" cy="80666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310E7A0B-D886-49F3-6AE3-E2497DA89885}"/>
              </a:ext>
            </a:extLst>
          </p:cNvPr>
          <p:cNvSpPr txBox="1"/>
          <p:nvPr/>
        </p:nvSpPr>
        <p:spPr>
          <a:xfrm>
            <a:off x="5762894" y="2683634"/>
            <a:ext cx="618717" cy="4622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02</a:t>
            </a:r>
            <a:endParaRPr kumimoji="1" lang="zh-CN" altLang="en-US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C1084A05-9E7A-DB03-79A0-9B7BF4A7358E}"/>
              </a:ext>
            </a:extLst>
          </p:cNvPr>
          <p:cNvSpPr txBox="1"/>
          <p:nvPr/>
        </p:nvSpPr>
        <p:spPr>
          <a:xfrm rot="5400000">
            <a:off x="7512025" y="6306101"/>
            <a:ext cx="366574" cy="366574"/>
          </a:xfrm>
          <a:custGeom>
            <a:avLst/>
            <a:gdLst>
              <a:gd name="connsiteX0" fmla="*/ 0 w 1272540"/>
              <a:gd name="connsiteY0" fmla="*/ 636270 h 1272540"/>
              <a:gd name="connsiteX1" fmla="*/ 152400 w 1272540"/>
              <a:gd name="connsiteY1" fmla="*/ 483870 h 1272540"/>
              <a:gd name="connsiteX2" fmla="*/ 483870 w 1272540"/>
              <a:gd name="connsiteY2" fmla="*/ 483870 h 1272540"/>
              <a:gd name="connsiteX3" fmla="*/ 483870 w 1272540"/>
              <a:gd name="connsiteY3" fmla="*/ 152400 h 1272540"/>
              <a:gd name="connsiteX4" fmla="*/ 636270 w 1272540"/>
              <a:gd name="connsiteY4" fmla="*/ 0 h 1272540"/>
              <a:gd name="connsiteX5" fmla="*/ 788670 w 1272540"/>
              <a:gd name="connsiteY5" fmla="*/ 152400 h 1272540"/>
              <a:gd name="connsiteX6" fmla="*/ 788670 w 1272540"/>
              <a:gd name="connsiteY6" fmla="*/ 483870 h 1272540"/>
              <a:gd name="connsiteX7" fmla="*/ 1120140 w 1272540"/>
              <a:gd name="connsiteY7" fmla="*/ 483870 h 1272540"/>
              <a:gd name="connsiteX8" fmla="*/ 1272540 w 1272540"/>
              <a:gd name="connsiteY8" fmla="*/ 636270 h 1272540"/>
              <a:gd name="connsiteX9" fmla="*/ 1120140 w 1272540"/>
              <a:gd name="connsiteY9" fmla="*/ 788670 h 1272540"/>
              <a:gd name="connsiteX10" fmla="*/ 788670 w 1272540"/>
              <a:gd name="connsiteY10" fmla="*/ 788670 h 1272540"/>
              <a:gd name="connsiteX11" fmla="*/ 788670 w 1272540"/>
              <a:gd name="connsiteY11" fmla="*/ 1120140 h 1272540"/>
              <a:gd name="connsiteX12" fmla="*/ 636270 w 1272540"/>
              <a:gd name="connsiteY12" fmla="*/ 1272540 h 1272540"/>
              <a:gd name="connsiteX13" fmla="*/ 483870 w 1272540"/>
              <a:gd name="connsiteY13" fmla="*/ 1120140 h 1272540"/>
              <a:gd name="connsiteX14" fmla="*/ 483870 w 1272540"/>
              <a:gd name="connsiteY14" fmla="*/ 788670 h 1272540"/>
              <a:gd name="connsiteX15" fmla="*/ 152400 w 1272540"/>
              <a:gd name="connsiteY15" fmla="*/ 788670 h 1272540"/>
              <a:gd name="connsiteX16" fmla="*/ 0 w 1272540"/>
              <a:gd name="connsiteY16" fmla="*/ 636270 h 1272540"/>
            </a:gdLst>
            <a:ahLst/>
            <a:cxnLst/>
            <a:rect l="l" t="t" r="r" b="b"/>
            <a:pathLst>
              <a:path w="1272540" h="1272540">
                <a:moveTo>
                  <a:pt x="0" y="636270"/>
                </a:moveTo>
                <a:cubicBezTo>
                  <a:pt x="0" y="552102"/>
                  <a:pt x="68232" y="483870"/>
                  <a:pt x="152400" y="483870"/>
                </a:cubicBezTo>
                <a:lnTo>
                  <a:pt x="483870" y="483870"/>
                </a:lnTo>
                <a:lnTo>
                  <a:pt x="483870" y="152400"/>
                </a:lnTo>
                <a:cubicBezTo>
                  <a:pt x="483870" y="68232"/>
                  <a:pt x="552102" y="0"/>
                  <a:pt x="636270" y="0"/>
                </a:cubicBezTo>
                <a:cubicBezTo>
                  <a:pt x="720438" y="0"/>
                  <a:pt x="788670" y="68232"/>
                  <a:pt x="788670" y="152400"/>
                </a:cubicBezTo>
                <a:lnTo>
                  <a:pt x="788670" y="483870"/>
                </a:lnTo>
                <a:lnTo>
                  <a:pt x="1120140" y="483870"/>
                </a:lnTo>
                <a:cubicBezTo>
                  <a:pt x="1204308" y="483870"/>
                  <a:pt x="1272540" y="552102"/>
                  <a:pt x="1272540" y="636270"/>
                </a:cubicBezTo>
                <a:cubicBezTo>
                  <a:pt x="1272540" y="720438"/>
                  <a:pt x="1204308" y="788670"/>
                  <a:pt x="1120140" y="788670"/>
                </a:cubicBezTo>
                <a:lnTo>
                  <a:pt x="788670" y="788670"/>
                </a:lnTo>
                <a:lnTo>
                  <a:pt x="788670" y="1120140"/>
                </a:lnTo>
                <a:cubicBezTo>
                  <a:pt x="788670" y="1204308"/>
                  <a:pt x="720438" y="1272540"/>
                  <a:pt x="636270" y="1272540"/>
                </a:cubicBezTo>
                <a:cubicBezTo>
                  <a:pt x="552102" y="1272540"/>
                  <a:pt x="483870" y="1204308"/>
                  <a:pt x="483870" y="1120140"/>
                </a:cubicBezTo>
                <a:lnTo>
                  <a:pt x="483870" y="788670"/>
                </a:lnTo>
                <a:lnTo>
                  <a:pt x="152400" y="788670"/>
                </a:lnTo>
                <a:cubicBezTo>
                  <a:pt x="68232" y="788670"/>
                  <a:pt x="0" y="720438"/>
                  <a:pt x="0" y="63627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635DFDED-DE3B-96D1-90DE-73A8FE913D85}"/>
              </a:ext>
            </a:extLst>
          </p:cNvPr>
          <p:cNvSpPr txBox="1"/>
          <p:nvPr/>
        </p:nvSpPr>
        <p:spPr>
          <a:xfrm>
            <a:off x="8170590" y="2910222"/>
            <a:ext cx="3330912" cy="3662662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8575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457FEEF7-4E2B-5C00-708C-0218002C765B}"/>
              </a:ext>
            </a:extLst>
          </p:cNvPr>
          <p:cNvSpPr txBox="1"/>
          <p:nvPr/>
        </p:nvSpPr>
        <p:spPr>
          <a:xfrm>
            <a:off x="8280891" y="4030067"/>
            <a:ext cx="3110310" cy="23857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系统提供用户管理界面，管理员可以通过该界面查看和管理用户信息，包括用户的基本信息、权限设置等。
实现对用户的有效管理，确保系统的权限控制和用户数据的规范管理。</a:t>
            </a:r>
            <a:endParaRPr kumimoji="1" lang="zh-CN" altLang="en-US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6FC74A98-7C79-0335-5237-A9406E4C4E14}"/>
              </a:ext>
            </a:extLst>
          </p:cNvPr>
          <p:cNvSpPr txBox="1"/>
          <p:nvPr/>
        </p:nvSpPr>
        <p:spPr>
          <a:xfrm>
            <a:off x="9432714" y="2511424"/>
            <a:ext cx="806664" cy="806664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FB6CBA79-860A-82BF-4422-C0CA3F06B6D9}"/>
              </a:ext>
            </a:extLst>
          </p:cNvPr>
          <p:cNvSpPr txBox="1"/>
          <p:nvPr/>
        </p:nvSpPr>
        <p:spPr>
          <a:xfrm>
            <a:off x="9526688" y="2683634"/>
            <a:ext cx="618717" cy="4622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03</a:t>
            </a:r>
            <a:endParaRPr kumimoji="1" lang="zh-CN" altLang="en-US"/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FA18CBBB-CA4C-9B7A-35A2-E5AEFA40D8EF}"/>
              </a:ext>
            </a:extLst>
          </p:cNvPr>
          <p:cNvSpPr txBox="1"/>
          <p:nvPr/>
        </p:nvSpPr>
        <p:spPr>
          <a:xfrm rot="5400000">
            <a:off x="11275819" y="6306101"/>
            <a:ext cx="366574" cy="366574"/>
          </a:xfrm>
          <a:custGeom>
            <a:avLst/>
            <a:gdLst>
              <a:gd name="connsiteX0" fmla="*/ 0 w 1272540"/>
              <a:gd name="connsiteY0" fmla="*/ 636270 h 1272540"/>
              <a:gd name="connsiteX1" fmla="*/ 152400 w 1272540"/>
              <a:gd name="connsiteY1" fmla="*/ 483870 h 1272540"/>
              <a:gd name="connsiteX2" fmla="*/ 483870 w 1272540"/>
              <a:gd name="connsiteY2" fmla="*/ 483870 h 1272540"/>
              <a:gd name="connsiteX3" fmla="*/ 483870 w 1272540"/>
              <a:gd name="connsiteY3" fmla="*/ 152400 h 1272540"/>
              <a:gd name="connsiteX4" fmla="*/ 636270 w 1272540"/>
              <a:gd name="connsiteY4" fmla="*/ 0 h 1272540"/>
              <a:gd name="connsiteX5" fmla="*/ 788670 w 1272540"/>
              <a:gd name="connsiteY5" fmla="*/ 152400 h 1272540"/>
              <a:gd name="connsiteX6" fmla="*/ 788670 w 1272540"/>
              <a:gd name="connsiteY6" fmla="*/ 483870 h 1272540"/>
              <a:gd name="connsiteX7" fmla="*/ 1120140 w 1272540"/>
              <a:gd name="connsiteY7" fmla="*/ 483870 h 1272540"/>
              <a:gd name="connsiteX8" fmla="*/ 1272540 w 1272540"/>
              <a:gd name="connsiteY8" fmla="*/ 636270 h 1272540"/>
              <a:gd name="connsiteX9" fmla="*/ 1120140 w 1272540"/>
              <a:gd name="connsiteY9" fmla="*/ 788670 h 1272540"/>
              <a:gd name="connsiteX10" fmla="*/ 788670 w 1272540"/>
              <a:gd name="connsiteY10" fmla="*/ 788670 h 1272540"/>
              <a:gd name="connsiteX11" fmla="*/ 788670 w 1272540"/>
              <a:gd name="connsiteY11" fmla="*/ 1120140 h 1272540"/>
              <a:gd name="connsiteX12" fmla="*/ 636270 w 1272540"/>
              <a:gd name="connsiteY12" fmla="*/ 1272540 h 1272540"/>
              <a:gd name="connsiteX13" fmla="*/ 483870 w 1272540"/>
              <a:gd name="connsiteY13" fmla="*/ 1120140 h 1272540"/>
              <a:gd name="connsiteX14" fmla="*/ 483870 w 1272540"/>
              <a:gd name="connsiteY14" fmla="*/ 788670 h 1272540"/>
              <a:gd name="connsiteX15" fmla="*/ 152400 w 1272540"/>
              <a:gd name="connsiteY15" fmla="*/ 788670 h 1272540"/>
              <a:gd name="connsiteX16" fmla="*/ 0 w 1272540"/>
              <a:gd name="connsiteY16" fmla="*/ 636270 h 1272540"/>
            </a:gdLst>
            <a:ahLst/>
            <a:cxnLst/>
            <a:rect l="l" t="t" r="r" b="b"/>
            <a:pathLst>
              <a:path w="1272540" h="1272540">
                <a:moveTo>
                  <a:pt x="0" y="636270"/>
                </a:moveTo>
                <a:cubicBezTo>
                  <a:pt x="0" y="552102"/>
                  <a:pt x="68232" y="483870"/>
                  <a:pt x="152400" y="483870"/>
                </a:cubicBezTo>
                <a:lnTo>
                  <a:pt x="483870" y="483870"/>
                </a:lnTo>
                <a:lnTo>
                  <a:pt x="483870" y="152400"/>
                </a:lnTo>
                <a:cubicBezTo>
                  <a:pt x="483870" y="68232"/>
                  <a:pt x="552102" y="0"/>
                  <a:pt x="636270" y="0"/>
                </a:cubicBezTo>
                <a:cubicBezTo>
                  <a:pt x="720438" y="0"/>
                  <a:pt x="788670" y="68232"/>
                  <a:pt x="788670" y="152400"/>
                </a:cubicBezTo>
                <a:lnTo>
                  <a:pt x="788670" y="483870"/>
                </a:lnTo>
                <a:lnTo>
                  <a:pt x="1120140" y="483870"/>
                </a:lnTo>
                <a:cubicBezTo>
                  <a:pt x="1204308" y="483870"/>
                  <a:pt x="1272540" y="552102"/>
                  <a:pt x="1272540" y="636270"/>
                </a:cubicBezTo>
                <a:cubicBezTo>
                  <a:pt x="1272540" y="720438"/>
                  <a:pt x="1204308" y="788670"/>
                  <a:pt x="1120140" y="788670"/>
                </a:cubicBezTo>
                <a:lnTo>
                  <a:pt x="788670" y="788670"/>
                </a:lnTo>
                <a:lnTo>
                  <a:pt x="788670" y="1120140"/>
                </a:lnTo>
                <a:cubicBezTo>
                  <a:pt x="788670" y="1204308"/>
                  <a:pt x="720438" y="1272540"/>
                  <a:pt x="636270" y="1272540"/>
                </a:cubicBezTo>
                <a:cubicBezTo>
                  <a:pt x="552102" y="1272540"/>
                  <a:pt x="483870" y="1204308"/>
                  <a:pt x="483870" y="1120140"/>
                </a:cubicBezTo>
                <a:lnTo>
                  <a:pt x="483870" y="788670"/>
                </a:lnTo>
                <a:lnTo>
                  <a:pt x="152400" y="788670"/>
                </a:lnTo>
                <a:cubicBezTo>
                  <a:pt x="68232" y="788670"/>
                  <a:pt x="0" y="720438"/>
                  <a:pt x="0" y="63627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>
            <a:extLst>
              <a:ext uri="{FF2B5EF4-FFF2-40B4-BE49-F238E27FC236}">
                <a16:creationId xmlns:a16="http://schemas.microsoft.com/office/drawing/2014/main" id="{02B89AB9-FF49-3E98-E9A7-DFB31B58E875}"/>
              </a:ext>
            </a:extLst>
          </p:cNvPr>
          <p:cNvSpPr txBox="1"/>
          <p:nvPr/>
        </p:nvSpPr>
        <p:spPr>
          <a:xfrm>
            <a:off x="643002" y="2910222"/>
            <a:ext cx="3330912" cy="3662662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8575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D064C329-2F7E-C2E1-4B03-11447FCF4C34}"/>
              </a:ext>
            </a:extLst>
          </p:cNvPr>
          <p:cNvSpPr txBox="1"/>
          <p:nvPr/>
        </p:nvSpPr>
        <p:spPr>
          <a:xfrm>
            <a:off x="753303" y="4030067"/>
            <a:ext cx="3110310" cy="23857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用户注册时，系统接收前端提交的用户名、密码等信息，将密码结合随机生成的盐值，通过PBKDF2算法进行哈希处理，生成password_hash存储于数据库。
确保用户密码的安全性，防止密码泄露风险，保障用户数据安全。</a:t>
            </a:r>
            <a:endParaRPr kumimoji="1" lang="zh-CN" altLang="en-US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0B3D6A43-DD00-DD6F-2585-F7C7DEE6127E}"/>
              </a:ext>
            </a:extLst>
          </p:cNvPr>
          <p:cNvSpPr txBox="1"/>
          <p:nvPr/>
        </p:nvSpPr>
        <p:spPr>
          <a:xfrm>
            <a:off x="1905126" y="2511424"/>
            <a:ext cx="806664" cy="806664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0" name="标题 1">
            <a:extLst>
              <a:ext uri="{FF2B5EF4-FFF2-40B4-BE49-F238E27FC236}">
                <a16:creationId xmlns:a16="http://schemas.microsoft.com/office/drawing/2014/main" id="{0F943051-5C95-3FB3-3C99-4016DCAC9C32}"/>
              </a:ext>
            </a:extLst>
          </p:cNvPr>
          <p:cNvSpPr txBox="1"/>
          <p:nvPr/>
        </p:nvSpPr>
        <p:spPr>
          <a:xfrm>
            <a:off x="1999100" y="2683634"/>
            <a:ext cx="618717" cy="4622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01</a:t>
            </a:r>
            <a:endParaRPr kumimoji="1" lang="zh-CN" altLang="en-US"/>
          </a:p>
        </p:txBody>
      </p:sp>
      <p:sp>
        <p:nvSpPr>
          <p:cNvPr id="42" name="标题 1">
            <a:extLst>
              <a:ext uri="{FF2B5EF4-FFF2-40B4-BE49-F238E27FC236}">
                <a16:creationId xmlns:a16="http://schemas.microsoft.com/office/drawing/2014/main" id="{FDE5BBF3-039A-A103-A4C7-ECECAED4040D}"/>
              </a:ext>
            </a:extLst>
          </p:cNvPr>
          <p:cNvSpPr txBox="1"/>
          <p:nvPr/>
        </p:nvSpPr>
        <p:spPr>
          <a:xfrm rot="5400000">
            <a:off x="3748231" y="6306101"/>
            <a:ext cx="366574" cy="366574"/>
          </a:xfrm>
          <a:custGeom>
            <a:avLst/>
            <a:gdLst>
              <a:gd name="connsiteX0" fmla="*/ 0 w 1272540"/>
              <a:gd name="connsiteY0" fmla="*/ 636270 h 1272540"/>
              <a:gd name="connsiteX1" fmla="*/ 152400 w 1272540"/>
              <a:gd name="connsiteY1" fmla="*/ 483870 h 1272540"/>
              <a:gd name="connsiteX2" fmla="*/ 483870 w 1272540"/>
              <a:gd name="connsiteY2" fmla="*/ 483870 h 1272540"/>
              <a:gd name="connsiteX3" fmla="*/ 483870 w 1272540"/>
              <a:gd name="connsiteY3" fmla="*/ 152400 h 1272540"/>
              <a:gd name="connsiteX4" fmla="*/ 636270 w 1272540"/>
              <a:gd name="connsiteY4" fmla="*/ 0 h 1272540"/>
              <a:gd name="connsiteX5" fmla="*/ 788670 w 1272540"/>
              <a:gd name="connsiteY5" fmla="*/ 152400 h 1272540"/>
              <a:gd name="connsiteX6" fmla="*/ 788670 w 1272540"/>
              <a:gd name="connsiteY6" fmla="*/ 483870 h 1272540"/>
              <a:gd name="connsiteX7" fmla="*/ 1120140 w 1272540"/>
              <a:gd name="connsiteY7" fmla="*/ 483870 h 1272540"/>
              <a:gd name="connsiteX8" fmla="*/ 1272540 w 1272540"/>
              <a:gd name="connsiteY8" fmla="*/ 636270 h 1272540"/>
              <a:gd name="connsiteX9" fmla="*/ 1120140 w 1272540"/>
              <a:gd name="connsiteY9" fmla="*/ 788670 h 1272540"/>
              <a:gd name="connsiteX10" fmla="*/ 788670 w 1272540"/>
              <a:gd name="connsiteY10" fmla="*/ 788670 h 1272540"/>
              <a:gd name="connsiteX11" fmla="*/ 788670 w 1272540"/>
              <a:gd name="connsiteY11" fmla="*/ 1120140 h 1272540"/>
              <a:gd name="connsiteX12" fmla="*/ 636270 w 1272540"/>
              <a:gd name="connsiteY12" fmla="*/ 1272540 h 1272540"/>
              <a:gd name="connsiteX13" fmla="*/ 483870 w 1272540"/>
              <a:gd name="connsiteY13" fmla="*/ 1120140 h 1272540"/>
              <a:gd name="connsiteX14" fmla="*/ 483870 w 1272540"/>
              <a:gd name="connsiteY14" fmla="*/ 788670 h 1272540"/>
              <a:gd name="connsiteX15" fmla="*/ 152400 w 1272540"/>
              <a:gd name="connsiteY15" fmla="*/ 788670 h 1272540"/>
              <a:gd name="connsiteX16" fmla="*/ 0 w 1272540"/>
              <a:gd name="connsiteY16" fmla="*/ 636270 h 1272540"/>
            </a:gdLst>
            <a:ahLst/>
            <a:cxnLst/>
            <a:rect l="l" t="t" r="r" b="b"/>
            <a:pathLst>
              <a:path w="1272540" h="1272540">
                <a:moveTo>
                  <a:pt x="0" y="636270"/>
                </a:moveTo>
                <a:cubicBezTo>
                  <a:pt x="0" y="552102"/>
                  <a:pt x="68232" y="483870"/>
                  <a:pt x="152400" y="483870"/>
                </a:cubicBezTo>
                <a:lnTo>
                  <a:pt x="483870" y="483870"/>
                </a:lnTo>
                <a:lnTo>
                  <a:pt x="483870" y="152400"/>
                </a:lnTo>
                <a:cubicBezTo>
                  <a:pt x="483870" y="68232"/>
                  <a:pt x="552102" y="0"/>
                  <a:pt x="636270" y="0"/>
                </a:cubicBezTo>
                <a:cubicBezTo>
                  <a:pt x="720438" y="0"/>
                  <a:pt x="788670" y="68232"/>
                  <a:pt x="788670" y="152400"/>
                </a:cubicBezTo>
                <a:lnTo>
                  <a:pt x="788670" y="483870"/>
                </a:lnTo>
                <a:lnTo>
                  <a:pt x="1120140" y="483870"/>
                </a:lnTo>
                <a:cubicBezTo>
                  <a:pt x="1204308" y="483870"/>
                  <a:pt x="1272540" y="552102"/>
                  <a:pt x="1272540" y="636270"/>
                </a:cubicBezTo>
                <a:cubicBezTo>
                  <a:pt x="1272540" y="720438"/>
                  <a:pt x="1204308" y="788670"/>
                  <a:pt x="1120140" y="788670"/>
                </a:cubicBezTo>
                <a:lnTo>
                  <a:pt x="788670" y="788670"/>
                </a:lnTo>
                <a:lnTo>
                  <a:pt x="788670" y="1120140"/>
                </a:lnTo>
                <a:cubicBezTo>
                  <a:pt x="788670" y="1204308"/>
                  <a:pt x="720438" y="1272540"/>
                  <a:pt x="636270" y="1272540"/>
                </a:cubicBezTo>
                <a:cubicBezTo>
                  <a:pt x="552102" y="1272540"/>
                  <a:pt x="483870" y="1204308"/>
                  <a:pt x="483870" y="1120140"/>
                </a:cubicBezTo>
                <a:lnTo>
                  <a:pt x="483870" y="788670"/>
                </a:lnTo>
                <a:lnTo>
                  <a:pt x="152400" y="788670"/>
                </a:lnTo>
                <a:cubicBezTo>
                  <a:pt x="68232" y="788670"/>
                  <a:pt x="0" y="720438"/>
                  <a:pt x="0" y="63627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87DE4A15-99EC-FC40-1888-5D314A996BA2}"/>
              </a:ext>
            </a:extLst>
          </p:cNvPr>
          <p:cNvSpPr txBox="1"/>
          <p:nvPr/>
        </p:nvSpPr>
        <p:spPr>
          <a:xfrm>
            <a:off x="753258" y="3383009"/>
            <a:ext cx="3110400" cy="6248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用户注册</a:t>
            </a:r>
            <a:endParaRPr kumimoji="1" lang="zh-CN" altLang="en-US"/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E9456EB0-F465-5A8A-F1D6-593E8657946D}"/>
              </a:ext>
            </a:extLst>
          </p:cNvPr>
          <p:cNvSpPr txBox="1"/>
          <p:nvPr/>
        </p:nvSpPr>
        <p:spPr>
          <a:xfrm>
            <a:off x="4517052" y="3383009"/>
            <a:ext cx="3110400" cy="6248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用户登录</a:t>
            </a:r>
            <a:endParaRPr kumimoji="1" lang="zh-CN" altLang="en-US"/>
          </a:p>
        </p:txBody>
      </p:sp>
      <p:sp>
        <p:nvSpPr>
          <p:cNvPr id="50" name="标题 1">
            <a:extLst>
              <a:ext uri="{FF2B5EF4-FFF2-40B4-BE49-F238E27FC236}">
                <a16:creationId xmlns:a16="http://schemas.microsoft.com/office/drawing/2014/main" id="{41920750-27C2-18E4-B93F-5CA83183FC6B}"/>
              </a:ext>
            </a:extLst>
          </p:cNvPr>
          <p:cNvSpPr txBox="1"/>
          <p:nvPr/>
        </p:nvSpPr>
        <p:spPr>
          <a:xfrm>
            <a:off x="8280846" y="3383009"/>
            <a:ext cx="3110400" cy="6248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用户管理</a:t>
            </a:r>
            <a:endParaRPr kumimoji="1"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124F-A931-A80F-7869-E22C4017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3531446-78B2-204C-E12A-7BD089B3ADE1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E616CCD9-B4C2-3CF7-F2D5-B07522DD78FD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用户登录模块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782F7AD-85A6-B4BB-3AFE-37DABC0C299B}"/>
              </a:ext>
            </a:extLst>
          </p:cNvPr>
          <p:cNvGrpSpPr/>
          <p:nvPr/>
        </p:nvGrpSpPr>
        <p:grpSpPr>
          <a:xfrm>
            <a:off x="1094562" y="1641323"/>
            <a:ext cx="9562165" cy="884053"/>
            <a:chOff x="1094562" y="1641323"/>
            <a:chExt cx="9562165" cy="884053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25711CA3-D4D9-D651-947E-178F6800AF00}"/>
                </a:ext>
              </a:extLst>
            </p:cNvPr>
            <p:cNvSpPr/>
            <p:nvPr/>
          </p:nvSpPr>
          <p:spPr>
            <a:xfrm>
              <a:off x="1256128" y="1641323"/>
              <a:ext cx="8640000" cy="884053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A3055A0-44D2-3268-0CA0-28133C2D278F}"/>
                </a:ext>
              </a:extLst>
            </p:cNvPr>
            <p:cNvGrpSpPr/>
            <p:nvPr/>
          </p:nvGrpSpPr>
          <p:grpSpPr>
            <a:xfrm>
              <a:off x="1094562" y="1810196"/>
              <a:ext cx="9562165" cy="546307"/>
              <a:chOff x="1339492" y="1941712"/>
              <a:chExt cx="9562165" cy="546307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4E7F8947-FA3C-D82F-EAC2-F45B2E22A86F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C35F6B6-F6FE-A854-05D7-D30C5046073A}"/>
                  </a:ext>
                </a:extLst>
              </p:cNvPr>
              <p:cNvSpPr/>
              <p:nvPr/>
            </p:nvSpPr>
            <p:spPr>
              <a:xfrm>
                <a:off x="2159124" y="1986897"/>
                <a:ext cx="2030103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用户认证功能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EAF22DF-726A-8118-A110-7843CCEF8910}"/>
                  </a:ext>
                </a:extLst>
              </p:cNvPr>
              <p:cNvSpPr/>
              <p:nvPr/>
            </p:nvSpPr>
            <p:spPr>
              <a:xfrm>
                <a:off x="4412099" y="1941712"/>
                <a:ext cx="6489558" cy="4181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系统中采用了基于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OAuth2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密码流和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JWT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的认证方案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A34E7D3F-358D-B41F-76AC-C7CF76B9ECCE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ED66750-6399-0150-5EE5-3D9EA4CF5B88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505AF804-D387-1A6F-B94B-3B6CB782C319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F7A4FD6-6969-334D-BF65-E1A15C581C42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A880E99-E290-35E1-C2E6-B623791F7538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7D1F58-883D-5FE8-7A4A-FE4B0ED4EFF5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0569DE-52A3-D63A-9D43-24FBCBA0C3D4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2E9A05C-BCE1-7455-3326-E290062F3B8A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CD91226-5EDB-47FD-0058-793F18AD4485}"/>
                </a:ext>
              </a:extLst>
            </p:cNvPr>
            <p:cNvSpPr txBox="1"/>
            <p:nvPr/>
          </p:nvSpPr>
          <p:spPr>
            <a:xfrm>
              <a:off x="7829274" y="22441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BE2F670-1564-6DDB-D719-7E4D00106846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F0A75C1-D22E-07FA-F097-8456455D7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2279D1D1-3624-33A5-BFC0-8D4AC396A2AD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D014949-50F4-63E2-DFA7-45E71B27118B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A36FDDF-AAA1-BC97-D35D-9A46B30548BC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71CE919B-D5BA-4D6D-0596-6FDEC6CFFF0C}"/>
              </a:ext>
            </a:extLst>
          </p:cNvPr>
          <p:cNvSpPr txBox="1"/>
          <p:nvPr/>
        </p:nvSpPr>
        <p:spPr>
          <a:xfrm>
            <a:off x="710162" y="2609438"/>
            <a:ext cx="3402378" cy="4111195"/>
          </a:xfrm>
          <a:prstGeom prst="roundRect">
            <a:avLst>
              <a:gd name="adj" fmla="val 5239"/>
            </a:avLst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BD29E452-C0A3-CA74-03B8-549E347B8A05}"/>
              </a:ext>
            </a:extLst>
          </p:cNvPr>
          <p:cNvSpPr txBox="1"/>
          <p:nvPr/>
        </p:nvSpPr>
        <p:spPr>
          <a:xfrm>
            <a:off x="799664" y="3334495"/>
            <a:ext cx="3223374" cy="33566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爬虫模块基于Python的requests库模拟HTTP请求，并结合BeautifulSoup或lxml等工具对微博网页版的HTML页面进行解析，以实现内容抓取。
针对微博平台可能存在的反爬机制，引入了多项增强策略，如设置合理的User- Agent请求头模拟真实浏览器行为、引入随机延时控制请求频率、构建并维护代理IP池等，提高访问的稳定性与成功率。</a:t>
            </a:r>
            <a:endParaRPr kumimoji="1" lang="zh-CN" altLang="en-US"/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E636B5A-6A85-353D-62CA-84EB77090D18}"/>
              </a:ext>
            </a:extLst>
          </p:cNvPr>
          <p:cNvSpPr txBox="1"/>
          <p:nvPr/>
        </p:nvSpPr>
        <p:spPr>
          <a:xfrm>
            <a:off x="799664" y="2718622"/>
            <a:ext cx="3223375" cy="46818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数据爬取策略</a:t>
            </a:r>
            <a:endParaRPr kumimoji="1" lang="zh-CN" altLang="en-US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9974258A-A9B1-BC55-BB13-14A01EF6ADD4}"/>
              </a:ext>
            </a:extLst>
          </p:cNvPr>
          <p:cNvSpPr txBox="1"/>
          <p:nvPr/>
        </p:nvSpPr>
        <p:spPr>
          <a:xfrm flipV="1">
            <a:off x="1976678" y="3216338"/>
            <a:ext cx="869347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59FD9FC8-ABC6-277E-63E7-A375BD52FF51}"/>
              </a:ext>
            </a:extLst>
          </p:cNvPr>
          <p:cNvSpPr txBox="1"/>
          <p:nvPr/>
        </p:nvSpPr>
        <p:spPr>
          <a:xfrm>
            <a:off x="4428040" y="2609438"/>
            <a:ext cx="3402378" cy="4111195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C428579D-50FA-69FE-EDCC-C3EC5B84344C}"/>
              </a:ext>
            </a:extLst>
          </p:cNvPr>
          <p:cNvSpPr txBox="1"/>
          <p:nvPr/>
        </p:nvSpPr>
        <p:spPr>
          <a:xfrm>
            <a:off x="4517542" y="3364025"/>
            <a:ext cx="3223374" cy="33566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爬取到的数据经过清洗和格式化处理后，封装为Search模型对象，通过Django ORM提供的save()方法持久化存储至search表中。
在爬取微博评论时，根据微博ID发起额外请求，清洗后的评论数据存储至comment表中，确保数据的完整性和准确性。</a:t>
            </a:r>
            <a:endParaRPr kumimoji="1" lang="zh-CN" altLang="en-US"/>
          </a:p>
        </p:txBody>
      </p:sp>
      <p:sp>
        <p:nvSpPr>
          <p:cNvPr id="38" name="标题 1">
            <a:extLst>
              <a:ext uri="{FF2B5EF4-FFF2-40B4-BE49-F238E27FC236}">
                <a16:creationId xmlns:a16="http://schemas.microsoft.com/office/drawing/2014/main" id="{C77B15CF-B6BB-8EE9-A82D-027041A5C067}"/>
              </a:ext>
            </a:extLst>
          </p:cNvPr>
          <p:cNvSpPr txBox="1"/>
          <p:nvPr/>
        </p:nvSpPr>
        <p:spPr>
          <a:xfrm flipV="1">
            <a:off x="5694556" y="3245868"/>
            <a:ext cx="869347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>
            <a:extLst>
              <a:ext uri="{FF2B5EF4-FFF2-40B4-BE49-F238E27FC236}">
                <a16:creationId xmlns:a16="http://schemas.microsoft.com/office/drawing/2014/main" id="{A6D8A063-A1B0-4E74-42AE-6A62F59768EB}"/>
              </a:ext>
            </a:extLst>
          </p:cNvPr>
          <p:cNvSpPr txBox="1"/>
          <p:nvPr/>
        </p:nvSpPr>
        <p:spPr>
          <a:xfrm>
            <a:off x="4517542" y="2748152"/>
            <a:ext cx="3223375" cy="46818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数据清洗与存储</a:t>
            </a:r>
            <a:endParaRPr kumimoji="1" lang="zh-CN" altLang="en-US"/>
          </a:p>
        </p:txBody>
      </p:sp>
      <p:sp>
        <p:nvSpPr>
          <p:cNvPr id="41" name="标题 1">
            <a:extLst>
              <a:ext uri="{FF2B5EF4-FFF2-40B4-BE49-F238E27FC236}">
                <a16:creationId xmlns:a16="http://schemas.microsoft.com/office/drawing/2014/main" id="{E83E5F30-6CBB-5F2D-7E62-12738E29BF52}"/>
              </a:ext>
            </a:extLst>
          </p:cNvPr>
          <p:cNvSpPr txBox="1"/>
          <p:nvPr/>
        </p:nvSpPr>
        <p:spPr>
          <a:xfrm>
            <a:off x="8145918" y="2609438"/>
            <a:ext cx="3402378" cy="4111195"/>
          </a:xfrm>
          <a:prstGeom prst="roundRect">
            <a:avLst>
              <a:gd name="adj" fmla="val 5238"/>
            </a:avLst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1" name="标题 1">
            <a:extLst>
              <a:ext uri="{FF2B5EF4-FFF2-40B4-BE49-F238E27FC236}">
                <a16:creationId xmlns:a16="http://schemas.microsoft.com/office/drawing/2014/main" id="{4D2234E7-CFC9-397D-E1F5-76C1FFA9D378}"/>
              </a:ext>
            </a:extLst>
          </p:cNvPr>
          <p:cNvSpPr txBox="1"/>
          <p:nvPr/>
        </p:nvSpPr>
        <p:spPr>
          <a:xfrm>
            <a:off x="8235421" y="3334495"/>
            <a:ext cx="3223374" cy="33566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爬虫模块完成数据获取后，前端页面通过遍历各个item项，实现对已爬取微博热点数据的实时展示。
数据以表格形式进行可视化呈现，便于用户直观查看各条微博的核心信息，提升用户体验。</a:t>
            </a:r>
            <a:endParaRPr kumimoji="1" lang="zh-CN" altLang="en-US"/>
          </a:p>
        </p:txBody>
      </p:sp>
      <p:sp>
        <p:nvSpPr>
          <p:cNvPr id="52" name="标题 1">
            <a:extLst>
              <a:ext uri="{FF2B5EF4-FFF2-40B4-BE49-F238E27FC236}">
                <a16:creationId xmlns:a16="http://schemas.microsoft.com/office/drawing/2014/main" id="{736DB034-50F5-9BE5-423A-E52AD372BA72}"/>
              </a:ext>
            </a:extLst>
          </p:cNvPr>
          <p:cNvSpPr txBox="1"/>
          <p:nvPr/>
        </p:nvSpPr>
        <p:spPr>
          <a:xfrm flipV="1">
            <a:off x="9412434" y="3216338"/>
            <a:ext cx="869347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3" name="标题 1">
            <a:extLst>
              <a:ext uri="{FF2B5EF4-FFF2-40B4-BE49-F238E27FC236}">
                <a16:creationId xmlns:a16="http://schemas.microsoft.com/office/drawing/2014/main" id="{6478F939-475F-5224-BD56-936E0AF3B2B2}"/>
              </a:ext>
            </a:extLst>
          </p:cNvPr>
          <p:cNvSpPr txBox="1"/>
          <p:nvPr/>
        </p:nvSpPr>
        <p:spPr>
          <a:xfrm>
            <a:off x="8235421" y="2718622"/>
            <a:ext cx="3223375" cy="46818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前端展示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70315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1C1C-26F2-6A5C-A15B-BBA21946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DCC70BC-2E00-75DF-B6A1-18067AA2D76D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1DBD7AF6-7A83-D0ED-3ECD-FDDADE4E407E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电影展示模块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AD2F006-5F2B-A7FC-52EB-C5D0EFCC7B6D}"/>
              </a:ext>
            </a:extLst>
          </p:cNvPr>
          <p:cNvGrpSpPr/>
          <p:nvPr/>
        </p:nvGrpSpPr>
        <p:grpSpPr>
          <a:xfrm>
            <a:off x="1089195" y="1587359"/>
            <a:ext cx="9705334" cy="1241708"/>
            <a:chOff x="1094562" y="1493228"/>
            <a:chExt cx="9705334" cy="1241708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690A76D0-F2F3-480B-4B91-4986B4BB596C}"/>
                </a:ext>
              </a:extLst>
            </p:cNvPr>
            <p:cNvSpPr/>
            <p:nvPr/>
          </p:nvSpPr>
          <p:spPr>
            <a:xfrm>
              <a:off x="1189550" y="1493228"/>
              <a:ext cx="9610346" cy="1241708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54BE01D-5245-3AD6-459A-7B262E094613}"/>
                </a:ext>
              </a:extLst>
            </p:cNvPr>
            <p:cNvGrpSpPr/>
            <p:nvPr/>
          </p:nvGrpSpPr>
          <p:grpSpPr>
            <a:xfrm>
              <a:off x="1094562" y="1535654"/>
              <a:ext cx="9544872" cy="1156855"/>
              <a:chOff x="1339492" y="1667170"/>
              <a:chExt cx="9544872" cy="1156855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57418494-770B-FBA5-C20A-CBB99E8500E9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1B5BC401-0EEA-3784-04AD-4B56A898017C}"/>
                  </a:ext>
                </a:extLst>
              </p:cNvPr>
              <p:cNvSpPr/>
              <p:nvPr/>
            </p:nvSpPr>
            <p:spPr>
              <a:xfrm>
                <a:off x="2159124" y="1986897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电影数据集爬取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415DDE7F-2A16-1C40-4AA2-0C05CB582A1F}"/>
                  </a:ext>
                </a:extLst>
              </p:cNvPr>
              <p:cNvSpPr/>
              <p:nvPr/>
            </p:nvSpPr>
            <p:spPr>
              <a:xfrm>
                <a:off x="4394806" y="1667170"/>
                <a:ext cx="6489558" cy="11568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通过异步爬虫技术从爱奇艺等平台中获取电影数据，包括电影基本信息、剧情简介、电影评论等，随后在对爬取的数据进行预处理，包括标准化、数据清洗等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43DF58B-C061-07E6-040B-98E3FEABBD07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4008B9-0C97-A958-7CA5-97F5142114DF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5FA2289B-8B15-F9C9-A404-491F2E9B0439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527D55E-D92E-463A-9444-01D64CFA27D5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D8865B4-8779-EB0E-EC09-5EE8CBD40B74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3A3B23-7785-6D74-4249-29B42F00BAE7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5645F5-1437-874C-637B-7DF51E9F8DCF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94596A6-F4C9-9B52-6807-9A581F2A61F9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BCA555B-D873-D823-0A92-F3F39BAA00AD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90CC5A2-2CD8-6A0A-F3D6-F4A6176296E9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5A43422-A8BC-4EC7-88B0-7A63C514A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1B7217CD-A60C-95FE-C2CA-E3E4058EAA2F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EB0BC32-B449-50AE-AD4E-65AA4E35B7BB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28DDEF5-00BA-4CA9-1605-A3C91862EAE7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9037C747-82AC-27CC-B468-408B628BB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79"/>
          <a:stretch>
            <a:fillRect/>
          </a:stretch>
        </p:blipFill>
        <p:spPr>
          <a:xfrm>
            <a:off x="3713687" y="2934724"/>
            <a:ext cx="4456351" cy="3881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794316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D143-0B2F-5BA3-7B4B-06ED101E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F3E5D02-889F-5DA1-4A92-D0913D8AEC5C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04B550A5-3434-3323-1F81-AF353BCDBC60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电影展示模块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A42FD96-41A5-3149-44AE-F6BBA2E648B3}"/>
              </a:ext>
            </a:extLst>
          </p:cNvPr>
          <p:cNvGrpSpPr/>
          <p:nvPr/>
        </p:nvGrpSpPr>
        <p:grpSpPr>
          <a:xfrm>
            <a:off x="1089195" y="1587359"/>
            <a:ext cx="9705334" cy="1241708"/>
            <a:chOff x="1094562" y="1493228"/>
            <a:chExt cx="9705334" cy="1241708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DA4D5EB7-C536-E557-4E03-4A27AE74A1CF}"/>
                </a:ext>
              </a:extLst>
            </p:cNvPr>
            <p:cNvSpPr/>
            <p:nvPr/>
          </p:nvSpPr>
          <p:spPr>
            <a:xfrm>
              <a:off x="1189550" y="1493228"/>
              <a:ext cx="9610346" cy="1241708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99A7F18-FAF6-E1E4-5700-98734BA952CB}"/>
                </a:ext>
              </a:extLst>
            </p:cNvPr>
            <p:cNvGrpSpPr/>
            <p:nvPr/>
          </p:nvGrpSpPr>
          <p:grpSpPr>
            <a:xfrm>
              <a:off x="1094562" y="1678257"/>
              <a:ext cx="9222299" cy="787523"/>
              <a:chOff x="1339492" y="1809773"/>
              <a:chExt cx="9222299" cy="787523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B62CCB99-6F92-46FD-18EA-A6419A993837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8C6AAF4-469E-598D-B2AC-C0BB7BD0B419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数据清洗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0D98ACF5-9670-4ED9-EB98-CF1CE3360215}"/>
                  </a:ext>
                </a:extLst>
              </p:cNvPr>
              <p:cNvSpPr/>
              <p:nvPr/>
            </p:nvSpPr>
            <p:spPr>
              <a:xfrm>
                <a:off x="4072233" y="1809773"/>
                <a:ext cx="6489558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从网络爬取或多源整合的数据往往存在格式不一、信息缺失、包含无关字符等问题，需要在数据获取后进行清洗。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09538130-50C3-8D8B-ECEA-E80FF4A5037B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4B9A463-9B43-ECF0-2AF3-7D05C1F1F445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71130169-FA64-4603-A2BA-2AC71C3CF3D5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237FA9B-36C5-FD0D-D836-CDA68CE7D442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EEF6B47-2412-1FCD-B0DA-62339D36308B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6D608A-5762-51F8-A599-12A3A70B142E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FAB069-8EBC-257D-2A99-946B6333DF07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AE4A20A-DD99-963A-BA66-E604634EF6B6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E8E382E-6E40-DC5D-3538-3AFAD1B66E66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8901F43-589B-B05D-DFD6-071AD7CF5E01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FA9F049-9C4D-7395-7065-5EBE83BD6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141DBE5F-BA97-CC28-9C9C-8C9E9561C690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FAD3786-6492-3B22-1EA5-98A3A6FCBF0C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5E01AFB-DCFE-EA2A-7028-39188B127FC6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92866531-DAB4-CF02-C1D5-E3F7B3CDFD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140"/>
          <a:stretch/>
        </p:blipFill>
        <p:spPr>
          <a:xfrm>
            <a:off x="4324762" y="3480944"/>
            <a:ext cx="7717168" cy="195825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B83F2AF-154D-2335-1475-2AA73B915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72" y="3429000"/>
            <a:ext cx="5942076" cy="2773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923320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87F9-4AA6-23A9-0EA0-282FEBE70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2CA92EC-A3F3-4D8E-CD7A-254F9EF7A554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EC74607B-FE95-9BF6-BBEE-38CFBDB4897D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电影展示模块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145649-C3D0-EB35-07F9-9127ADB8F8F5}"/>
              </a:ext>
            </a:extLst>
          </p:cNvPr>
          <p:cNvGrpSpPr/>
          <p:nvPr/>
        </p:nvGrpSpPr>
        <p:grpSpPr>
          <a:xfrm>
            <a:off x="1089195" y="1587359"/>
            <a:ext cx="9705334" cy="1241708"/>
            <a:chOff x="1094562" y="1493228"/>
            <a:chExt cx="9705334" cy="1241708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E48A2706-4A4F-6CA7-03FA-114AD68EAF8D}"/>
                </a:ext>
              </a:extLst>
            </p:cNvPr>
            <p:cNvSpPr/>
            <p:nvPr/>
          </p:nvSpPr>
          <p:spPr>
            <a:xfrm>
              <a:off x="1189550" y="1493228"/>
              <a:ext cx="9610346" cy="1241708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5396857-8D18-262C-A1DE-CBA98C696780}"/>
                </a:ext>
              </a:extLst>
            </p:cNvPr>
            <p:cNvGrpSpPr/>
            <p:nvPr/>
          </p:nvGrpSpPr>
          <p:grpSpPr>
            <a:xfrm>
              <a:off x="1094562" y="1678257"/>
              <a:ext cx="9497983" cy="787523"/>
              <a:chOff x="1339492" y="1809773"/>
              <a:chExt cx="9497983" cy="787523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56835915-EDC7-83AE-BE62-244FDA5739BB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B09CE58-EDCA-D0F2-8149-47159F40CCC0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电影管理与展示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0B13C71E-4551-F848-11FF-1D9BC9E12FC2}"/>
                  </a:ext>
                </a:extLst>
              </p:cNvPr>
              <p:cNvSpPr/>
              <p:nvPr/>
            </p:nvSpPr>
            <p:spPr>
              <a:xfrm>
                <a:off x="4347917" y="1809773"/>
                <a:ext cx="6489558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用户在登陆系统之后就可以查看系统中有的电影，并在点击电影海报后，可以进入该部电影详细信息界面，管理员用户可在后台管理电影数据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A046D01D-545D-7107-4C00-63F9B1D886C9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EDCCE2-6FAF-584A-1E3D-66AD0F02E8AA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A4748580-B321-AD60-9241-2B918D23C0F9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6247AC9-27DC-C355-B55D-7E88E38089F2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5C721C8-C388-EACF-9035-234B26D69AA3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E712D1-2678-BF74-C7F4-F313075BE033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425A51-DA5F-24C5-2755-EB71E5A21501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140A7EE-48D7-06D7-C899-EAE958492353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92E3981-4EED-A5FC-B954-0B66F7EA22E4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87FF9B1-4FB7-0E89-344B-132662F3115D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5951C59C-9C3B-A4D9-959D-79CD0ABA1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6F94AFDE-3644-0B0F-7EFA-1FE9930B0072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B2FB7A3-042F-DA16-8A76-7E28CA9EEAA4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4365254-2E1E-5F3D-C8BF-ABCF8CCE44DE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6549B1-9B13-439B-02C3-C601BE60CA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7" y="3191219"/>
            <a:ext cx="6304576" cy="3103254"/>
          </a:xfrm>
          <a:prstGeom prst="rect">
            <a:avLst/>
          </a:prstGeom>
        </p:spPr>
      </p:pic>
      <p:pic>
        <p:nvPicPr>
          <p:cNvPr id="16" name="图片 15" descr="电影管理">
            <a:extLst>
              <a:ext uri="{FF2B5EF4-FFF2-40B4-BE49-F238E27FC236}">
                <a16:creationId xmlns:a16="http://schemas.microsoft.com/office/drawing/2014/main" id="{132C8312-820C-BDCB-4DCE-474573021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797" y="3191219"/>
            <a:ext cx="5440366" cy="310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135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2079-823B-1240-B696-2FADB66D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6169370-3274-6163-06D4-A7572D88447B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B69C8616-7F68-115B-DF62-0E426FEA5042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电影评论分析模块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0B6A894-7BFA-8732-E28F-3B8E01A7EA00}"/>
              </a:ext>
            </a:extLst>
          </p:cNvPr>
          <p:cNvGrpSpPr/>
          <p:nvPr/>
        </p:nvGrpSpPr>
        <p:grpSpPr>
          <a:xfrm>
            <a:off x="1089195" y="1587359"/>
            <a:ext cx="9705334" cy="1241708"/>
            <a:chOff x="1094562" y="1493228"/>
            <a:chExt cx="9705334" cy="1241708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C4128E1A-4F48-C115-7F7C-B8DC992770F1}"/>
                </a:ext>
              </a:extLst>
            </p:cNvPr>
            <p:cNvSpPr/>
            <p:nvPr/>
          </p:nvSpPr>
          <p:spPr>
            <a:xfrm>
              <a:off x="1189550" y="1493228"/>
              <a:ext cx="9610346" cy="1241708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8D3DEFE-1A41-0933-1C51-45952C85DF10}"/>
                </a:ext>
              </a:extLst>
            </p:cNvPr>
            <p:cNvGrpSpPr/>
            <p:nvPr/>
          </p:nvGrpSpPr>
          <p:grpSpPr>
            <a:xfrm>
              <a:off x="1094562" y="1535654"/>
              <a:ext cx="9497983" cy="1156855"/>
              <a:chOff x="1339492" y="1667170"/>
              <a:chExt cx="9497983" cy="1156855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C6E05230-B722-85F5-16F8-980098E5A0D9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EC468C5-9991-BAB4-FA25-4C180DC06CE2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影评数据处理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DF43A71B-2E9A-DA2E-ADA1-1A4570F46425}"/>
                  </a:ext>
                </a:extLst>
              </p:cNvPr>
              <p:cNvSpPr/>
              <p:nvPr/>
            </p:nvSpPr>
            <p:spPr>
              <a:xfrm>
                <a:off x="4347917" y="1667170"/>
                <a:ext cx="6489558" cy="11568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爬取评论数据后，需要先对评论数据进行中文分词，调用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jieba.cut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(text)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方法进行分词，并需要进行数据格式转换，方便后续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BERT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模型处理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AA2C620-0639-56E7-41A0-5924B355834E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36DB84C-21A8-00F3-F94F-03E55EB7588F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82BF2A0A-FCAC-9BE4-9971-51A56B9AF50C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5F0CC15-7AD5-9BF9-80DB-206DB390916A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D205FD8-0A39-0E65-599D-714A8365290F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A65A30-8CB0-B1D1-C26F-F72201543B57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7F5131-325B-6E71-DB71-829079894476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E69E835-6568-3E3C-CFA3-4E2C52D860E5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CAF21AF-C762-9B6F-91C8-77A282944B6A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BF351DB-52D1-CB1C-F72A-2B2529BFFFBD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0E15F31-C6AF-8166-5733-7F9BE1D6A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3BD19933-CA5C-41C2-4575-C1F45A4FED80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6B154F0-66B0-505F-EB45-BA2A931C076E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9DB4610-B5C3-F647-2BAB-D7B555C00B36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82607253-837B-080D-4123-6B3DF11602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557" y="3103608"/>
            <a:ext cx="7027855" cy="345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4DF5CF8-DAA3-7673-C8FA-399D3004A9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7" t="9997" r="7676" b="14207"/>
          <a:stretch>
            <a:fillRect/>
          </a:stretch>
        </p:blipFill>
        <p:spPr>
          <a:xfrm>
            <a:off x="8165806" y="4492368"/>
            <a:ext cx="3605084" cy="18869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8945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AA1B-A24D-0BB5-FAF7-26558DAD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A83E05A-4924-D46B-A601-4997F9D80256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6C81EA1B-2D2C-99A9-B877-22D02C915C9A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电影评论分析模块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9E8111B-1F65-B46D-855F-59B296DFCA3B}"/>
              </a:ext>
            </a:extLst>
          </p:cNvPr>
          <p:cNvGrpSpPr/>
          <p:nvPr/>
        </p:nvGrpSpPr>
        <p:grpSpPr>
          <a:xfrm>
            <a:off x="1089195" y="1587359"/>
            <a:ext cx="9705334" cy="1241708"/>
            <a:chOff x="1094562" y="1493228"/>
            <a:chExt cx="9705334" cy="1241708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39DB2C39-90F5-3014-649A-5758505824C7}"/>
                </a:ext>
              </a:extLst>
            </p:cNvPr>
            <p:cNvSpPr/>
            <p:nvPr/>
          </p:nvSpPr>
          <p:spPr>
            <a:xfrm>
              <a:off x="1189550" y="1493228"/>
              <a:ext cx="9610346" cy="1241708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ED61CDE-1FC0-0674-0357-CC2C76097AB9}"/>
                </a:ext>
              </a:extLst>
            </p:cNvPr>
            <p:cNvGrpSpPr/>
            <p:nvPr/>
          </p:nvGrpSpPr>
          <p:grpSpPr>
            <a:xfrm>
              <a:off x="1094562" y="1535654"/>
              <a:ext cx="9497983" cy="1156855"/>
              <a:chOff x="1339492" y="1667170"/>
              <a:chExt cx="9497983" cy="1156855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D11FA84B-C397-71BA-EB55-001D12985538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F289823-23EF-0181-D120-387C71947802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影评数据展示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E311E186-5E9A-5635-3DB1-254215AF4BCC}"/>
                  </a:ext>
                </a:extLst>
              </p:cNvPr>
              <p:cNvSpPr/>
              <p:nvPr/>
            </p:nvSpPr>
            <p:spPr>
              <a:xfrm>
                <a:off x="4347917" y="1667170"/>
                <a:ext cx="6489558" cy="11568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通过使用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v-for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指令遍历电影评论数据列表，将影评的信息在循环体内渲染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a-card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，数据将在卡片内详细展示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 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通过统计评论长度，结合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Echart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饼图，能够可视化展示评论的分布情况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595F6B2-816B-DB65-E2D4-775F5EA015D5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E5CEB28-EAE2-4069-8E53-D6D349625509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3C34926F-FFE3-F1EF-BA63-63E6D7A2FCFC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779C271-7885-1340-F15E-783B5E825A76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BA35675-09AE-9AD9-4A73-542B16728D2D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934961-B52C-3420-3CB6-3579E11D87F7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E1EC08-4377-B26E-56A9-258F147BD82E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CC6E1A0-3378-504D-C9A0-F6C6E00FCC80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8FB63F1-A4B5-5459-2BF5-5E1B2F9DEE57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39CF8D0-D7CA-D659-61E8-A88F1575170D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7F573D2-4DE8-1A81-311E-BFBD6CD50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D7E2D37C-34A1-D9AC-85C8-3622ABA5700C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6DF5160-31B3-8871-7CCA-998893FEA300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9BC0793-F200-0BAE-2569-B884E2E8949D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4E371D5-08CF-C021-213A-0D1709D207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87" b="19170"/>
          <a:stretch>
            <a:fillRect/>
          </a:stretch>
        </p:blipFill>
        <p:spPr>
          <a:xfrm>
            <a:off x="7473229" y="3289939"/>
            <a:ext cx="4593529" cy="3015064"/>
          </a:xfrm>
          <a:prstGeom prst="rect">
            <a:avLst/>
          </a:prstGeom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70E9FF0-DE23-8058-A105-AC269BAF4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432" y="3103608"/>
            <a:ext cx="6934196" cy="320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861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8D1B-C9AC-CC22-ADB9-D840F95E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7EEC8D9-4886-3799-A2AD-D1326F88DF7C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E8657433-4A48-A1CF-AFD1-6DBC2DBABAD9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情感分析模块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D9E31D7-AFC7-C3B6-51D8-D0502D17326A}"/>
              </a:ext>
            </a:extLst>
          </p:cNvPr>
          <p:cNvGrpSpPr/>
          <p:nvPr/>
        </p:nvGrpSpPr>
        <p:grpSpPr>
          <a:xfrm>
            <a:off x="1104525" y="1566674"/>
            <a:ext cx="9695371" cy="897584"/>
            <a:chOff x="1094562" y="1643620"/>
            <a:chExt cx="9695371" cy="897584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782D4392-27B5-40A7-D645-9E7FEE425613}"/>
                </a:ext>
              </a:extLst>
            </p:cNvPr>
            <p:cNvSpPr/>
            <p:nvPr/>
          </p:nvSpPr>
          <p:spPr>
            <a:xfrm>
              <a:off x="1179587" y="1643620"/>
              <a:ext cx="9610346" cy="897584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AF7C01E-EB8C-935A-242A-1B3F4AFEE3AE}"/>
                </a:ext>
              </a:extLst>
            </p:cNvPr>
            <p:cNvGrpSpPr/>
            <p:nvPr/>
          </p:nvGrpSpPr>
          <p:grpSpPr>
            <a:xfrm>
              <a:off x="1094562" y="1701308"/>
              <a:ext cx="9482653" cy="787523"/>
              <a:chOff x="1339492" y="1832824"/>
              <a:chExt cx="9482653" cy="787523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22FA08A1-3B4E-87CD-BBFC-5A9E90F03718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7CDAAE8-FA45-4A1E-F360-E2261A92FD54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en-US" altLang="zh-CN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BERT</a:t>
                </a:r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模型架构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80DD7F3E-CE16-6FF1-43CC-292DDE932446}"/>
                  </a:ext>
                </a:extLst>
              </p:cNvPr>
              <p:cNvSpPr/>
              <p:nvPr/>
            </p:nvSpPr>
            <p:spPr>
              <a:xfrm>
                <a:off x="4417612" y="1832824"/>
                <a:ext cx="6404533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本系统的情感分析模块基于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BERT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深度学习架构构建，采用了中文预训练模型 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bert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-base-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chinese</a:t>
                </a:r>
                <a:endPara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C50BC4F-2B53-30E2-4C3B-8C605C334FCB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0A934DB-A769-CF38-391C-E175269F092B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185B2DAF-CE46-29CD-CFDB-5976E9302B28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63506A6-952A-BF4F-7419-A5EAFE7F5D51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9377A5E-27AB-BBDB-019E-9B2204C7E277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B1C5E3-5D08-E199-81A6-87A21E636251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A444C9-CA33-E438-5C49-8396593CFD8A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8A50EED-6073-0B81-A6DC-EBD9ED8B7EB6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21E5F62-78D2-3DFD-0688-7BA0E9F75540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1D0D499-947D-2B69-D434-34C010AD5987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3CF041F-2385-63D1-F52F-61C14B022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66E1070A-57A3-BFCF-B718-1F173136A9D4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7848C20-6C05-8659-3023-D674F9E540AC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10189AC-9EE4-646E-3F8B-0D380FD45D77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0D64E8F-A66C-D62E-5F78-EA017DDA1F4F}"/>
                  </a:ext>
                </a:extLst>
              </p:cNvPr>
              <p:cNvSpPr txBox="1"/>
              <p:nvPr/>
            </p:nvSpPr>
            <p:spPr>
              <a:xfrm>
                <a:off x="127590" y="2538025"/>
                <a:ext cx="7083943" cy="4235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buNone/>
                </a:pPr>
                <a:endParaRPr lang="en-US" altLang="zh-CN" sz="18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buNone/>
                </a:pPr>
                <a:r>
                  <a:rPr lang="en-US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 1</a:t>
                </a:r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、输入表示</a:t>
                </a:r>
                <a:r>
                  <a:rPr lang="zh-CN" altLang="en-US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𝐸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嵌入层，将输入序列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𝑋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转化为向量表</a:t>
                </a:r>
                <a:r>
                  <a:rPr lang="zh-CN" altLang="en-US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en-US" altLang="zh-CN" sz="18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buNone/>
                </a:pPr>
                <a:endParaRPr lang="en-US" altLang="zh-CN" kern="1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304800" algn="ctr">
                  <a:lnSpc>
                    <a:spcPts val="2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kern="100" smtClean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BERT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𝑋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)=</m:t>
                    </m:r>
                    <m:r>
                      <m:rPr>
                        <m:nor/>
                      </m:rPr>
                      <a:rPr lang="en-US" alt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TransformerEncoder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𝐸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𝑋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))</m:t>
                    </m:r>
                  </m:oMath>
                </a14:m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</a:p>
              <a:p>
                <a:pPr indent="304800" algn="just">
                  <a:lnSpc>
                    <a:spcPts val="2000"/>
                  </a:lnSpc>
                  <a:buNone/>
                </a:pPr>
                <a:endParaRPr lang="en-US" altLang="zh-CN" sz="1800" i="1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304800">
                  <a:lnSpc>
                    <a:spcPts val="2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en-US" alt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TokenEmbed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m:rPr>
                        <m:nor/>
                      </m:rPr>
                      <a:rPr lang="en-US" alt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PositionEmbed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r>
                      <m:rPr>
                        <m:nor/>
                      </m:rPr>
                      <a:rPr lang="en-US" alt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SegmentEmbed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endParaRPr lang="en-US" altLang="zh-CN" kern="100" dirty="0"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304800">
                  <a:lnSpc>
                    <a:spcPts val="2000"/>
                  </a:lnSpc>
                  <a:buNone/>
                </a:pPr>
                <a:endParaRPr lang="en-US" altLang="zh-CN" kern="100" dirty="0"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304800">
                  <a:lnSpc>
                    <a:spcPts val="2000"/>
                  </a:lnSpc>
                  <a:buNone/>
                </a:pPr>
                <a:endParaRPr lang="en-US" altLang="zh-CN" kern="100" dirty="0"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304800">
                  <a:lnSpc>
                    <a:spcPts val="2000"/>
                  </a:lnSpc>
                  <a:buNone/>
                </a:pPr>
                <a:r>
                  <a:rPr lang="en-US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2</a:t>
                </a:r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、编码器</a:t>
                </a:r>
                <a:r>
                  <a:rPr lang="zh-CN" altLang="en-US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由</a:t>
                </a:r>
                <a:r>
                  <a:rPr lang="en-US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L=12 </a:t>
                </a:r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个相同层堆叠而成，每层编码器包含多头自注意力机制和前馈神经网络：</a:t>
                </a:r>
                <a:endParaRPr lang="en-US" altLang="zh-CN" sz="18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304800" algn="just">
                  <a:lnSpc>
                    <a:spcPts val="2000"/>
                  </a:lnSpc>
                  <a:buNone/>
                </a:pPr>
                <a:endParaRPr lang="zh-CN" altLang="zh-CN" sz="18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1066800" algn="ctr">
                  <a:lnSpc>
                    <a:spcPts val="2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MultiHead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US" alt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Concat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,...,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𝑂</m:t>
                          </m:r>
                        </m:sup>
                      </m:sSup>
                    </m:oMath>
                  </m:oMathPara>
                </a14:m>
                <a:endParaRPr lang="zh-CN" altLang="zh-CN" sz="1800" kern="1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182880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CN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m:t>head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m:t>Softmax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𝑄</m:t>
                          </m:r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𝑄</m:t>
                              </m:r>
                            </m:sup>
                          </m:sSub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𝐾</m:t>
                          </m:r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𝐾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⊤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𝑉</m:t>
                      </m:r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zh-CN" altLang="zh-CN" sz="1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0D64E8F-A66C-D62E-5F78-EA017DDA1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0" y="2538025"/>
                <a:ext cx="7083943" cy="4235775"/>
              </a:xfrm>
              <a:prstGeom prst="rect">
                <a:avLst/>
              </a:prstGeom>
              <a:blipFill>
                <a:blip r:embed="rId4"/>
                <a:stretch>
                  <a:fillRect l="-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B43737C-8B69-5863-D4D6-2225C2D35637}"/>
                  </a:ext>
                </a:extLst>
              </p:cNvPr>
              <p:cNvSpPr txBox="1"/>
              <p:nvPr/>
            </p:nvSpPr>
            <p:spPr>
              <a:xfrm>
                <a:off x="7073236" y="2766267"/>
                <a:ext cx="4768702" cy="948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just">
                  <a:buNone/>
                </a:pPr>
                <a:r>
                  <a:rPr lang="en-US" altLang="zh-CN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3</a:t>
                </a:r>
                <a:r>
                  <a:rPr lang="zh-CN" altLang="zh-CN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、分类器</a:t>
                </a:r>
                <a:r>
                  <a:rPr lang="zh-CN" altLang="en-US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由一个全连接层和</a:t>
                </a:r>
                <a:r>
                  <a:rPr lang="en-US" altLang="zh-CN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kern="10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Softmax</a:t>
                </a:r>
                <a:r>
                  <a:rPr lang="en-US" altLang="zh-CN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zh-CN" altLang="zh-CN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激活函数构成</a:t>
                </a:r>
                <a:r>
                  <a:rPr lang="zh-CN" altLang="en-US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在</a:t>
                </a:r>
                <a:r>
                  <a:rPr lang="en-US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BERT</a:t>
                </a:r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编码输出的</a:t>
                </a:r>
                <a:r>
                  <a:rPr lang="en-US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[CLS]</a:t>
                </a:r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标记向量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m:t>𝐶𝐿𝑆</m:t>
                            </m:r>
                          </m:e>
                        </m:d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∈</m:t>
                    </m:r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ℝ</m:t>
                        </m:r>
                      </m:e>
                      <m:sup>
                        <m: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m:t>768</m:t>
                        </m:r>
                      </m:sup>
                    </m:sSup>
                  </m:oMath>
                </a14:m>
                <a:r>
                  <a:rPr lang="zh-CN" altLang="zh-CN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基础上，构建分类网络</a:t>
                </a:r>
                <a:r>
                  <a:rPr lang="zh-CN" altLang="en-US" sz="1800" kern="1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B43737C-8B69-5863-D4D6-2225C2D35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36" y="2766267"/>
                <a:ext cx="4768702" cy="948849"/>
              </a:xfrm>
              <a:prstGeom prst="rect">
                <a:avLst/>
              </a:prstGeom>
              <a:blipFill>
                <a:blip r:embed="rId5"/>
                <a:stretch>
                  <a:fillRect l="-1022" t="-5161" r="-1022" b="-5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DA4F443-4FC7-20F5-B561-BAC72811DDEA}"/>
                  </a:ext>
                </a:extLst>
              </p:cNvPr>
              <p:cNvSpPr txBox="1"/>
              <p:nvPr/>
            </p:nvSpPr>
            <p:spPr>
              <a:xfrm>
                <a:off x="5994723" y="3699694"/>
                <a:ext cx="5062018" cy="510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198120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m:t>Softmax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𝐶𝐿𝑆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DA4F443-4FC7-20F5-B561-BAC72811D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3" y="3699694"/>
                <a:ext cx="5062018" cy="510589"/>
              </a:xfrm>
              <a:prstGeom prst="rect">
                <a:avLst/>
              </a:prstGeom>
              <a:blipFill>
                <a:blip r:embed="rId6"/>
                <a:stretch>
                  <a:fillRect b="-5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F76EBEB-D40F-6F4D-7808-147981882998}"/>
                  </a:ext>
                </a:extLst>
              </p:cNvPr>
              <p:cNvSpPr txBox="1"/>
              <p:nvPr/>
            </p:nvSpPr>
            <p:spPr>
              <a:xfrm>
                <a:off x="7635060" y="4831940"/>
                <a:ext cx="3346598" cy="778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kern="100" smtClean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Softmax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zh-CN" altLang="zh-CN" sz="18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  <m:e>
                            <m:sSup>
                              <m:sSupPr>
                                <m:ctrlPr>
                                  <a:rPr lang="zh-CN" altLang="zh-CN" sz="18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zh-CN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altLang="zh-CN" sz="1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F76EBEB-D40F-6F4D-7808-147981882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0" y="4831940"/>
                <a:ext cx="3346598" cy="778996"/>
              </a:xfrm>
              <a:prstGeom prst="rect">
                <a:avLst/>
              </a:prstGeom>
              <a:blipFill>
                <a:blip r:embed="rId7"/>
                <a:stretch>
                  <a:fillRect t="-62205" r="-6011" b="-136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F8A0316C-C6CA-C6EB-1F3E-62D2FBFAEBDF}"/>
              </a:ext>
            </a:extLst>
          </p:cNvPr>
          <p:cNvSpPr txBox="1"/>
          <p:nvPr/>
        </p:nvSpPr>
        <p:spPr>
          <a:xfrm>
            <a:off x="7211533" y="4382158"/>
            <a:ext cx="4852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Softmax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函数确保概率归一化：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10D4158-603E-94DA-D7F9-F8DFE6C2321E}"/>
              </a:ext>
            </a:extLst>
          </p:cNvPr>
          <p:cNvSpPr txBox="1"/>
          <p:nvPr/>
        </p:nvSpPr>
        <p:spPr>
          <a:xfrm>
            <a:off x="6096000" y="5586267"/>
            <a:ext cx="6331688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ts val="2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、损失函数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：采用带标签平滑的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标准交叉熵损失函数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0DCF782-41E0-514A-CB11-3B22CE5ABBD8}"/>
                  </a:ext>
                </a:extLst>
              </p:cNvPr>
              <p:cNvSpPr txBox="1"/>
              <p:nvPr/>
            </p:nvSpPr>
            <p:spPr>
              <a:xfrm>
                <a:off x="6141673" y="6008847"/>
                <a:ext cx="6331688" cy="659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num>
                                    <m:den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𝑙𝑜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0DCF782-41E0-514A-CB11-3B22CE5AB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673" y="6008847"/>
                <a:ext cx="6331688" cy="6592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5815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EED26-E385-514A-4DFE-3DF8EEC9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A132260-5B42-6892-70D9-D59E7711A653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78E05EE8-2A2E-AABC-272D-5E356708A33B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情感分析模块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0113C0C-44BE-63F1-0554-D6CADAE36103}"/>
              </a:ext>
            </a:extLst>
          </p:cNvPr>
          <p:cNvGrpSpPr/>
          <p:nvPr/>
        </p:nvGrpSpPr>
        <p:grpSpPr>
          <a:xfrm>
            <a:off x="1104525" y="1566674"/>
            <a:ext cx="10389269" cy="897584"/>
            <a:chOff x="1094562" y="1643620"/>
            <a:chExt cx="10389269" cy="897584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A85E65F3-AD9C-E9DC-99C8-4C2A02B56404}"/>
                </a:ext>
              </a:extLst>
            </p:cNvPr>
            <p:cNvSpPr/>
            <p:nvPr/>
          </p:nvSpPr>
          <p:spPr>
            <a:xfrm>
              <a:off x="1179586" y="1643620"/>
              <a:ext cx="10304245" cy="897584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E0BC9E6-BB38-77F7-B080-1D984EC7A1C5}"/>
                </a:ext>
              </a:extLst>
            </p:cNvPr>
            <p:cNvGrpSpPr/>
            <p:nvPr/>
          </p:nvGrpSpPr>
          <p:grpSpPr>
            <a:xfrm>
              <a:off x="1094562" y="1678257"/>
              <a:ext cx="10389268" cy="787523"/>
              <a:chOff x="1339492" y="1809773"/>
              <a:chExt cx="10389268" cy="787523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EECA82EB-BBD7-559E-2226-AE7D697E11A4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F574E6C-BDDD-AAA0-FAD7-8C4FF39EAD32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模型训练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B8241308-36BB-3516-E4CE-886E3101CCBC}"/>
                  </a:ext>
                </a:extLst>
              </p:cNvPr>
              <p:cNvSpPr/>
              <p:nvPr/>
            </p:nvSpPr>
            <p:spPr>
              <a:xfrm>
                <a:off x="3584221" y="1809773"/>
                <a:ext cx="8144539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系统对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BERT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模型进行了针对性的微调，通过使用电影评论数据集，对预训练模型进行训练，在文本预处理、分词、特征提取和分类预测等步骤后，实现了对评论情感的识别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DDC4058-F512-7A73-C8A1-1E16DD0BF261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0754E1A-2BE0-4308-957F-5F3A4E35DA48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E86A1B22-0706-5255-FD5D-DB20BA319A81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98FC577-CB55-8587-D661-7856BF51F256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1CFDC31-7896-2AC8-8F12-289894F4F291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44FAB2-9553-5ED8-07A0-9A690B0A16B5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77BBAB-3EA1-B654-28D7-DAC2614B9288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3218ED9-0DF0-83A9-404E-733C492E846B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9D4A83D-72B3-B42B-E8FD-A75467EE02E9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4F2D573-D202-3132-FCB2-2381F7BA5FCE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D4FD2FB-8C22-D016-4C1D-431FBEC2C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3CA80D3C-9C89-A19C-C61C-B4560F89A468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56FE4D7-CC0B-A671-325E-5246160D72F3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342F4CB-F369-83A8-448E-C3987CF170D4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形 56">
            <a:extLst>
              <a:ext uri="{FF2B5EF4-FFF2-40B4-BE49-F238E27FC236}">
                <a16:creationId xmlns:a16="http://schemas.microsoft.com/office/drawing/2014/main" id="{3E5A8F48-97D2-856A-0DEC-5136FC5F4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92793" y="2362862"/>
            <a:ext cx="4865909" cy="4372748"/>
          </a:xfrm>
          <a:prstGeom prst="rect">
            <a:avLst/>
          </a:prstGeom>
        </p:spPr>
      </p:pic>
      <p:sp>
        <p:nvSpPr>
          <p:cNvPr id="31" name="文本框 115">
            <a:extLst>
              <a:ext uri="{FF2B5EF4-FFF2-40B4-BE49-F238E27FC236}">
                <a16:creationId xmlns:a16="http://schemas.microsoft.com/office/drawing/2014/main" id="{6347AA40-4519-0A50-E769-D851B97A8AAC}"/>
              </a:ext>
            </a:extLst>
          </p:cNvPr>
          <p:cNvSpPr txBox="1"/>
          <p:nvPr/>
        </p:nvSpPr>
        <p:spPr>
          <a:xfrm>
            <a:off x="750001" y="2676019"/>
            <a:ext cx="6363180" cy="1919513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模型训练选定训练轮数为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；设备训练批次大小设定为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；评估批次大小设定为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；预热学习率设定为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；权重衰减设为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0.01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最终经过衰减策略，得到衰减值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eval_loss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1.4369511604309082,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平均每秒下降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eval_samples_per_second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6.803,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样本损失值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train_loss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0.8089718222618103,epoch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E660238-DE9F-2A12-D890-58F435EC70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201" y="4578749"/>
            <a:ext cx="3407410" cy="227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8607-5C14-F2B4-1719-FDE20DF1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334B1DA-E0AE-7502-2EAF-1A4F0197C879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A49CF33A-61E0-3795-C8B0-E9AC1BCDAC96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情感分析模块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CA1704F-5133-0E1B-B4B9-03361625E243}"/>
              </a:ext>
            </a:extLst>
          </p:cNvPr>
          <p:cNvGrpSpPr/>
          <p:nvPr/>
        </p:nvGrpSpPr>
        <p:grpSpPr>
          <a:xfrm>
            <a:off x="1104525" y="1566674"/>
            <a:ext cx="10389269" cy="897584"/>
            <a:chOff x="1094562" y="1643620"/>
            <a:chExt cx="10389269" cy="897584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572A0E56-9AA6-9E44-5008-2A4F26BF9863}"/>
                </a:ext>
              </a:extLst>
            </p:cNvPr>
            <p:cNvSpPr/>
            <p:nvPr/>
          </p:nvSpPr>
          <p:spPr>
            <a:xfrm>
              <a:off x="1179586" y="1643620"/>
              <a:ext cx="10304245" cy="897584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24D50AF-22C4-FE17-7566-22840E99899D}"/>
                </a:ext>
              </a:extLst>
            </p:cNvPr>
            <p:cNvGrpSpPr/>
            <p:nvPr/>
          </p:nvGrpSpPr>
          <p:grpSpPr>
            <a:xfrm>
              <a:off x="1094562" y="1678257"/>
              <a:ext cx="10389268" cy="787523"/>
              <a:chOff x="1339492" y="1809773"/>
              <a:chExt cx="10389268" cy="787523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CC3FC992-7407-F22F-1CA5-625BBB6C3916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B1DE87A-7FBC-5190-E291-24A5778B3658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模型训练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4CEE37B-C7AE-0DF2-8F26-63DDA334FF6A}"/>
                  </a:ext>
                </a:extLst>
              </p:cNvPr>
              <p:cNvSpPr/>
              <p:nvPr/>
            </p:nvSpPr>
            <p:spPr>
              <a:xfrm>
                <a:off x="3584221" y="1809773"/>
                <a:ext cx="8144539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系统对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BERT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模型进行了针对性的微调，通过使用电影评论数据集，对预训练模型进行训练，在文本预处理、分词、特征提取和分类预测等步骤后，实现了对评论情感的识别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E480599-E1ED-6CDA-538E-50E097DE1853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1221D19-7F19-E591-CD5A-B6A4F0661F8E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2987F004-AE37-666F-B316-5C86468C7240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050EEF3-B7D7-833E-CC4B-B2CD1E9D6C15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E8B543A-EF26-9025-912D-274E749AFFA7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8DD75B-1527-9E05-2AD2-AD2A0198F814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BEE88C-1064-A6A8-A795-D633510F7DB7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169EC67-C524-B206-7FEF-DA84827CACCF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748AB39-0E81-44E8-493F-5B0872787850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DB5A986-29E4-0C1E-25A8-230123F20279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984845B-F7F9-DC28-8232-DE6EA1552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AF7D5DE2-F3AD-9679-890C-962BDD1E42B5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3A42ACE-2B96-4657-85DC-CA436BB38D14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5AE0ADD-4BA8-7327-81DF-AB2E78AC5328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42697661-8323-7B95-AC19-BF4CAE8D84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6" t="10317" r="8297" b="8229"/>
          <a:stretch>
            <a:fillRect/>
          </a:stretch>
        </p:blipFill>
        <p:spPr>
          <a:xfrm>
            <a:off x="332492" y="4120144"/>
            <a:ext cx="3098165" cy="2523490"/>
          </a:xfrm>
          <a:prstGeom prst="rect">
            <a:avLst/>
          </a:prstGeom>
          <a:ln>
            <a:noFill/>
          </a:ln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1657E78-F644-3EA8-9D2C-E44F62227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7840" y="4821051"/>
            <a:ext cx="4083050" cy="158686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0191622-5910-A45B-0848-23D5FA59B1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743" y="2758042"/>
            <a:ext cx="4632187" cy="3835385"/>
          </a:xfrm>
          <a:prstGeom prst="rect">
            <a:avLst/>
          </a:prstGeom>
        </p:spPr>
      </p:pic>
      <p:sp>
        <p:nvSpPr>
          <p:cNvPr id="21" name="文本框 115">
            <a:extLst>
              <a:ext uri="{FF2B5EF4-FFF2-40B4-BE49-F238E27FC236}">
                <a16:creationId xmlns:a16="http://schemas.microsoft.com/office/drawing/2014/main" id="{6CC7F318-01C7-7D5F-9B69-9973B3C24688}"/>
              </a:ext>
            </a:extLst>
          </p:cNvPr>
          <p:cNvSpPr txBox="1"/>
          <p:nvPr/>
        </p:nvSpPr>
        <p:spPr>
          <a:xfrm>
            <a:off x="750001" y="2676019"/>
            <a:ext cx="6363180" cy="1180849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在模型优化方面，除了上述学习率调整和权重衰减策略，本文还引入了早停（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Early Stopping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）机制，通过监控模型在独立验证集上的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F1-score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，在指标不再提升时提前终止训练。</a:t>
            </a:r>
          </a:p>
        </p:txBody>
      </p:sp>
    </p:spTree>
    <p:extLst>
      <p:ext uri="{BB962C8B-B14F-4D97-AF65-F5344CB8AC3E}">
        <p14:creationId xmlns:p14="http://schemas.microsoft.com/office/powerpoint/2010/main" val="42860334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1F88F-C50D-9952-3954-92B6458FC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A5FA068-B145-5A24-0076-5704505DCE21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CC5DF693-B835-609C-B9B0-F3C0873ED049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情感分析模块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C707497-FFC6-8990-AE59-22F071EC697F}"/>
              </a:ext>
            </a:extLst>
          </p:cNvPr>
          <p:cNvGrpSpPr/>
          <p:nvPr/>
        </p:nvGrpSpPr>
        <p:grpSpPr>
          <a:xfrm>
            <a:off x="1125929" y="1510884"/>
            <a:ext cx="10367864" cy="1207981"/>
            <a:chOff x="1115966" y="1587830"/>
            <a:chExt cx="10367864" cy="1207981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DD9608D3-DDF9-FAF6-CB24-BDABBE000721}"/>
                </a:ext>
              </a:extLst>
            </p:cNvPr>
            <p:cNvSpPr/>
            <p:nvPr/>
          </p:nvSpPr>
          <p:spPr>
            <a:xfrm>
              <a:off x="1179585" y="1587830"/>
              <a:ext cx="10304245" cy="1207981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CBAC1E3-3208-5A37-7236-404960CA4F1C}"/>
                </a:ext>
              </a:extLst>
            </p:cNvPr>
            <p:cNvGrpSpPr/>
            <p:nvPr/>
          </p:nvGrpSpPr>
          <p:grpSpPr>
            <a:xfrm>
              <a:off x="1115966" y="1608708"/>
              <a:ext cx="10180315" cy="1156855"/>
              <a:chOff x="1360896" y="1740224"/>
              <a:chExt cx="10180315" cy="1156855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FAAA39D8-13C1-540F-D9A2-3A1E60629AD6}"/>
                  </a:ext>
                </a:extLst>
              </p:cNvPr>
              <p:cNvSpPr/>
              <p:nvPr/>
            </p:nvSpPr>
            <p:spPr>
              <a:xfrm rot="16200000">
                <a:off x="1465742" y="197430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93A772B-EAD5-E272-A9A7-21C16518D264}"/>
                  </a:ext>
                </a:extLst>
              </p:cNvPr>
              <p:cNvSpPr/>
              <p:nvPr/>
            </p:nvSpPr>
            <p:spPr>
              <a:xfrm>
                <a:off x="2179525" y="2144719"/>
                <a:ext cx="2252974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分析结果可视化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E9528B69-41E5-0EE8-E0D2-EE602639AB3B}"/>
                  </a:ext>
                </a:extLst>
              </p:cNvPr>
              <p:cNvSpPr/>
              <p:nvPr/>
            </p:nvSpPr>
            <p:spPr>
              <a:xfrm>
                <a:off x="4469591" y="1740224"/>
                <a:ext cx="7071620" cy="11568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通过微调后的模型，在对文本预处理、分词、特征提取和分类预测等步骤后，实现了对评论情感的识别。前端通过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Echart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可视化展示，包括情感分布饼图、情感趋势折线图等，帮助用户直观理解评论情感走向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0834F0B7-992F-DC76-14B9-561799D2E072}"/>
                  </a:ext>
                </a:extLst>
              </p:cNvPr>
              <p:cNvSpPr txBox="1"/>
              <p:nvPr/>
            </p:nvSpPr>
            <p:spPr>
              <a:xfrm>
                <a:off x="1381018" y="215750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D996CF2-BF98-5002-923E-00F537C03E82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BAFBE05D-7F4E-B232-5FAC-DAA7BBCAF9B4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90FCC47-B9AF-64E9-138E-C2F10823F4CE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01DEC92-488C-94A7-90A7-1E4FF96717F6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17FDC0-7521-B144-DE99-9E047AC57562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5FF73F-9F11-0A79-D83A-4FEDCEB857EC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D0B956F-86AB-70E2-422E-839364FFD8CF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7CBB9AE-7B29-6AB3-587C-678464A697DC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805B2E6-FD02-7790-B1F9-C93F2680F278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B80066D-C2F8-AB7F-2BC8-4BE604AB6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EA4604E4-1308-8EFD-A1FF-F1B067C1F4A9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BBE3B69-3DC9-BF5B-5B9E-54B307A309C2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43A4BB4-71E0-CDDA-0CB6-AEB751ED280C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394552B-0E18-9DFA-C5F2-C51AF6ABA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50" y="2926898"/>
            <a:ext cx="4358275" cy="358926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B2A3E3B-AB9A-E57F-6D46-FB60D6152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253" y="3011428"/>
            <a:ext cx="4098447" cy="342020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4902D71-89B4-35B2-E21E-882319EEBD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236" t="27756" r="23496" b="21735"/>
          <a:stretch/>
        </p:blipFill>
        <p:spPr>
          <a:xfrm>
            <a:off x="9123700" y="4229944"/>
            <a:ext cx="2926956" cy="21925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17860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4169-9175-551A-6DBE-73C4290A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305119E-A363-C1FD-5F12-C4A660CA6E06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15A215E0-55A9-8222-44D8-D988093D404B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电影评论分析模块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A0BBB74-F591-6FF2-B607-47621E521561}"/>
              </a:ext>
            </a:extLst>
          </p:cNvPr>
          <p:cNvGrpSpPr/>
          <p:nvPr/>
        </p:nvGrpSpPr>
        <p:grpSpPr>
          <a:xfrm>
            <a:off x="1089195" y="1781481"/>
            <a:ext cx="10114559" cy="792000"/>
            <a:chOff x="1094562" y="1687350"/>
            <a:chExt cx="10114559" cy="792000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F12BBB97-6F7F-C924-F7F2-4A4B23D5C9F0}"/>
                </a:ext>
              </a:extLst>
            </p:cNvPr>
            <p:cNvSpPr/>
            <p:nvPr/>
          </p:nvSpPr>
          <p:spPr>
            <a:xfrm>
              <a:off x="1194917" y="1687350"/>
              <a:ext cx="9610346" cy="792000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05D0B02-6214-BF43-9F82-DD0BEA398DF2}"/>
                </a:ext>
              </a:extLst>
            </p:cNvPr>
            <p:cNvGrpSpPr/>
            <p:nvPr/>
          </p:nvGrpSpPr>
          <p:grpSpPr>
            <a:xfrm>
              <a:off x="1094562" y="1772688"/>
              <a:ext cx="10114559" cy="583815"/>
              <a:chOff x="1339492" y="1904204"/>
              <a:chExt cx="10114559" cy="583815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24A2FBE2-FDAD-2D4F-52CC-C2D060322C9F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6721B3E-E29C-CC0A-C8FA-7FAB7F50F8E8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535970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用户访问控制功能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4FF23E9B-5FA7-AF88-1370-2E909E395616}"/>
                  </a:ext>
                </a:extLst>
              </p:cNvPr>
              <p:cNvSpPr/>
              <p:nvPr/>
            </p:nvSpPr>
            <p:spPr>
              <a:xfrm>
                <a:off x="4964493" y="1904204"/>
                <a:ext cx="6489558" cy="4181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包括管理员访问控制和普通用户访问控制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C3B9367-C0FB-3AAD-E8DF-B53DC5E03146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FF41906-DFFF-14E9-CFB5-7871408CBF4F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5B10A313-9172-7C47-4246-3ADFD99F8F8D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518EDF7-34FC-3F54-9EA0-BCABBDB21A0C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11A0FF15-5446-585A-58B6-24311BA6E5DA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617EE5-6B1B-8C8F-63C0-C6C8C9A5FD58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C98824-9C1C-8489-99D6-BF2115162D04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66F2656-7DAC-01EB-01FD-82F58D3730B7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686198B-6CEA-C293-92B6-AC2947DCE7F7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4DFFFD9-70CB-BC4F-10DD-E7E645705D12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4BF528D-5455-6CCB-D55A-DEC027FB1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8481A9B8-3309-4BD8-B990-220AF1BCB831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57C9BC3-822B-6979-29D3-401B9CDF7D8A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61CFBAE-C5BB-EAB2-B823-B5B2FA3732DD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115">
            <a:extLst>
              <a:ext uri="{FF2B5EF4-FFF2-40B4-BE49-F238E27FC236}">
                <a16:creationId xmlns:a16="http://schemas.microsoft.com/office/drawing/2014/main" id="{761F3B28-160D-6AE8-CAD9-1221F095A178}"/>
              </a:ext>
            </a:extLst>
          </p:cNvPr>
          <p:cNvSpPr txBox="1"/>
          <p:nvPr/>
        </p:nvSpPr>
        <p:spPr>
          <a:xfrm>
            <a:off x="518557" y="2948967"/>
            <a:ext cx="5610672" cy="1180849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管理员页面使用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Ant Design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布局，采用响应式设计结构，包括侧边栏导航、图标集成、路由视图等。页面包括用户管理，用户活跃度分析，电影数据编辑等。</a:t>
            </a:r>
          </a:p>
        </p:txBody>
      </p:sp>
      <p:sp>
        <p:nvSpPr>
          <p:cNvPr id="15" name="文本框 115">
            <a:extLst>
              <a:ext uri="{FF2B5EF4-FFF2-40B4-BE49-F238E27FC236}">
                <a16:creationId xmlns:a16="http://schemas.microsoft.com/office/drawing/2014/main" id="{7CAEEC92-A747-6F76-74B5-63961AD5E528}"/>
              </a:ext>
            </a:extLst>
          </p:cNvPr>
          <p:cNvSpPr txBox="1"/>
          <p:nvPr/>
        </p:nvSpPr>
        <p:spPr>
          <a:xfrm>
            <a:off x="6377096" y="2885865"/>
            <a:ext cx="5423306" cy="1180849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普通用户页面实现了表单布局、数据绑定、文件上传、表单验证、响应式设计等功能，页面包括个人信息，账号设置，我的收藏等信息。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91F2792-66B2-06F8-88B0-65AB4AD4ED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57" y="4505302"/>
            <a:ext cx="4164419" cy="205152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51DD779-D80E-D69E-0981-5C68FEBAE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985" y="4505302"/>
            <a:ext cx="4148397" cy="204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833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F4229-1B08-E3D9-DB3F-D1BBB020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FD74FB1-362E-3B6C-505F-899B03DA3ED2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3DF0927C-9012-5442-5EEE-B06D07DE6EBF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评论管理模块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F0DEDC-68B1-D27E-A45C-A014FF523124}"/>
              </a:ext>
            </a:extLst>
          </p:cNvPr>
          <p:cNvGrpSpPr/>
          <p:nvPr/>
        </p:nvGrpSpPr>
        <p:grpSpPr>
          <a:xfrm>
            <a:off x="1089195" y="1684165"/>
            <a:ext cx="9759675" cy="1013957"/>
            <a:chOff x="1094562" y="1590034"/>
            <a:chExt cx="9759675" cy="1013957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E1DC3F9E-E723-89AC-6AE9-1661353CDC7C}"/>
                </a:ext>
              </a:extLst>
            </p:cNvPr>
            <p:cNvSpPr/>
            <p:nvPr/>
          </p:nvSpPr>
          <p:spPr>
            <a:xfrm>
              <a:off x="1194917" y="1590034"/>
              <a:ext cx="9610346" cy="1013957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053FC8A-76BC-9912-0D5C-41BFCE8B41F9}"/>
                </a:ext>
              </a:extLst>
            </p:cNvPr>
            <p:cNvGrpSpPr/>
            <p:nvPr/>
          </p:nvGrpSpPr>
          <p:grpSpPr>
            <a:xfrm>
              <a:off x="1094562" y="1689588"/>
              <a:ext cx="9759675" cy="787523"/>
              <a:chOff x="1339492" y="1821104"/>
              <a:chExt cx="9759675" cy="787523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6C3A4AE0-C80A-4373-A556-991A0B1331E9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FE68FEE-7786-1171-40A1-0C8DA0C4BF84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535970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评论查看和发表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0A843E6B-27FC-1F65-11C8-06C58352D044}"/>
                  </a:ext>
                </a:extLst>
              </p:cNvPr>
              <p:cNvSpPr/>
              <p:nvPr/>
            </p:nvSpPr>
            <p:spPr>
              <a:xfrm>
                <a:off x="4609609" y="1821104"/>
                <a:ext cx="6489558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用户可以在对应的电影评论模块，发表自己的评论同时可以在我的评论模块，查看自己已经发布的台词，同时可以删除已经发表的评论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74046A0-5244-B65D-002D-FBFA909268D7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11BD830-9169-9A38-2A51-A4F9B789DA90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CE7F34F4-365E-DF52-EB25-D91743368EB9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E89FFE-63DB-30B2-341F-98E64CECC437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3322F53-23DC-9052-011C-BCD2F9952DA1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2E307B-213B-8EED-5176-70A765E279D2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7617FE-508A-1BDA-51E2-6D5E0657A91B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A894547-D067-2905-F8E5-EBF0554EC4BF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0EBFF8E-E97F-DD53-9319-0FB23E9F8102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6AAFAEE-4AEF-DBC9-39CD-76E8803128F1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01CFEDA-C646-711B-F116-B9D7F7984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9A976A25-2B29-A1CB-DDDD-73B72C53ADB6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22A2942-33FB-A85E-ACDD-EFAC8C899EAF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35C166A-8FF3-22B0-94AE-796DA7BC5241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5BE2460E-03E2-AC05-7254-8C5F770CBF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7775" y="3073608"/>
            <a:ext cx="5664087" cy="3228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61BBFDE-5097-9C57-6D79-4A4B58178C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87776" y="3040815"/>
            <a:ext cx="5719722" cy="32615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01392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B860-0B1F-869D-6AFF-1D04F311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14B7627-ED5A-1544-B633-71C180AD35B9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277464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CC9C6872-6DBB-68DC-CD3F-25F74FF0AAD0}"/>
              </a:ext>
            </a:extLst>
          </p:cNvPr>
          <p:cNvSpPr txBox="1"/>
          <p:nvPr/>
        </p:nvSpPr>
        <p:spPr>
          <a:xfrm>
            <a:off x="681558" y="1108968"/>
            <a:ext cx="25188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评论管理模块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B3FDA2B-9DE2-5F6C-0D4C-BDEDAB603664}"/>
              </a:ext>
            </a:extLst>
          </p:cNvPr>
          <p:cNvGrpSpPr/>
          <p:nvPr/>
        </p:nvGrpSpPr>
        <p:grpSpPr>
          <a:xfrm>
            <a:off x="1089195" y="1684165"/>
            <a:ext cx="9759675" cy="1013957"/>
            <a:chOff x="1094562" y="1590034"/>
            <a:chExt cx="9759675" cy="1013957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A0806F12-897E-B75C-E72F-7D3B1371DA2D}"/>
                </a:ext>
              </a:extLst>
            </p:cNvPr>
            <p:cNvSpPr/>
            <p:nvPr/>
          </p:nvSpPr>
          <p:spPr>
            <a:xfrm>
              <a:off x="1194917" y="1590034"/>
              <a:ext cx="9610346" cy="1013957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61F5921-A993-7B06-7E58-E5F16BB803A7}"/>
                </a:ext>
              </a:extLst>
            </p:cNvPr>
            <p:cNvGrpSpPr/>
            <p:nvPr/>
          </p:nvGrpSpPr>
          <p:grpSpPr>
            <a:xfrm>
              <a:off x="1094562" y="1689588"/>
              <a:ext cx="9759675" cy="787523"/>
              <a:chOff x="1339492" y="1821104"/>
              <a:chExt cx="9759675" cy="787523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5754C341-277E-FD5A-B995-17CDF0ACBF7C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F8F3B949-9C4A-AE61-A084-31C175068689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535970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评论数据管理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7BFF1E8-9468-D6A0-C056-11BE1AA78388}"/>
                  </a:ext>
                </a:extLst>
              </p:cNvPr>
              <p:cNvSpPr/>
              <p:nvPr/>
            </p:nvSpPr>
            <p:spPr>
              <a:xfrm>
                <a:off x="4609609" y="1821104"/>
                <a:ext cx="6489558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管理员通过点击评论管理功能，管理员可以查看用户已发布的评论，评论的情感判别标签，以及可以编辑评论和删除评论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3B6214A9-8C75-AA3B-6CCE-4FBBFE67D77F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744A760-05F8-C6B4-CB4F-3DF0D95079DF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986A9C8C-16CA-21EB-BFE6-FB02FFDFC61B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3AABC1D-535E-8EDC-FB63-062912BD93DC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98E6090-F804-0FCB-CD61-B26FDB850173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5CDCAE-2311-0AE1-8571-5E5880C97E51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D82DFC-C6C7-E2D8-696F-753DC04BC6F6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9D39AF4-FB0B-0F44-F4D7-5FEA352A403D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4F45A6F-51BA-CA17-A4C9-1C66F8A367B6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72F7A24-E397-67DD-D409-6090C10AEAC0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9E48A16-CA1C-F1A8-1C00-0619CC79D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4ED413CE-669A-0DE6-8E87-1C441F241CCB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AD68B16-F861-C353-B9D1-9AD2A5E39C54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C67808A-39FC-8FBD-0683-51FEE8EEC641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5643164-5D51-06A6-4AF6-D7D97011A9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73670" y="2862799"/>
            <a:ext cx="6612425" cy="3770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992962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1B53E-67FC-9F68-AD66-46C74B2D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5EE3CC5-1CC1-D520-94A0-3FCE4F9C03F7}"/>
              </a:ext>
            </a:extLst>
          </p:cNvPr>
          <p:cNvCxnSpPr>
            <a:cxnSpLocks/>
          </p:cNvCxnSpPr>
          <p:nvPr/>
        </p:nvCxnSpPr>
        <p:spPr>
          <a:xfrm>
            <a:off x="425752" y="1528840"/>
            <a:ext cx="306172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F0034B01-2288-7F8C-07E4-B2B992A8A124}"/>
              </a:ext>
            </a:extLst>
          </p:cNvPr>
          <p:cNvSpPr txBox="1"/>
          <p:nvPr/>
        </p:nvSpPr>
        <p:spPr>
          <a:xfrm>
            <a:off x="681558" y="1108968"/>
            <a:ext cx="294414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数据分析模块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28C93FB-BB82-AE42-E868-A149B47FE481}"/>
              </a:ext>
            </a:extLst>
          </p:cNvPr>
          <p:cNvGrpSpPr/>
          <p:nvPr/>
        </p:nvGrpSpPr>
        <p:grpSpPr>
          <a:xfrm>
            <a:off x="1089195" y="1684165"/>
            <a:ext cx="9759675" cy="1013957"/>
            <a:chOff x="1094562" y="1590034"/>
            <a:chExt cx="9759675" cy="1013957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1D930795-3361-EA91-8C48-E73495DA698C}"/>
                </a:ext>
              </a:extLst>
            </p:cNvPr>
            <p:cNvSpPr/>
            <p:nvPr/>
          </p:nvSpPr>
          <p:spPr>
            <a:xfrm>
              <a:off x="1194917" y="1590034"/>
              <a:ext cx="9610346" cy="1013957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55E8D0B-3F7D-6679-7781-E119824E3396}"/>
                </a:ext>
              </a:extLst>
            </p:cNvPr>
            <p:cNvGrpSpPr/>
            <p:nvPr/>
          </p:nvGrpSpPr>
          <p:grpSpPr>
            <a:xfrm>
              <a:off x="1094562" y="1689588"/>
              <a:ext cx="9759675" cy="787523"/>
              <a:chOff x="1339492" y="1821104"/>
              <a:chExt cx="9759675" cy="787523"/>
            </a:xfrm>
          </p:grpSpPr>
          <p:sp>
            <p:nvSpPr>
              <p:cNvPr id="46" name="流程图: 离页连接符 45">
                <a:extLst>
                  <a:ext uri="{FF2B5EF4-FFF2-40B4-BE49-F238E27FC236}">
                    <a16:creationId xmlns:a16="http://schemas.microsoft.com/office/drawing/2014/main" id="{B5C42BC1-7158-A365-C8C0-9DF556D976CD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638E15FB-277D-DD72-0347-A38C57C5BECD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535970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数据可视化</a:t>
                </a: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DEC7D56-6CD4-3BBF-C770-373ADEDED18F}"/>
                  </a:ext>
                </a:extLst>
              </p:cNvPr>
              <p:cNvSpPr/>
              <p:nvPr/>
            </p:nvSpPr>
            <p:spPr>
              <a:xfrm>
                <a:off x="4609609" y="1821104"/>
                <a:ext cx="6489558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管理员通过点击数据分析功能，管理员可以查看系统中已上架电影的类别分布、用户的活跃度排行、电影评分分布等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383FFB81-EDE8-3D35-23F7-34B77C02D33A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ADE73BD-72A3-42F0-8369-163BB9A2CC03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F2C37BFA-6538-5E8D-079E-567038D31BA6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27B8643-C613-9918-4521-85E668C4FF3D}"/>
                </a:ext>
              </a:extLst>
            </p:cNvPr>
            <p:cNvSpPr/>
            <p:nvPr/>
          </p:nvSpPr>
          <p:spPr>
            <a:xfrm>
              <a:off x="7695032" y="-1"/>
              <a:ext cx="1612485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1DD0FC7-1FE4-4BB0-C5B7-0DD695B83D87}"/>
                </a:ext>
              </a:extLst>
            </p:cNvPr>
            <p:cNvCxnSpPr/>
            <p:nvPr/>
          </p:nvCxnSpPr>
          <p:spPr>
            <a:xfrm>
              <a:off x="10694382" y="264573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592F5B-00C5-4B37-61B3-5DB37C525F64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7E755A-97F6-8BE5-475F-AE2271D88B77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892E81D-67C6-9E89-7A85-E0D6931804A4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23021D4-FDE1-9E83-B7D0-C4FAEF12884D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44CFBC0-A7D1-F00E-A283-135C4F835D97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6EDB063-F80D-7141-586E-3E9E67139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0AA8234F-BBAE-16F0-12E3-244FC5FBA1B3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0C0100E-77B0-6F3A-D412-7D7245F536CF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BF57F7E-D190-07C1-6BA3-CD64E6CD460B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4D00FF64-3CF7-881A-20C9-B256C360D8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9" y="3042798"/>
            <a:ext cx="3850879" cy="323040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E8DF4ED-075F-5244-0636-A85EEF297F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8" y="3042798"/>
            <a:ext cx="3852329" cy="323040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431BF42-7588-81E8-14D1-15281337A6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777" y="3042799"/>
            <a:ext cx="4069223" cy="323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391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系统测试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80414F0-3AD9-4247-ACA0-2C1001F019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8" b="29490"/>
          <a:stretch/>
        </p:blipFill>
        <p:spPr>
          <a:xfrm>
            <a:off x="2" y="-1"/>
            <a:ext cx="12191998" cy="373649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7D537A3-4534-4895-98DA-2B1FFC8655E5}"/>
              </a:ext>
            </a:extLst>
          </p:cNvPr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C00000"/>
              </a:gs>
              <a:gs pos="59000">
                <a:srgbClr val="C00000">
                  <a:alpha val="40000"/>
                </a:srgbClr>
              </a:gs>
              <a:gs pos="100000">
                <a:srgbClr val="C00000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541D0A0-50C5-4DED-88BD-2AE22EEBAF51}"/>
              </a:ext>
            </a:extLst>
          </p:cNvPr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92E586AA-FC99-4176-A113-9401A02F8A03}"/>
                </a:ext>
              </a:extLst>
            </p:cNvPr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4BB0EA28-7F18-4AB0-989F-8138D20B3E49}"/>
                </a:ext>
              </a:extLst>
            </p:cNvPr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FF5D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C720D015-131E-498B-8D45-5F2B2A3F7C6C}"/>
              </a:ext>
            </a:extLst>
          </p:cNvPr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Part.05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A35D813-05E3-48DE-AD9A-EF3C741482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64" y="903148"/>
            <a:ext cx="5911273" cy="170659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2" grpId="0" animBg="1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2" grpId="0" animBg="1"/>
          <p:bldP spid="16" grpId="0"/>
        </p:bldLst>
      </p:timing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86B7-BE32-B03B-2D1F-3680457F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6035677-5866-5C36-AD17-03382984A7A6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E92D8F8C-A698-2EC1-2E06-38B90DC2B395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系统测试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2069DD7-2FF7-61EE-8645-2AEB90A8E73A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C3B14E91-D952-576B-1CB8-908D5F69D2F2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DD6DD32-8490-1902-5E51-6F7B2EE04772}"/>
                </a:ext>
              </a:extLst>
            </p:cNvPr>
            <p:cNvSpPr/>
            <p:nvPr/>
          </p:nvSpPr>
          <p:spPr>
            <a:xfrm>
              <a:off x="9367806" y="-1"/>
              <a:ext cx="1287494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07B00AD-EADD-CB03-102C-78FB639972A8}"/>
                </a:ext>
              </a:extLst>
            </p:cNvPr>
            <p:cNvCxnSpPr/>
            <p:nvPr/>
          </p:nvCxnSpPr>
          <p:spPr>
            <a:xfrm>
              <a:off x="7688715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6">
              <a:extLst>
                <a:ext uri="{FF2B5EF4-FFF2-40B4-BE49-F238E27FC236}">
                  <a16:creationId xmlns:a16="http://schemas.microsoft.com/office/drawing/2014/main" id="{CA3E1FFF-2F7C-838A-C0D7-DFDC1A82A638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95EF97D5-13FB-D1E1-F53D-11474FB8017F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系统需求分析与总体设计</a:t>
              </a:r>
            </a:p>
          </p:txBody>
        </p:sp>
        <p:sp>
          <p:nvSpPr>
            <p:cNvPr id="27" name="TextBox 9">
              <a:extLst>
                <a:ext uri="{FF2B5EF4-FFF2-40B4-BE49-F238E27FC236}">
                  <a16:creationId xmlns:a16="http://schemas.microsoft.com/office/drawing/2014/main" id="{3D55654C-8D85-3E99-D5E1-8811864E623F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09E17081-B6F0-B974-F351-F55A761C099E}"/>
                </a:ext>
              </a:extLst>
            </p:cNvPr>
            <p:cNvSpPr txBox="1"/>
            <p:nvPr/>
          </p:nvSpPr>
          <p:spPr>
            <a:xfrm>
              <a:off x="7831106" y="224419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</a:t>
              </a:r>
            </a:p>
          </p:txBody>
        </p:sp>
        <p:sp>
          <p:nvSpPr>
            <p:cNvPr id="29" name="TextBox 11">
              <a:extLst>
                <a:ext uri="{FF2B5EF4-FFF2-40B4-BE49-F238E27FC236}">
                  <a16:creationId xmlns:a16="http://schemas.microsoft.com/office/drawing/2014/main" id="{E3D51837-4BE6-A592-29B7-06F7F227B74F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3D5ED57F-B6F6-71D1-6C55-609F6055A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33" name="TextBox 9">
              <a:extLst>
                <a:ext uri="{FF2B5EF4-FFF2-40B4-BE49-F238E27FC236}">
                  <a16:creationId xmlns:a16="http://schemas.microsoft.com/office/drawing/2014/main" id="{3A295228-C114-708E-0478-504988BA66EF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02DEB3A-F715-209B-4502-4D4982805788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88EAD5C-E587-EC57-866C-8B3879D45275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1A59D233-D470-A201-18F9-E12359E8D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198839"/>
              </p:ext>
            </p:extLst>
          </p:nvPr>
        </p:nvGraphicFramePr>
        <p:xfrm>
          <a:off x="110419" y="3452513"/>
          <a:ext cx="5934075" cy="2410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7085">
                  <a:extLst>
                    <a:ext uri="{9D8B030D-6E8A-4147-A177-3AD203B41FA5}">
                      <a16:colId xmlns:a16="http://schemas.microsoft.com/office/drawing/2014/main" val="2159449830"/>
                    </a:ext>
                  </a:extLst>
                </a:gridCol>
                <a:gridCol w="2610485">
                  <a:extLst>
                    <a:ext uri="{9D8B030D-6E8A-4147-A177-3AD203B41FA5}">
                      <a16:colId xmlns:a16="http://schemas.microsoft.com/office/drawing/2014/main" val="1405694210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9514150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198214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测试用例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测试描述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预期结果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实际结果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7422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Try-1-1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用户注册输入两次相同密码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不通过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不通过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8754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Try-1-2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用户注册输入无效邮箱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不通过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不通过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1377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Try-1-3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用户输入正确账号密码登陆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8818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Try-1-4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用户修改密码输入两次不同新密码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不通过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不通过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7166637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A1B3EBA8-5F80-A937-05AF-98FB7B762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870930"/>
              </p:ext>
            </p:extLst>
          </p:nvPr>
        </p:nvGraphicFramePr>
        <p:xfrm>
          <a:off x="6147508" y="3452513"/>
          <a:ext cx="5934075" cy="1928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7085">
                  <a:extLst>
                    <a:ext uri="{9D8B030D-6E8A-4147-A177-3AD203B41FA5}">
                      <a16:colId xmlns:a16="http://schemas.microsoft.com/office/drawing/2014/main" val="4146470235"/>
                    </a:ext>
                  </a:extLst>
                </a:gridCol>
                <a:gridCol w="2610485">
                  <a:extLst>
                    <a:ext uri="{9D8B030D-6E8A-4147-A177-3AD203B41FA5}">
                      <a16:colId xmlns:a16="http://schemas.microsoft.com/office/drawing/2014/main" val="586312403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3410446841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3827864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测试用例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测试描述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预期结果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实际结果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043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Try-2-1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用户登陆页面后能够查看电影信息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4569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Try-2-2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用户收藏电影之后可查看已收藏电影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0281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Try-2-3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管理可上架，下架，编辑电影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通过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2824076"/>
                  </a:ext>
                </a:extLst>
              </a:tr>
            </a:tbl>
          </a:graphicData>
        </a:graphic>
      </p:graphicFrame>
      <p:grpSp>
        <p:nvGrpSpPr>
          <p:cNvPr id="45" name="组合 44">
            <a:extLst>
              <a:ext uri="{FF2B5EF4-FFF2-40B4-BE49-F238E27FC236}">
                <a16:creationId xmlns:a16="http://schemas.microsoft.com/office/drawing/2014/main" id="{BE1C12AD-D430-800A-9254-786BDBD2221E}"/>
              </a:ext>
            </a:extLst>
          </p:cNvPr>
          <p:cNvGrpSpPr/>
          <p:nvPr/>
        </p:nvGrpSpPr>
        <p:grpSpPr>
          <a:xfrm>
            <a:off x="1089195" y="1684165"/>
            <a:ext cx="9759675" cy="1013957"/>
            <a:chOff x="1094562" y="1590034"/>
            <a:chExt cx="9759675" cy="1013957"/>
          </a:xfrm>
        </p:grpSpPr>
        <p:sp>
          <p:nvSpPr>
            <p:cNvPr id="46" name="圆角矩形 44">
              <a:extLst>
                <a:ext uri="{FF2B5EF4-FFF2-40B4-BE49-F238E27FC236}">
                  <a16:creationId xmlns:a16="http://schemas.microsoft.com/office/drawing/2014/main" id="{10BBDDE2-680F-A767-EDFC-E17E0D7A82D7}"/>
                </a:ext>
              </a:extLst>
            </p:cNvPr>
            <p:cNvSpPr/>
            <p:nvPr/>
          </p:nvSpPr>
          <p:spPr>
            <a:xfrm>
              <a:off x="1194917" y="1590034"/>
              <a:ext cx="9610346" cy="1013957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54A9132F-0000-5695-025D-DB98A5EA3A8B}"/>
                </a:ext>
              </a:extLst>
            </p:cNvPr>
            <p:cNvGrpSpPr/>
            <p:nvPr/>
          </p:nvGrpSpPr>
          <p:grpSpPr>
            <a:xfrm>
              <a:off x="1094562" y="1689588"/>
              <a:ext cx="9759675" cy="787523"/>
              <a:chOff x="1339492" y="1821104"/>
              <a:chExt cx="9759675" cy="787523"/>
            </a:xfrm>
          </p:grpSpPr>
          <p:sp>
            <p:nvSpPr>
              <p:cNvPr id="48" name="流程图: 离页连接符 47">
                <a:extLst>
                  <a:ext uri="{FF2B5EF4-FFF2-40B4-BE49-F238E27FC236}">
                    <a16:creationId xmlns:a16="http://schemas.microsoft.com/office/drawing/2014/main" id="{F1935C33-30D7-6158-3DD6-7A5D8FD2DF78}"/>
                  </a:ext>
                </a:extLst>
              </p:cNvPr>
              <p:cNvSpPr/>
              <p:nvPr/>
            </p:nvSpPr>
            <p:spPr>
              <a:xfrm rot="16200000">
                <a:off x="1444338" y="1836866"/>
                <a:ext cx="546307" cy="756000"/>
              </a:xfrm>
              <a:prstGeom prst="flowChartOffpageConnector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B7D12147-A9A8-A3CA-C31D-F4A9318E0CFB}"/>
                  </a:ext>
                </a:extLst>
              </p:cNvPr>
              <p:cNvSpPr/>
              <p:nvPr/>
            </p:nvSpPr>
            <p:spPr>
              <a:xfrm>
                <a:off x="2201267" y="1986897"/>
                <a:ext cx="2535970" cy="433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zh-CN" altLang="en-US" sz="2000" spc="3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功能模块测试</a:t>
                </a: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AC07CD4B-267A-40E9-2A6D-2FE9F334D28F}"/>
                  </a:ext>
                </a:extLst>
              </p:cNvPr>
              <p:cNvSpPr/>
              <p:nvPr/>
            </p:nvSpPr>
            <p:spPr>
              <a:xfrm>
                <a:off x="4609609" y="1821104"/>
                <a:ext cx="6489558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按照功能模块分别测试用户功能模块、电影管理模块、评论管理模块、情感分析模块、数据分析模块、系统管理模块等六个模块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7A7BDB5-A7D4-42F9-384F-EAEFF006F2A0}"/>
                  </a:ext>
                </a:extLst>
              </p:cNvPr>
              <p:cNvSpPr txBox="1"/>
              <p:nvPr/>
            </p:nvSpPr>
            <p:spPr>
              <a:xfrm>
                <a:off x="1359614" y="2020063"/>
                <a:ext cx="6564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15222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93B6-E192-3966-44F6-7230C591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7115A93-BB97-66CF-3DC8-7F211A353EBC}"/>
              </a:ext>
            </a:extLst>
          </p:cNvPr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>
            <a:extLst>
              <a:ext uri="{FF2B5EF4-FFF2-40B4-BE49-F238E27FC236}">
                <a16:creationId xmlns:a16="http://schemas.microsoft.com/office/drawing/2014/main" id="{9B327309-CFC7-7007-C1B3-5511A5D7963D}"/>
              </a:ext>
            </a:extLst>
          </p:cNvPr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系统测试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96F6CDE-5411-DB8B-D557-CE0F69425C94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E1525C6E-86E0-4E99-AD22-36566AE2B033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1AE6461-4C72-239B-4FC1-389A5596B012}"/>
                </a:ext>
              </a:extLst>
            </p:cNvPr>
            <p:cNvSpPr/>
            <p:nvPr/>
          </p:nvSpPr>
          <p:spPr>
            <a:xfrm>
              <a:off x="9367806" y="-1"/>
              <a:ext cx="1287494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E810DD0-90C5-5DBA-911A-1310FD375138}"/>
                </a:ext>
              </a:extLst>
            </p:cNvPr>
            <p:cNvCxnSpPr/>
            <p:nvPr/>
          </p:nvCxnSpPr>
          <p:spPr>
            <a:xfrm>
              <a:off x="7688715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6">
              <a:extLst>
                <a:ext uri="{FF2B5EF4-FFF2-40B4-BE49-F238E27FC236}">
                  <a16:creationId xmlns:a16="http://schemas.microsoft.com/office/drawing/2014/main" id="{FF22BE35-BBA3-C6DA-009B-7739568B2764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1DEDB605-C803-54D4-72BB-0578CAECB021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27" name="TextBox 9">
              <a:extLst>
                <a:ext uri="{FF2B5EF4-FFF2-40B4-BE49-F238E27FC236}">
                  <a16:creationId xmlns:a16="http://schemas.microsoft.com/office/drawing/2014/main" id="{1D5AD9E3-A8F3-83EA-6BA0-C5DBBA5DE9F7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13872EC6-EC6F-5E10-03CE-45E2B9BF7ACB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29" name="TextBox 11">
              <a:extLst>
                <a:ext uri="{FF2B5EF4-FFF2-40B4-BE49-F238E27FC236}">
                  <a16:creationId xmlns:a16="http://schemas.microsoft.com/office/drawing/2014/main" id="{554263DA-DBFD-781A-5891-7F1B8797C0A1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3BD6219-2BAF-3E62-6AE8-7DB5A3810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33" name="TextBox 9">
              <a:extLst>
                <a:ext uri="{FF2B5EF4-FFF2-40B4-BE49-F238E27FC236}">
                  <a16:creationId xmlns:a16="http://schemas.microsoft.com/office/drawing/2014/main" id="{288E06AB-DC38-9E45-B46E-2FFE63B2D272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7CD4AB58-3830-B8CF-AA14-B161B9E5F251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5DE57B6B-C8D6-7C9C-C741-863647427A3A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A4261CB8-EA1A-DD6D-87C9-256B69E9B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531753"/>
              </p:ext>
            </p:extLst>
          </p:nvPr>
        </p:nvGraphicFramePr>
        <p:xfrm>
          <a:off x="110418" y="4779280"/>
          <a:ext cx="5934075" cy="14462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7085">
                  <a:extLst>
                    <a:ext uri="{9D8B030D-6E8A-4147-A177-3AD203B41FA5}">
                      <a16:colId xmlns:a16="http://schemas.microsoft.com/office/drawing/2014/main" val="2720561961"/>
                    </a:ext>
                  </a:extLst>
                </a:gridCol>
                <a:gridCol w="2610485">
                  <a:extLst>
                    <a:ext uri="{9D8B030D-6E8A-4147-A177-3AD203B41FA5}">
                      <a16:colId xmlns:a16="http://schemas.microsoft.com/office/drawing/2014/main" val="1350851983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1573516064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2238326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测试用例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测试描述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预期结果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实际结果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4437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Try-4-1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管理员点击影评分析查看某部电影影评情感分布情况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3117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Try-4-2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管理员点击影评分析查看某部电影影评情感随时间变化情况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通过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通过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5134949"/>
                  </a:ext>
                </a:extLst>
              </a:tr>
            </a:tbl>
          </a:graphicData>
        </a:graphic>
      </p:graphicFrame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B3B94FBF-C2CA-98CF-EF53-17BEA356F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280560"/>
              </p:ext>
            </p:extLst>
          </p:nvPr>
        </p:nvGraphicFramePr>
        <p:xfrm>
          <a:off x="6219057" y="1995769"/>
          <a:ext cx="5934075" cy="2410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7085">
                  <a:extLst>
                    <a:ext uri="{9D8B030D-6E8A-4147-A177-3AD203B41FA5}">
                      <a16:colId xmlns:a16="http://schemas.microsoft.com/office/drawing/2014/main" val="455647088"/>
                    </a:ext>
                  </a:extLst>
                </a:gridCol>
                <a:gridCol w="2610485">
                  <a:extLst>
                    <a:ext uri="{9D8B030D-6E8A-4147-A177-3AD203B41FA5}">
                      <a16:colId xmlns:a16="http://schemas.microsoft.com/office/drawing/2014/main" val="627645316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1122442645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3734244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测试用例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测试描述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预期结果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实际结果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984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Try-5-1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点击数据分析查看电影类别分布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469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Try-5-2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点击数据分析查看用户活跃度排行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349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Try-5-3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点击数据分析查看电影评分情况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89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Try-5-4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点击数据分析查看影评关键词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通过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5346016"/>
                  </a:ext>
                </a:extLst>
              </a:tr>
            </a:tbl>
          </a:graphicData>
        </a:graphic>
      </p:graphicFrame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91499FE3-7C5A-A93C-5607-BAEEE2170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725500"/>
              </p:ext>
            </p:extLst>
          </p:nvPr>
        </p:nvGraphicFramePr>
        <p:xfrm>
          <a:off x="6219056" y="4779280"/>
          <a:ext cx="5934075" cy="9641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7085">
                  <a:extLst>
                    <a:ext uri="{9D8B030D-6E8A-4147-A177-3AD203B41FA5}">
                      <a16:colId xmlns:a16="http://schemas.microsoft.com/office/drawing/2014/main" val="1314514875"/>
                    </a:ext>
                  </a:extLst>
                </a:gridCol>
                <a:gridCol w="2610485">
                  <a:extLst>
                    <a:ext uri="{9D8B030D-6E8A-4147-A177-3AD203B41FA5}">
                      <a16:colId xmlns:a16="http://schemas.microsoft.com/office/drawing/2014/main" val="1481104618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2454189085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4285170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测试用例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测试描述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预期结果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实际结果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338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Try-6-1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管理员账户对账户进行查看，删除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通过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4003223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001CEA4-8B04-A9EA-FD3F-9B62CF920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276227"/>
              </p:ext>
            </p:extLst>
          </p:nvPr>
        </p:nvGraphicFramePr>
        <p:xfrm>
          <a:off x="110419" y="2009351"/>
          <a:ext cx="5934075" cy="1928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7085">
                  <a:extLst>
                    <a:ext uri="{9D8B030D-6E8A-4147-A177-3AD203B41FA5}">
                      <a16:colId xmlns:a16="http://schemas.microsoft.com/office/drawing/2014/main" val="2688091505"/>
                    </a:ext>
                  </a:extLst>
                </a:gridCol>
                <a:gridCol w="2610485">
                  <a:extLst>
                    <a:ext uri="{9D8B030D-6E8A-4147-A177-3AD203B41FA5}">
                      <a16:colId xmlns:a16="http://schemas.microsoft.com/office/drawing/2014/main" val="1141563654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3989066608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1862751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测试用例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测试描述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预期结果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实际结果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8410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Try-3-1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用户发表自己的评论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8079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Try-3-2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用户删除自己的评论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5850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Try-3-3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管理员进行普通用户评论管理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通过</a:t>
                      </a:r>
                      <a:endParaRPr lang="zh-CN" sz="105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42570" algn="ctr" latinLnBrk="1">
                        <a:lnSpc>
                          <a:spcPts val="2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通过</a:t>
                      </a:r>
                      <a:endParaRPr lang="zh-CN" sz="105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4310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30283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BAF4-53AC-BB62-5329-54E45958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E3CDF2B-686E-523E-AEB3-313BCB52EA4A}"/>
              </a:ext>
            </a:extLst>
          </p:cNvPr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33CC244-A588-8348-290E-6FC337F22D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8" b="29490"/>
          <a:stretch/>
        </p:blipFill>
        <p:spPr>
          <a:xfrm>
            <a:off x="2" y="-1"/>
            <a:ext cx="12191998" cy="373649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D782E17-F157-5D72-8346-8C9A7C824D78}"/>
              </a:ext>
            </a:extLst>
          </p:cNvPr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C00000"/>
              </a:gs>
              <a:gs pos="59000">
                <a:srgbClr val="C00000">
                  <a:alpha val="40000"/>
                </a:srgbClr>
              </a:gs>
              <a:gs pos="100000">
                <a:srgbClr val="C00000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EA84886-996B-498C-B207-643F04FB541A}"/>
              </a:ext>
            </a:extLst>
          </p:cNvPr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EFE680F3-0C72-1EF0-A8BD-3415106DD52F}"/>
                </a:ext>
              </a:extLst>
            </p:cNvPr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E8A3451C-F470-4E5E-4FF8-A9AD425494B0}"/>
                </a:ext>
              </a:extLst>
            </p:cNvPr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FF5D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16FCBCF-C56B-0F6D-EAF5-AFCC3B7E8C52}"/>
              </a:ext>
            </a:extLst>
          </p:cNvPr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Part.06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A4DB2B3-2CCD-74BF-38FA-1B905881BE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64" y="903148"/>
            <a:ext cx="5911273" cy="17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308073"/>
      </p:ext>
    </p:extLst>
  </p:cSld>
  <p:clrMapOvr>
    <a:masterClrMapping/>
  </p:clrMapOvr>
  <p:transition spd="slow"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2" grpId="0" animBg="1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2" grpId="0" animBg="1"/>
          <p:bldP spid="16" grpId="0"/>
        </p:bldLst>
      </p:timing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7F789B4-A4F8-4B1F-693E-10A5F10DB9AE}"/>
              </a:ext>
            </a:extLst>
          </p:cNvPr>
          <p:cNvGrpSpPr/>
          <p:nvPr/>
        </p:nvGrpSpPr>
        <p:grpSpPr>
          <a:xfrm>
            <a:off x="0" y="-1"/>
            <a:ext cx="12192000" cy="792001"/>
            <a:chOff x="0" y="-1"/>
            <a:chExt cx="12192000" cy="792001"/>
          </a:xfrm>
        </p:grpSpPr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F5B6DF3C-DAC4-C444-3B4F-78D0B1A36F94}"/>
                </a:ext>
              </a:extLst>
            </p:cNvPr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F796386-B902-A6EC-1549-1D92CEF74919}"/>
                </a:ext>
              </a:extLst>
            </p:cNvPr>
            <p:cNvSpPr/>
            <p:nvPr/>
          </p:nvSpPr>
          <p:spPr>
            <a:xfrm>
              <a:off x="10726183" y="-1"/>
              <a:ext cx="1287494" cy="79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0E66565-318A-9829-98F6-AB0393181477}"/>
                </a:ext>
              </a:extLst>
            </p:cNvPr>
            <p:cNvCxnSpPr/>
            <p:nvPr/>
          </p:nvCxnSpPr>
          <p:spPr>
            <a:xfrm>
              <a:off x="7688715" y="283975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738CC87-C007-7066-E75D-12B8B77F2801}"/>
                </a:ext>
              </a:extLst>
            </p:cNvPr>
            <p:cNvSpPr txBox="1"/>
            <p:nvPr/>
          </p:nvSpPr>
          <p:spPr>
            <a:xfrm>
              <a:off x="3077457" y="224420"/>
              <a:ext cx="1522899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研究背景与意义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C8FAB28-B7B0-28D7-3358-D57D73666364}"/>
                </a:ext>
              </a:extLst>
            </p:cNvPr>
            <p:cNvSpPr txBox="1"/>
            <p:nvPr/>
          </p:nvSpPr>
          <p:spPr>
            <a:xfrm>
              <a:off x="6129229" y="112193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系统需求分析与概要设计</a:t>
              </a:r>
            </a:p>
          </p:txBody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287AB5D9-3547-ABAB-5CF8-447AE998E03B}"/>
                </a:ext>
              </a:extLst>
            </p:cNvPr>
            <p:cNvSpPr txBox="1"/>
            <p:nvPr/>
          </p:nvSpPr>
          <p:spPr>
            <a:xfrm>
              <a:off x="9457587" y="215900"/>
              <a:ext cx="1129591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</a:t>
              </a:r>
            </a:p>
          </p:txBody>
        </p:sp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6D8B51EE-10A9-D4B6-12A4-D4AC9007C42B}"/>
                </a:ext>
              </a:extLst>
            </p:cNvPr>
            <p:cNvSpPr txBox="1"/>
            <p:nvPr/>
          </p:nvSpPr>
          <p:spPr>
            <a:xfrm>
              <a:off x="7842095" y="122390"/>
              <a:ext cx="1344000" cy="589380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系统详细设计与实现</a:t>
              </a:r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72DD6834-694E-A9B4-D7EE-575F1E3BCD89}"/>
                </a:ext>
              </a:extLst>
            </p:cNvPr>
            <p:cNvSpPr txBox="1"/>
            <p:nvPr/>
          </p:nvSpPr>
          <p:spPr>
            <a:xfrm>
              <a:off x="10697930" y="224420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7FB1E4D-B618-3882-9428-9784943A1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57" y="100193"/>
              <a:ext cx="2184731" cy="630736"/>
            </a:xfrm>
            <a:prstGeom prst="rect">
              <a:avLst/>
            </a:prstGeom>
          </p:spPr>
        </p:pic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77DFE50B-AAAA-E3AD-4CF6-C62A3590C785}"/>
                </a:ext>
              </a:extLst>
            </p:cNvPr>
            <p:cNvSpPr txBox="1"/>
            <p:nvPr/>
          </p:nvSpPr>
          <p:spPr>
            <a:xfrm>
              <a:off x="4650723" y="215901"/>
              <a:ext cx="1344000" cy="343159"/>
            </a:xfrm>
            <a:prstGeom prst="rect">
              <a:avLst/>
            </a:prstGeom>
            <a:noFill/>
          </p:spPr>
          <p:txBody>
            <a:bodyPr wrap="square" lIns="0" tIns="48000" rIns="0" bIns="4800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相关技术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58A1582-45F6-B49E-8D34-DCA9DF6435A5}"/>
                </a:ext>
              </a:extLst>
            </p:cNvPr>
            <p:cNvCxnSpPr/>
            <p:nvPr/>
          </p:nvCxnSpPr>
          <p:spPr>
            <a:xfrm>
              <a:off x="4714196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0B7C347-1470-1384-42A7-9B810838C8D3}"/>
                </a:ext>
              </a:extLst>
            </p:cNvPr>
            <p:cNvCxnSpPr/>
            <p:nvPr/>
          </p:nvCxnSpPr>
          <p:spPr>
            <a:xfrm>
              <a:off x="5941863" y="27309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D70FDDC-CEC2-D8CF-AD48-8ED39F5878B9}"/>
                </a:ext>
              </a:extLst>
            </p:cNvPr>
            <p:cNvCxnSpPr/>
            <p:nvPr/>
          </p:nvCxnSpPr>
          <p:spPr>
            <a:xfrm>
              <a:off x="9339715" y="264571"/>
              <a:ext cx="0" cy="2458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文本框 115">
            <a:extLst>
              <a:ext uri="{FF2B5EF4-FFF2-40B4-BE49-F238E27FC236}">
                <a16:creationId xmlns:a16="http://schemas.microsoft.com/office/drawing/2014/main" id="{3662211E-6470-1D80-875D-748C66B58820}"/>
              </a:ext>
            </a:extLst>
          </p:cNvPr>
          <p:cNvSpPr txBox="1"/>
          <p:nvPr/>
        </p:nvSpPr>
        <p:spPr>
          <a:xfrm>
            <a:off x="713202" y="2230068"/>
            <a:ext cx="10563041" cy="3396840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本项目成功实现了基于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中文电影评论情感分析系统，并且独立完成了从系统设计、开发到测试的整个过程。项目涵盖了前端用户界面设计、后端服务逻辑实现的一系列内容，包括实现了用户管理、电影信息管理、评论管理、数据分析等功能模块，并通过实验验证了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模型在处理中文电影评论情感分析任务上的性能和效果，同时也展示了该系统在实际应用中的潜力和价值。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整个项目的开发过程中，我深刻体会到自然语言处理技术的价值和重要性，在处理信息和理解时，选择合适的算法能够事半功倍，我认识到模型训练时数据预处理、模型构建、训练调参等过程对最终处理的准确度有着很大的影响，为此在数据清洗、特征提取等前期准备工作中投入足够的时间和精力是非常必要的。这次经历让我学到了很多宝贵的知识和技能，也增强了我的独立解决问题的能力，未来我将继续学习相关知识，继续增强对计算机领域问题的解决能力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ECAEF2F7-7D93-495B-BCA8-2C2368A4FD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434" y="501391"/>
            <a:ext cx="2761129" cy="797143"/>
          </a:xfrm>
          <a:prstGeom prst="rect">
            <a:avLst/>
          </a:prstGeom>
        </p:spPr>
      </p:pic>
      <p:sp>
        <p:nvSpPr>
          <p:cNvPr id="2" name="TextBox 10">
            <a:extLst>
              <a:ext uri="{FF2B5EF4-FFF2-40B4-BE49-F238E27FC236}">
                <a16:creationId xmlns:a16="http://schemas.microsoft.com/office/drawing/2014/main" id="{89981E92-8A15-6C27-A1F9-F9B123297909}"/>
              </a:ext>
            </a:extLst>
          </p:cNvPr>
          <p:cNvSpPr txBox="1"/>
          <p:nvPr/>
        </p:nvSpPr>
        <p:spPr>
          <a:xfrm>
            <a:off x="2565805" y="4729444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四川大学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A1B67F0-66B6-3EB9-D99C-A7956C156393}"/>
              </a:ext>
            </a:extLst>
          </p:cNvPr>
          <p:cNvGrpSpPr/>
          <p:nvPr/>
        </p:nvGrpSpPr>
        <p:grpSpPr>
          <a:xfrm>
            <a:off x="3399854" y="5631727"/>
            <a:ext cx="2117464" cy="466244"/>
            <a:chOff x="3399854" y="5631727"/>
            <a:chExt cx="2117464" cy="466244"/>
          </a:xfrm>
        </p:grpSpPr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16E7127B-D0B4-FA4B-83A7-80B001E9F080}"/>
                </a:ext>
              </a:extLst>
            </p:cNvPr>
            <p:cNvSpPr txBox="1"/>
            <p:nvPr/>
          </p:nvSpPr>
          <p:spPr>
            <a:xfrm>
              <a:off x="3917248" y="5664805"/>
              <a:ext cx="1600070" cy="400085"/>
            </a:xfrm>
            <a:prstGeom prst="rect">
              <a:avLst/>
            </a:prstGeom>
            <a:noFill/>
          </p:spPr>
          <p:txBody>
            <a:bodyPr wrap="none" lIns="91416" tIns="45708" rIns="91416" bIns="45708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+mn-ea"/>
                  <a:ea typeface="+mn-ea"/>
                </a:defRPr>
              </a:lvl1pPr>
            </a:lstStyle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</a:t>
              </a:r>
              <a:r>
                <a: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endPara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332D25D-01FF-9C69-F615-6B8A4BFF2A6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99854" y="5631727"/>
              <a:ext cx="462900" cy="466244"/>
            </a:xfrm>
            <a:custGeom>
              <a:avLst/>
              <a:gdLst>
                <a:gd name="T0" fmla="*/ 661 w 904"/>
                <a:gd name="T1" fmla="*/ 461 h 905"/>
                <a:gd name="T2" fmla="*/ 661 w 904"/>
                <a:gd name="T3" fmla="*/ 339 h 905"/>
                <a:gd name="T4" fmla="*/ 605 w 904"/>
                <a:gd name="T5" fmla="*/ 339 h 905"/>
                <a:gd name="T6" fmla="*/ 605 w 904"/>
                <a:gd name="T7" fmla="*/ 461 h 905"/>
                <a:gd name="T8" fmla="*/ 456 w 904"/>
                <a:gd name="T9" fmla="*/ 610 h 905"/>
                <a:gd name="T10" fmla="*/ 453 w 904"/>
                <a:gd name="T11" fmla="*/ 610 h 905"/>
                <a:gd name="T12" fmla="*/ 452 w 904"/>
                <a:gd name="T13" fmla="*/ 610 h 905"/>
                <a:gd name="T14" fmla="*/ 451 w 904"/>
                <a:gd name="T15" fmla="*/ 610 h 905"/>
                <a:gd name="T16" fmla="*/ 448 w 904"/>
                <a:gd name="T17" fmla="*/ 610 h 905"/>
                <a:gd name="T18" fmla="*/ 299 w 904"/>
                <a:gd name="T19" fmla="*/ 461 h 905"/>
                <a:gd name="T20" fmla="*/ 299 w 904"/>
                <a:gd name="T21" fmla="*/ 339 h 905"/>
                <a:gd name="T22" fmla="*/ 244 w 904"/>
                <a:gd name="T23" fmla="*/ 339 h 905"/>
                <a:gd name="T24" fmla="*/ 244 w 904"/>
                <a:gd name="T25" fmla="*/ 461 h 905"/>
                <a:gd name="T26" fmla="*/ 419 w 904"/>
                <a:gd name="T27" fmla="*/ 664 h 905"/>
                <a:gd name="T28" fmla="*/ 419 w 904"/>
                <a:gd name="T29" fmla="*/ 752 h 905"/>
                <a:gd name="T30" fmla="*/ 295 w 904"/>
                <a:gd name="T31" fmla="*/ 787 h 905"/>
                <a:gd name="T32" fmla="*/ 610 w 904"/>
                <a:gd name="T33" fmla="*/ 787 h 905"/>
                <a:gd name="T34" fmla="*/ 484 w 904"/>
                <a:gd name="T35" fmla="*/ 751 h 905"/>
                <a:gd name="T36" fmla="*/ 484 w 904"/>
                <a:gd name="T37" fmla="*/ 664 h 905"/>
                <a:gd name="T38" fmla="*/ 661 w 904"/>
                <a:gd name="T39" fmla="*/ 461 h 905"/>
                <a:gd name="T40" fmla="*/ 450 w 904"/>
                <a:gd name="T41" fmla="*/ 558 h 905"/>
                <a:gd name="T42" fmla="*/ 452 w 904"/>
                <a:gd name="T43" fmla="*/ 558 h 905"/>
                <a:gd name="T44" fmla="*/ 454 w 904"/>
                <a:gd name="T45" fmla="*/ 558 h 905"/>
                <a:gd name="T46" fmla="*/ 554 w 904"/>
                <a:gd name="T47" fmla="*/ 459 h 905"/>
                <a:gd name="T48" fmla="*/ 554 w 904"/>
                <a:gd name="T49" fmla="*/ 218 h 905"/>
                <a:gd name="T50" fmla="*/ 454 w 904"/>
                <a:gd name="T51" fmla="*/ 118 h 905"/>
                <a:gd name="T52" fmla="*/ 452 w 904"/>
                <a:gd name="T53" fmla="*/ 118 h 905"/>
                <a:gd name="T54" fmla="*/ 450 w 904"/>
                <a:gd name="T55" fmla="*/ 118 h 905"/>
                <a:gd name="T56" fmla="*/ 351 w 904"/>
                <a:gd name="T57" fmla="*/ 218 h 905"/>
                <a:gd name="T58" fmla="*/ 351 w 904"/>
                <a:gd name="T59" fmla="*/ 459 h 905"/>
                <a:gd name="T60" fmla="*/ 450 w 904"/>
                <a:gd name="T61" fmla="*/ 558 h 905"/>
                <a:gd name="T62" fmla="*/ 452 w 904"/>
                <a:gd name="T63" fmla="*/ 0 h 905"/>
                <a:gd name="T64" fmla="*/ 904 w 904"/>
                <a:gd name="T65" fmla="*/ 453 h 905"/>
                <a:gd name="T66" fmla="*/ 452 w 904"/>
                <a:gd name="T67" fmla="*/ 905 h 905"/>
                <a:gd name="T68" fmla="*/ 0 w 904"/>
                <a:gd name="T69" fmla="*/ 453 h 905"/>
                <a:gd name="T70" fmla="*/ 452 w 904"/>
                <a:gd name="T71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04" h="905">
                  <a:moveTo>
                    <a:pt x="661" y="461"/>
                  </a:moveTo>
                  <a:lnTo>
                    <a:pt x="661" y="339"/>
                  </a:lnTo>
                  <a:cubicBezTo>
                    <a:pt x="661" y="304"/>
                    <a:pt x="605" y="304"/>
                    <a:pt x="605" y="339"/>
                  </a:cubicBezTo>
                  <a:lnTo>
                    <a:pt x="605" y="461"/>
                  </a:lnTo>
                  <a:cubicBezTo>
                    <a:pt x="605" y="543"/>
                    <a:pt x="538" y="610"/>
                    <a:pt x="456" y="610"/>
                  </a:cubicBezTo>
                  <a:cubicBezTo>
                    <a:pt x="455" y="610"/>
                    <a:pt x="454" y="610"/>
                    <a:pt x="453" y="610"/>
                  </a:cubicBezTo>
                  <a:lnTo>
                    <a:pt x="452" y="610"/>
                  </a:lnTo>
                  <a:lnTo>
                    <a:pt x="451" y="610"/>
                  </a:lnTo>
                  <a:cubicBezTo>
                    <a:pt x="450" y="610"/>
                    <a:pt x="449" y="610"/>
                    <a:pt x="448" y="610"/>
                  </a:cubicBezTo>
                  <a:cubicBezTo>
                    <a:pt x="366" y="610"/>
                    <a:pt x="299" y="543"/>
                    <a:pt x="299" y="461"/>
                  </a:cubicBezTo>
                  <a:lnTo>
                    <a:pt x="299" y="339"/>
                  </a:lnTo>
                  <a:cubicBezTo>
                    <a:pt x="299" y="304"/>
                    <a:pt x="244" y="304"/>
                    <a:pt x="244" y="339"/>
                  </a:cubicBezTo>
                  <a:cubicBezTo>
                    <a:pt x="244" y="355"/>
                    <a:pt x="244" y="461"/>
                    <a:pt x="244" y="461"/>
                  </a:cubicBezTo>
                  <a:cubicBezTo>
                    <a:pt x="244" y="564"/>
                    <a:pt x="320" y="650"/>
                    <a:pt x="419" y="664"/>
                  </a:cubicBezTo>
                  <a:lnTo>
                    <a:pt x="419" y="752"/>
                  </a:lnTo>
                  <a:lnTo>
                    <a:pt x="295" y="787"/>
                  </a:lnTo>
                  <a:lnTo>
                    <a:pt x="610" y="787"/>
                  </a:lnTo>
                  <a:lnTo>
                    <a:pt x="484" y="751"/>
                  </a:lnTo>
                  <a:lnTo>
                    <a:pt x="484" y="664"/>
                  </a:lnTo>
                  <a:cubicBezTo>
                    <a:pt x="584" y="650"/>
                    <a:pt x="661" y="564"/>
                    <a:pt x="661" y="461"/>
                  </a:cubicBezTo>
                  <a:close/>
                  <a:moveTo>
                    <a:pt x="450" y="558"/>
                  </a:moveTo>
                  <a:cubicBezTo>
                    <a:pt x="451" y="558"/>
                    <a:pt x="451" y="558"/>
                    <a:pt x="452" y="558"/>
                  </a:cubicBezTo>
                  <a:cubicBezTo>
                    <a:pt x="453" y="558"/>
                    <a:pt x="453" y="558"/>
                    <a:pt x="454" y="558"/>
                  </a:cubicBezTo>
                  <a:cubicBezTo>
                    <a:pt x="509" y="558"/>
                    <a:pt x="554" y="514"/>
                    <a:pt x="554" y="459"/>
                  </a:cubicBezTo>
                  <a:lnTo>
                    <a:pt x="554" y="218"/>
                  </a:lnTo>
                  <a:cubicBezTo>
                    <a:pt x="554" y="163"/>
                    <a:pt x="509" y="118"/>
                    <a:pt x="454" y="118"/>
                  </a:cubicBezTo>
                  <a:cubicBezTo>
                    <a:pt x="453" y="118"/>
                    <a:pt x="453" y="118"/>
                    <a:pt x="452" y="118"/>
                  </a:cubicBezTo>
                  <a:cubicBezTo>
                    <a:pt x="452" y="118"/>
                    <a:pt x="451" y="118"/>
                    <a:pt x="450" y="118"/>
                  </a:cubicBezTo>
                  <a:cubicBezTo>
                    <a:pt x="395" y="118"/>
                    <a:pt x="351" y="163"/>
                    <a:pt x="351" y="218"/>
                  </a:cubicBezTo>
                  <a:lnTo>
                    <a:pt x="351" y="459"/>
                  </a:lnTo>
                  <a:cubicBezTo>
                    <a:pt x="351" y="514"/>
                    <a:pt x="395" y="558"/>
                    <a:pt x="450" y="558"/>
                  </a:cubicBezTo>
                  <a:close/>
                  <a:moveTo>
                    <a:pt x="452" y="0"/>
                  </a:moveTo>
                  <a:cubicBezTo>
                    <a:pt x="702" y="0"/>
                    <a:pt x="904" y="203"/>
                    <a:pt x="904" y="453"/>
                  </a:cubicBezTo>
                  <a:cubicBezTo>
                    <a:pt x="904" y="702"/>
                    <a:pt x="702" y="905"/>
                    <a:pt x="452" y="905"/>
                  </a:cubicBezTo>
                  <a:cubicBezTo>
                    <a:pt x="202" y="905"/>
                    <a:pt x="0" y="702"/>
                    <a:pt x="0" y="453"/>
                  </a:cubicBezTo>
                  <a:cubicBezTo>
                    <a:pt x="0" y="203"/>
                    <a:pt x="202" y="0"/>
                    <a:pt x="452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103F4E1-CF31-13CE-3308-D037722D9ACB}"/>
              </a:ext>
            </a:extLst>
          </p:cNvPr>
          <p:cNvGrpSpPr/>
          <p:nvPr/>
        </p:nvGrpSpPr>
        <p:grpSpPr>
          <a:xfrm>
            <a:off x="6421106" y="5631726"/>
            <a:ext cx="2528345" cy="466246"/>
            <a:chOff x="6421106" y="5631726"/>
            <a:chExt cx="2528345" cy="466246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1E820E8-3E66-D76D-EE94-691D1504E664}"/>
                </a:ext>
              </a:extLst>
            </p:cNvPr>
            <p:cNvSpPr txBox="1"/>
            <p:nvPr/>
          </p:nvSpPr>
          <p:spPr>
            <a:xfrm>
              <a:off x="7092901" y="5664806"/>
              <a:ext cx="1856550" cy="400085"/>
            </a:xfrm>
            <a:prstGeom prst="rect">
              <a:avLst/>
            </a:prstGeom>
            <a:noFill/>
          </p:spPr>
          <p:txBody>
            <a:bodyPr wrap="none" lIns="91416" tIns="45708" rIns="91416" bIns="45708" rtlCol="0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</a:t>
              </a:r>
              <a:r>
                <a:rPr lang="zh-CN" altLang="en-US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endPara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87065-9C7A-A4E6-8BF0-D3EB8F0243A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421106" y="5631726"/>
              <a:ext cx="464288" cy="466246"/>
            </a:xfrm>
            <a:custGeom>
              <a:avLst/>
              <a:gdLst>
                <a:gd name="T0" fmla="*/ 422 w 422"/>
                <a:gd name="T1" fmla="*/ 211 h 422"/>
                <a:gd name="T2" fmla="*/ 0 w 422"/>
                <a:gd name="T3" fmla="*/ 211 h 422"/>
                <a:gd name="T4" fmla="*/ 340 w 422"/>
                <a:gd name="T5" fmla="*/ 117 h 422"/>
                <a:gd name="T6" fmla="*/ 345 w 422"/>
                <a:gd name="T7" fmla="*/ 123 h 422"/>
                <a:gd name="T8" fmla="*/ 344 w 422"/>
                <a:gd name="T9" fmla="*/ 226 h 422"/>
                <a:gd name="T10" fmla="*/ 340 w 422"/>
                <a:gd name="T11" fmla="*/ 227 h 422"/>
                <a:gd name="T12" fmla="*/ 217 w 422"/>
                <a:gd name="T13" fmla="*/ 226 h 422"/>
                <a:gd name="T14" fmla="*/ 215 w 422"/>
                <a:gd name="T15" fmla="*/ 222 h 422"/>
                <a:gd name="T16" fmla="*/ 286 w 422"/>
                <a:gd name="T17" fmla="*/ 164 h 422"/>
                <a:gd name="T18" fmla="*/ 215 w 422"/>
                <a:gd name="T19" fmla="*/ 171 h 422"/>
                <a:gd name="T20" fmla="*/ 217 w 422"/>
                <a:gd name="T21" fmla="*/ 119 h 422"/>
                <a:gd name="T22" fmla="*/ 220 w 422"/>
                <a:gd name="T23" fmla="*/ 117 h 422"/>
                <a:gd name="T24" fmla="*/ 220 w 422"/>
                <a:gd name="T25" fmla="*/ 96 h 422"/>
                <a:gd name="T26" fmla="*/ 202 w 422"/>
                <a:gd name="T27" fmla="*/ 104 h 422"/>
                <a:gd name="T28" fmla="*/ 194 w 422"/>
                <a:gd name="T29" fmla="*/ 174 h 422"/>
                <a:gd name="T30" fmla="*/ 186 w 422"/>
                <a:gd name="T31" fmla="*/ 166 h 422"/>
                <a:gd name="T32" fmla="*/ 137 w 422"/>
                <a:gd name="T33" fmla="*/ 151 h 422"/>
                <a:gd name="T34" fmla="*/ 54 w 422"/>
                <a:gd name="T35" fmla="*/ 173 h 422"/>
                <a:gd name="T36" fmla="*/ 77 w 422"/>
                <a:gd name="T37" fmla="*/ 243 h 422"/>
                <a:gd name="T38" fmla="*/ 81 w 422"/>
                <a:gd name="T39" fmla="*/ 192 h 422"/>
                <a:gd name="T40" fmla="*/ 81 w 422"/>
                <a:gd name="T41" fmla="*/ 256 h 422"/>
                <a:gd name="T42" fmla="*/ 106 w 422"/>
                <a:gd name="T43" fmla="*/ 350 h 422"/>
                <a:gd name="T44" fmla="*/ 112 w 422"/>
                <a:gd name="T45" fmla="*/ 272 h 422"/>
                <a:gd name="T46" fmla="*/ 137 w 422"/>
                <a:gd name="T47" fmla="*/ 350 h 422"/>
                <a:gd name="T48" fmla="*/ 137 w 422"/>
                <a:gd name="T49" fmla="*/ 256 h 422"/>
                <a:gd name="T50" fmla="*/ 137 w 422"/>
                <a:gd name="T51" fmla="*/ 192 h 422"/>
                <a:gd name="T52" fmla="*/ 162 w 422"/>
                <a:gd name="T53" fmla="*/ 192 h 422"/>
                <a:gd name="T54" fmla="*/ 186 w 422"/>
                <a:gd name="T55" fmla="*/ 185 h 422"/>
                <a:gd name="T56" fmla="*/ 194 w 422"/>
                <a:gd name="T57" fmla="*/ 222 h 422"/>
                <a:gd name="T58" fmla="*/ 202 w 422"/>
                <a:gd name="T59" fmla="*/ 240 h 422"/>
                <a:gd name="T60" fmla="*/ 220 w 422"/>
                <a:gd name="T61" fmla="*/ 248 h 422"/>
                <a:gd name="T62" fmla="*/ 359 w 422"/>
                <a:gd name="T63" fmla="*/ 240 h 422"/>
                <a:gd name="T64" fmla="*/ 366 w 422"/>
                <a:gd name="T65" fmla="*/ 222 h 422"/>
                <a:gd name="T66" fmla="*/ 359 w 422"/>
                <a:gd name="T67" fmla="*/ 104 h 422"/>
                <a:gd name="T68" fmla="*/ 220 w 422"/>
                <a:gd name="T69" fmla="*/ 96 h 422"/>
                <a:gd name="T70" fmla="*/ 344 w 422"/>
                <a:gd name="T71" fmla="*/ 277 h 422"/>
                <a:gd name="T72" fmla="*/ 346 w 422"/>
                <a:gd name="T73" fmla="*/ 351 h 422"/>
                <a:gd name="T74" fmla="*/ 298 w 422"/>
                <a:gd name="T75" fmla="*/ 277 h 422"/>
                <a:gd name="T76" fmla="*/ 250 w 422"/>
                <a:gd name="T77" fmla="*/ 351 h 422"/>
                <a:gd name="T78" fmla="*/ 244 w 422"/>
                <a:gd name="T79" fmla="*/ 277 h 422"/>
                <a:gd name="T80" fmla="*/ 221 w 422"/>
                <a:gd name="T81" fmla="*/ 254 h 422"/>
                <a:gd name="T82" fmla="*/ 109 w 422"/>
                <a:gd name="T83" fmla="*/ 75 h 422"/>
                <a:gd name="T84" fmla="*/ 109 w 422"/>
                <a:gd name="T85" fmla="*/ 146 h 422"/>
                <a:gd name="T86" fmla="*/ 109 w 422"/>
                <a:gd name="T87" fmla="*/ 75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22" h="422">
                  <a:moveTo>
                    <a:pt x="211" y="0"/>
                  </a:moveTo>
                  <a:cubicBezTo>
                    <a:pt x="327" y="0"/>
                    <a:pt x="422" y="94"/>
                    <a:pt x="422" y="211"/>
                  </a:cubicBezTo>
                  <a:cubicBezTo>
                    <a:pt x="422" y="327"/>
                    <a:pt x="327" y="422"/>
                    <a:pt x="211" y="422"/>
                  </a:cubicBezTo>
                  <a:cubicBezTo>
                    <a:pt x="94" y="422"/>
                    <a:pt x="0" y="327"/>
                    <a:pt x="0" y="211"/>
                  </a:cubicBezTo>
                  <a:cubicBezTo>
                    <a:pt x="0" y="94"/>
                    <a:pt x="94" y="0"/>
                    <a:pt x="211" y="0"/>
                  </a:cubicBezTo>
                  <a:close/>
                  <a:moveTo>
                    <a:pt x="340" y="117"/>
                  </a:moveTo>
                  <a:cubicBezTo>
                    <a:pt x="341" y="117"/>
                    <a:pt x="343" y="118"/>
                    <a:pt x="344" y="119"/>
                  </a:cubicBezTo>
                  <a:cubicBezTo>
                    <a:pt x="345" y="120"/>
                    <a:pt x="345" y="121"/>
                    <a:pt x="345" y="123"/>
                  </a:cubicBezTo>
                  <a:lnTo>
                    <a:pt x="345" y="222"/>
                  </a:lnTo>
                  <a:cubicBezTo>
                    <a:pt x="345" y="223"/>
                    <a:pt x="345" y="225"/>
                    <a:pt x="344" y="226"/>
                  </a:cubicBezTo>
                  <a:lnTo>
                    <a:pt x="344" y="226"/>
                  </a:lnTo>
                  <a:cubicBezTo>
                    <a:pt x="343" y="227"/>
                    <a:pt x="341" y="227"/>
                    <a:pt x="340" y="227"/>
                  </a:cubicBezTo>
                  <a:lnTo>
                    <a:pt x="220" y="227"/>
                  </a:lnTo>
                  <a:cubicBezTo>
                    <a:pt x="219" y="227"/>
                    <a:pt x="218" y="227"/>
                    <a:pt x="217" y="226"/>
                  </a:cubicBezTo>
                  <a:lnTo>
                    <a:pt x="217" y="226"/>
                  </a:lnTo>
                  <a:cubicBezTo>
                    <a:pt x="216" y="225"/>
                    <a:pt x="215" y="223"/>
                    <a:pt x="215" y="222"/>
                  </a:cubicBezTo>
                  <a:lnTo>
                    <a:pt x="215" y="179"/>
                  </a:lnTo>
                  <a:lnTo>
                    <a:pt x="286" y="164"/>
                  </a:lnTo>
                  <a:lnTo>
                    <a:pt x="286" y="162"/>
                  </a:lnTo>
                  <a:lnTo>
                    <a:pt x="215" y="171"/>
                  </a:lnTo>
                  <a:lnTo>
                    <a:pt x="215" y="123"/>
                  </a:lnTo>
                  <a:cubicBezTo>
                    <a:pt x="215" y="121"/>
                    <a:pt x="216" y="120"/>
                    <a:pt x="217" y="119"/>
                  </a:cubicBezTo>
                  <a:lnTo>
                    <a:pt x="217" y="119"/>
                  </a:lnTo>
                  <a:cubicBezTo>
                    <a:pt x="218" y="118"/>
                    <a:pt x="219" y="117"/>
                    <a:pt x="220" y="117"/>
                  </a:cubicBezTo>
                  <a:lnTo>
                    <a:pt x="340" y="117"/>
                  </a:lnTo>
                  <a:close/>
                  <a:moveTo>
                    <a:pt x="220" y="96"/>
                  </a:moveTo>
                  <a:cubicBezTo>
                    <a:pt x="213" y="96"/>
                    <a:pt x="206" y="99"/>
                    <a:pt x="202" y="104"/>
                  </a:cubicBezTo>
                  <a:lnTo>
                    <a:pt x="202" y="104"/>
                  </a:lnTo>
                  <a:cubicBezTo>
                    <a:pt x="197" y="109"/>
                    <a:pt x="194" y="115"/>
                    <a:pt x="194" y="123"/>
                  </a:cubicBezTo>
                  <a:lnTo>
                    <a:pt x="194" y="174"/>
                  </a:lnTo>
                  <a:lnTo>
                    <a:pt x="186" y="175"/>
                  </a:lnTo>
                  <a:lnTo>
                    <a:pt x="186" y="166"/>
                  </a:lnTo>
                  <a:lnTo>
                    <a:pt x="162" y="166"/>
                  </a:lnTo>
                  <a:lnTo>
                    <a:pt x="137" y="151"/>
                  </a:lnTo>
                  <a:lnTo>
                    <a:pt x="77" y="151"/>
                  </a:lnTo>
                  <a:cubicBezTo>
                    <a:pt x="64" y="151"/>
                    <a:pt x="54" y="161"/>
                    <a:pt x="54" y="173"/>
                  </a:cubicBezTo>
                  <a:lnTo>
                    <a:pt x="54" y="243"/>
                  </a:lnTo>
                  <a:lnTo>
                    <a:pt x="77" y="243"/>
                  </a:lnTo>
                  <a:lnTo>
                    <a:pt x="77" y="192"/>
                  </a:lnTo>
                  <a:lnTo>
                    <a:pt x="81" y="192"/>
                  </a:lnTo>
                  <a:lnTo>
                    <a:pt x="81" y="243"/>
                  </a:lnTo>
                  <a:lnTo>
                    <a:pt x="81" y="256"/>
                  </a:lnTo>
                  <a:lnTo>
                    <a:pt x="81" y="350"/>
                  </a:lnTo>
                  <a:lnTo>
                    <a:pt x="106" y="350"/>
                  </a:lnTo>
                  <a:lnTo>
                    <a:pt x="106" y="272"/>
                  </a:lnTo>
                  <a:lnTo>
                    <a:pt x="112" y="272"/>
                  </a:lnTo>
                  <a:lnTo>
                    <a:pt x="112" y="350"/>
                  </a:lnTo>
                  <a:lnTo>
                    <a:pt x="137" y="350"/>
                  </a:lnTo>
                  <a:lnTo>
                    <a:pt x="137" y="336"/>
                  </a:lnTo>
                  <a:lnTo>
                    <a:pt x="137" y="256"/>
                  </a:lnTo>
                  <a:lnTo>
                    <a:pt x="137" y="243"/>
                  </a:lnTo>
                  <a:lnTo>
                    <a:pt x="137" y="192"/>
                  </a:lnTo>
                  <a:lnTo>
                    <a:pt x="137" y="177"/>
                  </a:lnTo>
                  <a:lnTo>
                    <a:pt x="162" y="192"/>
                  </a:lnTo>
                  <a:lnTo>
                    <a:pt x="186" y="192"/>
                  </a:lnTo>
                  <a:lnTo>
                    <a:pt x="186" y="185"/>
                  </a:lnTo>
                  <a:lnTo>
                    <a:pt x="194" y="184"/>
                  </a:lnTo>
                  <a:lnTo>
                    <a:pt x="194" y="222"/>
                  </a:lnTo>
                  <a:cubicBezTo>
                    <a:pt x="194" y="229"/>
                    <a:pt x="197" y="236"/>
                    <a:pt x="202" y="240"/>
                  </a:cubicBezTo>
                  <a:lnTo>
                    <a:pt x="202" y="240"/>
                  </a:lnTo>
                  <a:lnTo>
                    <a:pt x="202" y="241"/>
                  </a:lnTo>
                  <a:cubicBezTo>
                    <a:pt x="207" y="245"/>
                    <a:pt x="213" y="248"/>
                    <a:pt x="220" y="248"/>
                  </a:cubicBezTo>
                  <a:lnTo>
                    <a:pt x="340" y="248"/>
                  </a:lnTo>
                  <a:cubicBezTo>
                    <a:pt x="347" y="248"/>
                    <a:pt x="354" y="245"/>
                    <a:pt x="359" y="240"/>
                  </a:cubicBezTo>
                  <a:lnTo>
                    <a:pt x="359" y="241"/>
                  </a:lnTo>
                  <a:cubicBezTo>
                    <a:pt x="363" y="236"/>
                    <a:pt x="366" y="229"/>
                    <a:pt x="366" y="222"/>
                  </a:cubicBezTo>
                  <a:lnTo>
                    <a:pt x="366" y="123"/>
                  </a:lnTo>
                  <a:cubicBezTo>
                    <a:pt x="366" y="115"/>
                    <a:pt x="363" y="109"/>
                    <a:pt x="359" y="104"/>
                  </a:cubicBezTo>
                  <a:cubicBezTo>
                    <a:pt x="354" y="99"/>
                    <a:pt x="347" y="96"/>
                    <a:pt x="340" y="96"/>
                  </a:cubicBezTo>
                  <a:lnTo>
                    <a:pt x="220" y="96"/>
                  </a:lnTo>
                  <a:close/>
                  <a:moveTo>
                    <a:pt x="344" y="254"/>
                  </a:moveTo>
                  <a:lnTo>
                    <a:pt x="344" y="277"/>
                  </a:lnTo>
                  <a:lnTo>
                    <a:pt x="325" y="277"/>
                  </a:lnTo>
                  <a:lnTo>
                    <a:pt x="346" y="351"/>
                  </a:lnTo>
                  <a:lnTo>
                    <a:pt x="319" y="351"/>
                  </a:lnTo>
                  <a:lnTo>
                    <a:pt x="298" y="277"/>
                  </a:lnTo>
                  <a:lnTo>
                    <a:pt x="271" y="277"/>
                  </a:lnTo>
                  <a:lnTo>
                    <a:pt x="250" y="351"/>
                  </a:lnTo>
                  <a:lnTo>
                    <a:pt x="223" y="351"/>
                  </a:lnTo>
                  <a:lnTo>
                    <a:pt x="244" y="277"/>
                  </a:lnTo>
                  <a:lnTo>
                    <a:pt x="221" y="277"/>
                  </a:lnTo>
                  <a:lnTo>
                    <a:pt x="221" y="254"/>
                  </a:lnTo>
                  <a:lnTo>
                    <a:pt x="344" y="254"/>
                  </a:lnTo>
                  <a:close/>
                  <a:moveTo>
                    <a:pt x="109" y="75"/>
                  </a:moveTo>
                  <a:cubicBezTo>
                    <a:pt x="129" y="75"/>
                    <a:pt x="145" y="91"/>
                    <a:pt x="145" y="111"/>
                  </a:cubicBezTo>
                  <a:cubicBezTo>
                    <a:pt x="145" y="130"/>
                    <a:pt x="129" y="146"/>
                    <a:pt x="109" y="146"/>
                  </a:cubicBezTo>
                  <a:cubicBezTo>
                    <a:pt x="90" y="146"/>
                    <a:pt x="74" y="130"/>
                    <a:pt x="74" y="111"/>
                  </a:cubicBezTo>
                  <a:cubicBezTo>
                    <a:pt x="74" y="91"/>
                    <a:pt x="90" y="75"/>
                    <a:pt x="109" y="75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9A220B7-99B4-2ECE-1D67-CBA5547A6465}"/>
              </a:ext>
            </a:extLst>
          </p:cNvPr>
          <p:cNvGrpSpPr/>
          <p:nvPr/>
        </p:nvGrpSpPr>
        <p:grpSpPr>
          <a:xfrm>
            <a:off x="0" y="1886648"/>
            <a:ext cx="12192001" cy="2650435"/>
            <a:chOff x="0" y="1886648"/>
            <a:chExt cx="12192001" cy="2650435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51597FE-4B86-2BA3-6066-9BED6FE70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86648"/>
              <a:ext cx="12192000" cy="2650435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F44D7C9-0C4E-1DBA-7B59-7D1DB918C49E}"/>
                </a:ext>
              </a:extLst>
            </p:cNvPr>
            <p:cNvSpPr/>
            <p:nvPr/>
          </p:nvSpPr>
          <p:spPr>
            <a:xfrm>
              <a:off x="0" y="1886648"/>
              <a:ext cx="12192000" cy="265043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59000">
                  <a:srgbClr val="C00000">
                    <a:alpha val="40000"/>
                  </a:srgbClr>
                </a:gs>
                <a:gs pos="100000">
                  <a:srgbClr val="C00000">
                    <a:alpha val="10000"/>
                  </a:srgb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1CBDF8B-6663-EBA1-8CA2-CA8E8BF25C34}"/>
                </a:ext>
              </a:extLst>
            </p:cNvPr>
            <p:cNvSpPr txBox="1"/>
            <p:nvPr/>
          </p:nvSpPr>
          <p:spPr>
            <a:xfrm>
              <a:off x="1" y="2342016"/>
              <a:ext cx="121920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中文电影评论情感分析</a:t>
              </a:r>
              <a:endParaRPr lang="en-US" altLang="zh-CN" sz="60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60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系统设计与实现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3969</Words>
  <Application>Microsoft Office PowerPoint</Application>
  <PresentationFormat>宽屏</PresentationFormat>
  <Paragraphs>652</Paragraphs>
  <Slides>41</Slides>
  <Notes>41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Impact MT Std</vt:lpstr>
      <vt:lpstr>OPPOSans B</vt:lpstr>
      <vt:lpstr>OPPOSans H</vt:lpstr>
      <vt:lpstr>OPPOSans L</vt:lpstr>
      <vt:lpstr>OPPOSans R</vt:lpstr>
      <vt:lpstr>Source Han Sans</vt:lpstr>
      <vt:lpstr>Source Han Sans CN Bold</vt:lpstr>
      <vt:lpstr>等线</vt:lpstr>
      <vt:lpstr>等线 Light</vt:lpstr>
      <vt:lpstr>黑体</vt:lpstr>
      <vt:lpstr>宋体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Big Pigeon</cp:lastModifiedBy>
  <cp:revision>127</cp:revision>
  <dcterms:created xsi:type="dcterms:W3CDTF">2016-11-24T09:20:00Z</dcterms:created>
  <dcterms:modified xsi:type="dcterms:W3CDTF">2025-05-11T15:08:13Z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